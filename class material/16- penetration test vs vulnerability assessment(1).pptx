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</p:sldMasterIdLst>
  <p:sldIdLst>
    <p:sldId id="257" r:id="rId3"/>
    <p:sldId id="258" r:id="rId4"/>
    <p:sldId id="270" r:id="rId5"/>
    <p:sldId id="271" r:id="rId6"/>
    <p:sldId id="260" r:id="rId7"/>
    <p:sldId id="261" r:id="rId8"/>
    <p:sldId id="262" r:id="rId9"/>
    <p:sldId id="263" r:id="rId10"/>
    <p:sldId id="26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55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13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1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3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80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32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66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43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5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44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86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D32E-CB12-47EB-907E-ECF940FF71D3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89"/>
            <a:ext cx="103632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834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F454-3388-4D6F-A69F-1E8F093FC989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0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1172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258" y="4572001"/>
            <a:ext cx="10513484" cy="1362075"/>
          </a:xfrm>
        </p:spPr>
        <p:txBody>
          <a:bodyPr anchor="t"/>
          <a:lstStyle>
            <a:lvl1pPr algn="l">
              <a:defRPr sz="3600" b="0" i="0" cap="all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58" y="3048001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54956-03D1-4218-B365-5D4B7B6C1602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8867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EECD-F084-4C0F-8588-10B8150E32F3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918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CFA3-1D6F-4253-AC0F-2AFCFB14963F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4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936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6ACB-149E-4979-A422-802232E94045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840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3140-8635-4B10-8F7D-745BD160702C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899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2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2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7C87-5534-4DFC-A03B-BFDC1EE72ACF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674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09792" y="1447800"/>
            <a:ext cx="4559808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1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7D76-1A10-4E7C-B6B0-30911A4CB179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452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220EB-3DFE-404A-9602-F82B38483363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9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436F-E8A4-4BE1-9B24-2CBA7286EE18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11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DF6B-B752-4C8D-8B53-0BAF3C87D71E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4054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087" y="8002221"/>
            <a:ext cx="1223827" cy="538366"/>
          </a:xfrm>
          <a:prstGeom prst="rect">
            <a:avLst/>
          </a:prstGeom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3140-8635-4B10-8F7D-745BD160702C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0" y="7973647"/>
            <a:ext cx="3860800" cy="365125"/>
          </a:xfrm>
        </p:spPr>
        <p:txBody>
          <a:bodyPr/>
          <a:lstStyle/>
          <a:p>
            <a:r>
              <a:rPr lang="en-US" dirty="0" smtClean="0"/>
              <a:t>Course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918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3140-8635-4B10-8F7D-745BD160702C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139E2-C428-4253-B153-900ABC789FA8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A7569-593D-4EAA-92E9-A9A2323C0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91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1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1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bg1"/>
                </a:solidFill>
              </a:defRPr>
            </a:lvl1pPr>
          </a:lstStyle>
          <a:p>
            <a:fld id="{313F06ED-96A5-47AD-9825-C779C471E4AB}" type="datetime1">
              <a:rPr lang="en-US" smtClean="0">
                <a:solidFill>
                  <a:srgbClr val="000000"/>
                </a:solidFill>
              </a:rPr>
              <a:pPr/>
              <a:t>11/8/2016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rgbClr val="C6F65C"/>
                </a:solidFill>
              </a:defRPr>
            </a:lvl1pPr>
          </a:lstStyle>
          <a:p>
            <a:r>
              <a:rPr lang="en-US" dirty="0" smtClean="0"/>
              <a:t>Course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1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3C9C5E9-1746-4F20-AD12-CD102FD25AD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2" descr="C:\Users\Administrator\Desktop\Cybrary Assets\other version.png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6128080"/>
            <a:ext cx="1320800" cy="6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851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8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ea typeface="ＭＳ Ｐゴシック" panose="020B0600070205080204" pitchFamily="34" charset="-128"/>
              </a:rPr>
              <a:t>Penetration Testing- revisited</a:t>
            </a:r>
            <a:endParaRPr lang="en-US" altLang="en-US" sz="3600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171" name="TextBox 3"/>
          <p:cNvSpPr txBox="1">
            <a:spLocks noChangeArrowheads="1"/>
          </p:cNvSpPr>
          <p:nvPr/>
        </p:nvSpPr>
        <p:spPr bwMode="auto">
          <a:xfrm>
            <a:off x="10163175" y="6488114"/>
            <a:ext cx="382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172" name="Rectangle 4"/>
          <p:cNvSpPr txBox="1">
            <a:spLocks noChangeArrowheads="1"/>
          </p:cNvSpPr>
          <p:nvPr/>
        </p:nvSpPr>
        <p:spPr bwMode="auto">
          <a:xfrm>
            <a:off x="1674813" y="1463676"/>
            <a:ext cx="8661400" cy="49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spcAft>
                <a:spcPct val="2500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00050" indent="-285750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742950" indent="-228600">
              <a:spcBef>
                <a:spcPct val="40000"/>
              </a:spcBef>
              <a:buChar char="•"/>
              <a:defRPr 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258888" indent="-228600">
              <a:spcBef>
                <a:spcPct val="4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1422400" indent="406400">
              <a:spcBef>
                <a:spcPct val="20000"/>
              </a:spcBef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1879600" indent="4064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336800" indent="4064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2794000" indent="4064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251200" indent="4064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A penetration test is an attack on a computer system, network or Web application to find vulnerabilities that an attacker could exploit with the intention of finding security weaknesses, potentially gaining access to it, its functionality and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Pen tests can be </a:t>
            </a:r>
            <a:r>
              <a:rPr lang="en-US" altLang="en-US" sz="1800" b="1" dirty="0">
                <a:solidFill>
                  <a:srgbClr val="FF0000"/>
                </a:solidFill>
                <a:latin typeface="+mn-lt"/>
              </a:rPr>
              <a:t>automated</a:t>
            </a:r>
            <a:r>
              <a:rPr lang="en-US" altLang="en-US" sz="1800" dirty="0">
                <a:latin typeface="+mn-lt"/>
              </a:rPr>
              <a:t> with software applications or they can be performed </a:t>
            </a:r>
            <a:r>
              <a:rPr lang="en-US" altLang="en-US" sz="1800" b="1" dirty="0">
                <a:solidFill>
                  <a:srgbClr val="FF0000"/>
                </a:solidFill>
                <a:latin typeface="+mn-lt"/>
              </a:rPr>
              <a:t>manually</a:t>
            </a:r>
            <a:r>
              <a:rPr lang="en-US" altLang="en-US" sz="1800" dirty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 b="1" dirty="0">
                <a:latin typeface="+mn-lt"/>
              </a:rPr>
              <a:t>The process includes: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 gathering information about the target before the test (reconnaissance),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identifying possible entry points(Port scanning),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attempting to break in (either virtually or for real)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+mn-lt"/>
              </a:rPr>
              <a:t> reporting back the findings.</a:t>
            </a:r>
          </a:p>
        </p:txBody>
      </p:sp>
    </p:spTree>
    <p:extLst>
      <p:ext uri="{BB962C8B-B14F-4D97-AF65-F5344CB8AC3E}">
        <p14:creationId xmlns:p14="http://schemas.microsoft.com/office/powerpoint/2010/main" val="17360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ea typeface="ＭＳ Ｐゴシック" panose="020B0600070205080204" pitchFamily="34" charset="-128"/>
              </a:rPr>
              <a:t>Why conduct a penetration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363" y="1382713"/>
            <a:ext cx="8229600" cy="45259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Prevent data breach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Test your security controls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Ensure system security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Get a baseline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Compliance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196" name="Slide Number Placeholder 6"/>
          <p:cNvSpPr txBox="1">
            <a:spLocks/>
          </p:cNvSpPr>
          <p:nvPr/>
        </p:nvSpPr>
        <p:spPr bwMode="auto">
          <a:xfrm>
            <a:off x="9601200" y="6356351"/>
            <a:ext cx="609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2500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har char="•"/>
              <a:defRPr 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fld id="{C1385769-64AE-41C5-8914-61012923FDF4}" type="slidenum">
              <a:rPr lang="fa-IR" altLang="en-US" sz="180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Font typeface="Wingdings 2" panose="05020102010507070707" pitchFamily="18" charset="2"/>
                <a:buNone/>
              </a:pPr>
              <a:t>2</a:t>
            </a:fld>
            <a:endParaRPr lang="fa-IR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36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509191"/>
            <a:ext cx="8534400" cy="568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F2123"/>
                </a:solidFill>
                <a:latin typeface="Calibri Light" panose="020F0302020204030204" pitchFamily="34" charset="0"/>
              </a:rPr>
              <a:t>Vulnerability Assessment</a:t>
            </a:r>
          </a:p>
          <a:p>
            <a:pPr algn="ctr"/>
            <a:endParaRPr lang="en-US" dirty="0">
              <a:solidFill>
                <a:srgbClr val="000000"/>
              </a:solidFill>
              <a:latin typeface="Calibri Light" panose="020F0302020204030204" pitchFamily="34" charset="0"/>
            </a:endParaRPr>
          </a:p>
          <a:p>
            <a:pPr>
              <a:lnSpc>
                <a:spcPts val="2200"/>
              </a:lnSpc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Vulnerability Assessment: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Is the assessment of a system to determine if it has vulnerabilities or weaknesses that need to be resolved or patched.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Is also known as a security audit.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Can be performed by one person or a team of vulnerability researchers or security engineers.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Is often known as a </a:t>
            </a:r>
            <a:r>
              <a:rPr lang="en-US" i="1" dirty="0">
                <a:solidFill>
                  <a:srgbClr val="000000"/>
                </a:solidFill>
                <a:latin typeface="Calibri" panose="020F0502020204030204" pitchFamily="34" charset="0"/>
              </a:rPr>
              <a:t>flaw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or </a:t>
            </a:r>
            <a:r>
              <a:rPr lang="en-US" i="1" dirty="0">
                <a:solidFill>
                  <a:srgbClr val="000000"/>
                </a:solidFill>
                <a:latin typeface="Calibri" panose="020F0502020204030204" pitchFamily="34" charset="0"/>
              </a:rPr>
              <a:t>weakness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that could be exploited by an outside attacker or compromised by internal personnel. 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Is necessary because many organizations, companies, and health facilities are required to meet certain compliance. </a:t>
            </a:r>
          </a:p>
          <a:p>
            <a:pPr marL="742950" lvl="1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HIPPA regulations are important so that health facilities hire the services of pen testers in order to meet compliance with vulnerability assessment being a great portion of the service. </a:t>
            </a: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229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606068"/>
            <a:ext cx="8534400" cy="39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Calibri Light" panose="020F0302020204030204" pitchFamily="34" charset="0"/>
              </a:rPr>
              <a:t>Vulnerability Assessment Key Points</a:t>
            </a: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Vulnerability Assessments do not involve any steps to fix or apply patches to a system. 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The objective of a vulnerability assessment is to determine the vulnerabilities and report them to the client.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The assessment must be requested and authorized by the client prior to the performance of the assessment.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The laws and permission of the client are in place to protect the client and security engineer form liabilities and legal backlash. </a:t>
            </a: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25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Environments and the Critical Information Attackers Can Identify</a:t>
            </a:r>
            <a:r>
              <a:rPr lang="en-US" altLang="en-US" sz="3600" dirty="0"/>
              <a:t> </a:t>
            </a:r>
          </a:p>
        </p:txBody>
      </p:sp>
      <p:pic>
        <p:nvPicPr>
          <p:cNvPr id="25604" name="Picture 4" descr="Fig13-04"/>
          <p:cNvPicPr>
            <a:picLocks noChangeAspect="1" noChangeArrowheads="1"/>
          </p:cNvPicPr>
          <p:nvPr/>
        </p:nvPicPr>
        <p:blipFill>
          <a:blip r:embed="rId2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7"/>
          <a:stretch>
            <a:fillRect/>
          </a:stretch>
        </p:blipFill>
        <p:spPr bwMode="auto">
          <a:xfrm>
            <a:off x="3810001" y="4343400"/>
            <a:ext cx="4873625" cy="213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676400" y="4038601"/>
            <a:ext cx="1828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Internet Presence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8988427" y="4964668"/>
            <a:ext cx="167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Intranet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7010400" y="1752601"/>
            <a:ext cx="259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Remote Access (travelling employees)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3657600" y="1752600"/>
            <a:ext cx="1676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Extranet (vendors and business partners)</a:t>
            </a: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3200400" y="4876800"/>
            <a:ext cx="3505200" cy="4572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4800600" y="3352800"/>
            <a:ext cx="3429000" cy="18288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flipH="1">
            <a:off x="8534400" y="5410200"/>
            <a:ext cx="1143000" cy="2286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8077200" y="2819400"/>
            <a:ext cx="152400" cy="18288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54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Internet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90600"/>
            <a:ext cx="8229600" cy="556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 dirty="0"/>
              <a:t>Domain name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Network blocks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Specific IP addresses of systems reachable via the Internet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TCP and UDP services running on each system identified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System architecture (for example, </a:t>
            </a:r>
            <a:r>
              <a:rPr lang="en-US" altLang="en-US" sz="1800" dirty="0" err="1"/>
              <a:t>Sparc</a:t>
            </a:r>
            <a:r>
              <a:rPr lang="en-US" altLang="en-US" sz="1800" dirty="0"/>
              <a:t> vs. </a:t>
            </a:r>
            <a:r>
              <a:rPr lang="en-US" altLang="en-US" sz="1800" i="1" dirty="0"/>
              <a:t>x</a:t>
            </a:r>
            <a:r>
              <a:rPr lang="en-US" altLang="en-US" sz="1800" dirty="0"/>
              <a:t> 86)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Access control mechanisms and related access control lists (ACLs)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Intrusion-detection systems (IDSs)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System enumeration (user and group names, system banners, routing tables, and SNMP information) DNS hostnames</a:t>
            </a:r>
          </a:p>
        </p:txBody>
      </p:sp>
    </p:spTree>
    <p:extLst>
      <p:ext uri="{BB962C8B-B14F-4D97-AF65-F5344CB8AC3E}">
        <p14:creationId xmlns:p14="http://schemas.microsoft.com/office/powerpoint/2010/main" val="158773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Intranet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90600"/>
            <a:ext cx="8229600" cy="556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Networking protocols in use (for example, IP, IPX, </a:t>
            </a:r>
            <a:r>
              <a:rPr lang="en-US" altLang="en-US" sz="1800" dirty="0" err="1"/>
              <a:t>DecNET</a:t>
            </a:r>
            <a:r>
              <a:rPr lang="en-US" altLang="en-US" sz="1800" dirty="0"/>
              <a:t>, and so on)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Internal domain names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Network blocks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Specific IP addresses of systems reachable via the intranet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TCP and UDP services running on each system identified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System architecture (for example, SPARC vs. </a:t>
            </a:r>
            <a:r>
              <a:rPr lang="en-US" altLang="en-US" sz="1800" i="1" dirty="0"/>
              <a:t>x</a:t>
            </a:r>
            <a:r>
              <a:rPr lang="en-US" altLang="en-US" sz="1800" dirty="0"/>
              <a:t> 86)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Access control mechanisms and related ACLs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Intrusion-detection systems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System enumeration (user and group names, system banners, routing tables, and SNMP information)</a:t>
            </a:r>
          </a:p>
        </p:txBody>
      </p:sp>
    </p:spTree>
    <p:extLst>
      <p:ext uri="{BB962C8B-B14F-4D97-AF65-F5344CB8AC3E}">
        <p14:creationId xmlns:p14="http://schemas.microsoft.com/office/powerpoint/2010/main" val="26835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Remote access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800" dirty="0"/>
              <a:t>Analog/digital telephone numbers</a:t>
            </a:r>
          </a:p>
          <a:p>
            <a:r>
              <a:rPr lang="en-US" altLang="en-US" sz="1800" dirty="0"/>
              <a:t>Remote system type</a:t>
            </a:r>
          </a:p>
          <a:p>
            <a:r>
              <a:rPr lang="en-US" altLang="en-US" sz="1800" dirty="0"/>
              <a:t>Authentication mechanisms</a:t>
            </a:r>
          </a:p>
          <a:p>
            <a:r>
              <a:rPr lang="en-US" altLang="en-US" sz="1800" dirty="0"/>
              <a:t>VPNs and related protocols (</a:t>
            </a:r>
            <a:r>
              <a:rPr lang="en-US" altLang="en-US" sz="1800" dirty="0" err="1"/>
              <a:t>IPSec</a:t>
            </a:r>
            <a:r>
              <a:rPr lang="en-US" altLang="en-US" sz="1800" dirty="0"/>
              <a:t> and PPTP)</a:t>
            </a:r>
          </a:p>
        </p:txBody>
      </p:sp>
    </p:spTree>
    <p:extLst>
      <p:ext uri="{BB962C8B-B14F-4D97-AF65-F5344CB8AC3E}">
        <p14:creationId xmlns:p14="http://schemas.microsoft.com/office/powerpoint/2010/main" val="357711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Extranet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800" dirty="0"/>
              <a:t>Connection origination and destination</a:t>
            </a:r>
          </a:p>
          <a:p>
            <a:r>
              <a:rPr lang="en-US" altLang="en-US" sz="1800" dirty="0"/>
              <a:t>Type of connection</a:t>
            </a:r>
          </a:p>
          <a:p>
            <a:r>
              <a:rPr lang="en-US" altLang="en-US" sz="1800" dirty="0"/>
              <a:t>Access control mechanism</a:t>
            </a:r>
          </a:p>
        </p:txBody>
      </p:sp>
    </p:spTree>
    <p:extLst>
      <p:ext uri="{BB962C8B-B14F-4D97-AF65-F5344CB8AC3E}">
        <p14:creationId xmlns:p14="http://schemas.microsoft.com/office/powerpoint/2010/main" val="208306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606069"/>
            <a:ext cx="85344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00"/>
                </a:solidFill>
                <a:latin typeface="Calibri Light" panose="020F0302020204030204" pitchFamily="34" charset="0"/>
              </a:rPr>
              <a:t>Summary:</a:t>
            </a:r>
          </a:p>
          <a:p>
            <a:r>
              <a:rPr lang="en-US" sz="2800" b="1" dirty="0" smtClean="0">
                <a:solidFill>
                  <a:srgbClr val="000000"/>
                </a:solidFill>
                <a:latin typeface="Calibri Light" panose="020F0302020204030204" pitchFamily="34" charset="0"/>
              </a:rPr>
              <a:t>Pen-test vs Vulnerability assessment </a:t>
            </a:r>
            <a:endParaRPr lang="en-US" sz="2800" b="1" dirty="0">
              <a:solidFill>
                <a:srgbClr val="000000"/>
              </a:solidFill>
              <a:latin typeface="Calibri Light" panose="020F0302020204030204" pitchFamily="34" charset="0"/>
            </a:endParaRP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The key difference between vulnerability assessment and penetration testing is the lack of exploitation in vulnerability assessment and the actual exploitation in penetration testing.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Permission must be granted to carry out either or both of these operations.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Obey the cybercrime laws and regulations at all times.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There are many available tools, yet one should not simply rely on only one tool to fit every situation. 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To gain further experience and training; research OWASP, create virtual labs, and complete the training on Cybrary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 </a:t>
            </a:r>
          </a:p>
          <a:p>
            <a:pPr algn="ctr"/>
            <a:endParaRPr lang="en-US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475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626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ＭＳ Ｐゴシック</vt:lpstr>
      <vt:lpstr>Arial</vt:lpstr>
      <vt:lpstr>Arial Black</vt:lpstr>
      <vt:lpstr>Arial Narrow</vt:lpstr>
      <vt:lpstr>Calibri</vt:lpstr>
      <vt:lpstr>Calibri Light</vt:lpstr>
      <vt:lpstr>Georgia</vt:lpstr>
      <vt:lpstr>Wingdings</vt:lpstr>
      <vt:lpstr>Wingdings 2</vt:lpstr>
      <vt:lpstr>Office Theme</vt:lpstr>
      <vt:lpstr>2_Horizon</vt:lpstr>
      <vt:lpstr>Penetration Testing- revisited</vt:lpstr>
      <vt:lpstr>Why conduct a penetration test?</vt:lpstr>
      <vt:lpstr>PowerPoint Presentation</vt:lpstr>
      <vt:lpstr>PowerPoint Presentation</vt:lpstr>
      <vt:lpstr>Environments and the Critical Information Attackers Can Identify </vt:lpstr>
      <vt:lpstr>Internet</vt:lpstr>
      <vt:lpstr>Intranet</vt:lpstr>
      <vt:lpstr>Remote access</vt:lpstr>
      <vt:lpstr>Extranet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7</cp:revision>
  <dcterms:created xsi:type="dcterms:W3CDTF">2016-11-08T15:05:36Z</dcterms:created>
  <dcterms:modified xsi:type="dcterms:W3CDTF">2016-11-08T16:04:48Z</dcterms:modified>
</cp:coreProperties>
</file>