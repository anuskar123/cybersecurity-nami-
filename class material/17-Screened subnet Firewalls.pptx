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4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3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2022-F2CD-499F-B23A-F769BEE74987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13CE-5FA5-4306-AEA0-D23A36155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135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2022-F2CD-499F-B23A-F769BEE74987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13CE-5FA5-4306-AEA0-D23A36155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743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2022-F2CD-499F-B23A-F769BEE74987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13CE-5FA5-4306-AEA0-D23A36155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954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2022-F2CD-499F-B23A-F769BEE74987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13CE-5FA5-4306-AEA0-D23A36155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230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2022-F2CD-499F-B23A-F769BEE74987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13CE-5FA5-4306-AEA0-D23A36155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4334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2022-F2CD-499F-B23A-F769BEE74987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13CE-5FA5-4306-AEA0-D23A36155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705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2022-F2CD-499F-B23A-F769BEE74987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13CE-5FA5-4306-AEA0-D23A36155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9797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2022-F2CD-499F-B23A-F769BEE74987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13CE-5FA5-4306-AEA0-D23A36155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226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2022-F2CD-499F-B23A-F769BEE74987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13CE-5FA5-4306-AEA0-D23A36155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3779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2022-F2CD-499F-B23A-F769BEE74987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13CE-5FA5-4306-AEA0-D23A36155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0317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2022-F2CD-499F-B23A-F769BEE74987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8A13CE-5FA5-4306-AEA0-D23A36155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4746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92022-F2CD-499F-B23A-F769BEE74987}" type="datetimeFigureOut">
              <a:rPr lang="en-GB" smtClean="0"/>
              <a:t>07/02/2017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A13CE-5FA5-4306-AEA0-D23A36155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2400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Screened subnet Firewalls</a:t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2303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 smtClean="0"/>
              <a:t>The following topologies are examples of screened </a:t>
            </a:r>
            <a:r>
              <a:rPr lang="en-GB" dirty="0" smtClean="0"/>
              <a:t>subnet firewall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 smtClean="0"/>
              <a:t>Classic architecture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 smtClean="0"/>
              <a:t>Belt and braces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 smtClean="0"/>
              <a:t>Chapman </a:t>
            </a:r>
            <a:r>
              <a:rPr lang="en-GB" dirty="0" smtClean="0"/>
              <a:t>architecture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GB" dirty="0" smtClean="0"/>
              <a:t>Separate Services</a:t>
            </a:r>
            <a:endParaRPr lang="en-GB" dirty="0" smtClean="0"/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GB" dirty="0" smtClean="0"/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4528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55863"/>
            <a:ext cx="9144000" cy="782638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>The classic Firewall Architecture</a:t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981200"/>
            <a:ext cx="9144000" cy="4203700"/>
          </a:xfrm>
        </p:spPr>
        <p:txBody>
          <a:bodyPr/>
          <a:lstStyle/>
          <a:p>
            <a:r>
              <a:rPr lang="en-GB" dirty="0" smtClean="0"/>
              <a:t>.</a:t>
            </a:r>
          </a:p>
          <a:p>
            <a:endParaRPr lang="en-GB" dirty="0"/>
          </a:p>
        </p:txBody>
      </p:sp>
      <p:sp>
        <p:nvSpPr>
          <p:cNvPr id="4" name="Cloud Callout 3"/>
          <p:cNvSpPr/>
          <p:nvPr/>
        </p:nvSpPr>
        <p:spPr>
          <a:xfrm>
            <a:off x="1905000" y="3238501"/>
            <a:ext cx="1689100" cy="647699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Internet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3911600" y="3238501"/>
            <a:ext cx="1358900" cy="83819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r</a:t>
            </a:r>
            <a:r>
              <a:rPr lang="en-GB" dirty="0" err="1" smtClean="0">
                <a:solidFill>
                  <a:schemeClr val="tx1"/>
                </a:solidFill>
              </a:rPr>
              <a:t>Router</a:t>
            </a:r>
            <a:endParaRPr lang="en-GB" dirty="0"/>
          </a:p>
        </p:txBody>
      </p:sp>
      <p:sp>
        <p:nvSpPr>
          <p:cNvPr id="6" name="Oval 5"/>
          <p:cNvSpPr/>
          <p:nvPr/>
        </p:nvSpPr>
        <p:spPr>
          <a:xfrm>
            <a:off x="5803900" y="2455863"/>
            <a:ext cx="2019300" cy="25860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WWW, FTP, DNS</a:t>
            </a:r>
          </a:p>
          <a:p>
            <a:pPr algn="ctr"/>
            <a:r>
              <a:rPr lang="en-GB" b="1" u="sng" dirty="0" smtClean="0">
                <a:solidFill>
                  <a:schemeClr val="tx1"/>
                </a:solidFill>
              </a:rPr>
              <a:t>SERVERS</a:t>
            </a:r>
          </a:p>
          <a:p>
            <a:pPr algn="ctr"/>
            <a:endParaRPr lang="en-GB" b="1" u="sng" dirty="0">
              <a:solidFill>
                <a:schemeClr val="tx1"/>
              </a:solidFill>
            </a:endParaRPr>
          </a:p>
          <a:p>
            <a:pPr algn="ctr"/>
            <a:r>
              <a:rPr lang="en-GB" sz="2400" b="1" dirty="0" smtClean="0">
                <a:solidFill>
                  <a:schemeClr val="tx1"/>
                </a:solidFill>
              </a:rPr>
              <a:t>DMZ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18600" y="2190751"/>
            <a:ext cx="914400" cy="8445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DNS 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server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63000" y="3503613"/>
            <a:ext cx="1270000" cy="11826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Bastion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host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>
            <a:stCxn id="4" idx="2"/>
            <a:endCxn id="5" idx="2"/>
          </p:cNvCxnSpPr>
          <p:nvPr/>
        </p:nvCxnSpPr>
        <p:spPr>
          <a:xfrm>
            <a:off x="3592692" y="3562351"/>
            <a:ext cx="318908" cy="952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5" idx="6"/>
          </p:cNvCxnSpPr>
          <p:nvPr/>
        </p:nvCxnSpPr>
        <p:spPr>
          <a:xfrm flipV="1">
            <a:off x="5270500" y="3594101"/>
            <a:ext cx="533400" cy="63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6"/>
          </p:cNvCxnSpPr>
          <p:nvPr/>
        </p:nvCxnSpPr>
        <p:spPr>
          <a:xfrm>
            <a:off x="7823200" y="3748882"/>
            <a:ext cx="939800" cy="1373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0350500" y="2184401"/>
            <a:ext cx="25400" cy="27670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3"/>
          </p:cNvCxnSpPr>
          <p:nvPr/>
        </p:nvCxnSpPr>
        <p:spPr>
          <a:xfrm>
            <a:off x="10033000" y="2613026"/>
            <a:ext cx="342900" cy="412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8" idx="3"/>
          </p:cNvCxnSpPr>
          <p:nvPr/>
        </p:nvCxnSpPr>
        <p:spPr>
          <a:xfrm flipV="1">
            <a:off x="10033000" y="4076700"/>
            <a:ext cx="342900" cy="182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 rot="10800000" flipH="1" flipV="1">
            <a:off x="9262109" y="5222874"/>
            <a:ext cx="1541781" cy="22098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iInternal</a:t>
            </a:r>
            <a:r>
              <a:rPr lang="en-GB" dirty="0" smtClean="0"/>
              <a:t> </a:t>
            </a:r>
            <a:r>
              <a:rPr lang="en-GB" dirty="0" smtClean="0">
                <a:solidFill>
                  <a:schemeClr val="tx1"/>
                </a:solidFill>
              </a:rPr>
              <a:t>internal network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7871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455863"/>
            <a:ext cx="9144000" cy="782638"/>
          </a:xfrm>
        </p:spPr>
        <p:txBody>
          <a:bodyPr>
            <a:normAutofit fontScale="90000"/>
          </a:bodyPr>
          <a:lstStyle/>
          <a:p>
            <a:r>
              <a:rPr lang="en-GB" dirty="0"/>
              <a:t>B</a:t>
            </a:r>
            <a:r>
              <a:rPr lang="en-GB" dirty="0" smtClean="0"/>
              <a:t>elt and Braces Firewall</a:t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4000" y="1983978"/>
            <a:ext cx="9144000" cy="4203700"/>
          </a:xfrm>
        </p:spPr>
        <p:txBody>
          <a:bodyPr/>
          <a:lstStyle/>
          <a:p>
            <a:r>
              <a:rPr lang="en-GB" dirty="0" smtClean="0"/>
              <a:t>.</a:t>
            </a:r>
          </a:p>
          <a:p>
            <a:endParaRPr lang="en-GB" dirty="0"/>
          </a:p>
        </p:txBody>
      </p:sp>
      <p:sp>
        <p:nvSpPr>
          <p:cNvPr id="4" name="Cloud Callout 3"/>
          <p:cNvSpPr/>
          <p:nvPr/>
        </p:nvSpPr>
        <p:spPr>
          <a:xfrm>
            <a:off x="1905000" y="3238501"/>
            <a:ext cx="1689100" cy="647699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Internet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3911600" y="3238501"/>
            <a:ext cx="1358900" cy="83819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r</a:t>
            </a:r>
            <a:r>
              <a:rPr lang="en-GB" dirty="0" err="1" smtClean="0">
                <a:solidFill>
                  <a:schemeClr val="tx1"/>
                </a:solidFill>
              </a:rPr>
              <a:t>Router</a:t>
            </a:r>
            <a:endParaRPr lang="en-GB" dirty="0"/>
          </a:p>
        </p:txBody>
      </p:sp>
      <p:sp>
        <p:nvSpPr>
          <p:cNvPr id="6" name="Oval 5"/>
          <p:cNvSpPr/>
          <p:nvPr/>
        </p:nvSpPr>
        <p:spPr>
          <a:xfrm>
            <a:off x="5803900" y="2455863"/>
            <a:ext cx="2019300" cy="258603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 smtClean="0">
                <a:solidFill>
                  <a:schemeClr val="tx1"/>
                </a:solidFill>
              </a:rPr>
              <a:t>DMZ</a:t>
            </a:r>
            <a:endParaRPr lang="en-GB" sz="24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763000" y="3503613"/>
            <a:ext cx="1270000" cy="11826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Bastion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host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>
            <a:stCxn id="4" idx="2"/>
            <a:endCxn id="5" idx="2"/>
          </p:cNvCxnSpPr>
          <p:nvPr/>
        </p:nvCxnSpPr>
        <p:spPr>
          <a:xfrm>
            <a:off x="3592692" y="3562351"/>
            <a:ext cx="318908" cy="952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5" idx="6"/>
          </p:cNvCxnSpPr>
          <p:nvPr/>
        </p:nvCxnSpPr>
        <p:spPr>
          <a:xfrm flipV="1">
            <a:off x="5270500" y="3594101"/>
            <a:ext cx="533400" cy="63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6" idx="6"/>
          </p:cNvCxnSpPr>
          <p:nvPr/>
        </p:nvCxnSpPr>
        <p:spPr>
          <a:xfrm>
            <a:off x="7823200" y="3748882"/>
            <a:ext cx="939800" cy="1373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1709400" y="2178844"/>
            <a:ext cx="0" cy="37393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8" idx="3"/>
          </p:cNvCxnSpPr>
          <p:nvPr/>
        </p:nvCxnSpPr>
        <p:spPr>
          <a:xfrm flipV="1">
            <a:off x="10033000" y="4076700"/>
            <a:ext cx="342900" cy="182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 rot="10800000" flipH="1" flipV="1">
            <a:off x="10820400" y="6077188"/>
            <a:ext cx="1541781" cy="22098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iInternal</a:t>
            </a:r>
            <a:endParaRPr lang="en-GB" dirty="0" smtClean="0"/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internal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network</a:t>
            </a:r>
            <a:endParaRPr lang="en-GB" dirty="0"/>
          </a:p>
        </p:txBody>
      </p:sp>
      <p:sp>
        <p:nvSpPr>
          <p:cNvPr id="9" name="Oval 8"/>
          <p:cNvSpPr/>
          <p:nvPr/>
        </p:nvSpPr>
        <p:spPr>
          <a:xfrm>
            <a:off x="10223500" y="3657601"/>
            <a:ext cx="1193800" cy="8509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Router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3" name="Straight Connector 12"/>
          <p:cNvCxnSpPr>
            <a:stCxn id="9" idx="6"/>
          </p:cNvCxnSpPr>
          <p:nvPr/>
        </p:nvCxnSpPr>
        <p:spPr>
          <a:xfrm flipV="1">
            <a:off x="11417300" y="4076701"/>
            <a:ext cx="279400" cy="63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1172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0450" y="373381"/>
            <a:ext cx="9144000" cy="939005"/>
          </a:xfrm>
        </p:spPr>
        <p:txBody>
          <a:bodyPr>
            <a:normAutofit/>
          </a:bodyPr>
          <a:lstStyle/>
          <a:p>
            <a:r>
              <a:rPr lang="en-GB" dirty="0" smtClean="0"/>
              <a:t>The Chapman Architecture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6500" y="1460500"/>
            <a:ext cx="9144000" cy="4203700"/>
          </a:xfrm>
        </p:spPr>
        <p:txBody>
          <a:bodyPr/>
          <a:lstStyle/>
          <a:p>
            <a:endParaRPr lang="en-GB" dirty="0" smtClean="0"/>
          </a:p>
          <a:p>
            <a:endParaRPr lang="en-GB" dirty="0"/>
          </a:p>
        </p:txBody>
      </p:sp>
      <p:sp>
        <p:nvSpPr>
          <p:cNvPr id="4" name="Cloud Callout 3"/>
          <p:cNvSpPr/>
          <p:nvPr/>
        </p:nvSpPr>
        <p:spPr>
          <a:xfrm>
            <a:off x="1905000" y="3238501"/>
            <a:ext cx="1689100" cy="647699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Internet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3911600" y="3238501"/>
            <a:ext cx="1358900" cy="83819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r</a:t>
            </a:r>
            <a:r>
              <a:rPr lang="en-GB" dirty="0" err="1" smtClean="0">
                <a:solidFill>
                  <a:schemeClr val="tx1"/>
                </a:solidFill>
              </a:rPr>
              <a:t>Router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5077459" y="4292918"/>
            <a:ext cx="1270000" cy="11826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WWW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server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>
            <a:stCxn id="4" idx="2"/>
            <a:endCxn id="5" idx="2"/>
          </p:cNvCxnSpPr>
          <p:nvPr/>
        </p:nvCxnSpPr>
        <p:spPr>
          <a:xfrm>
            <a:off x="3592692" y="3562351"/>
            <a:ext cx="318908" cy="952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0350500" y="2184401"/>
            <a:ext cx="25400" cy="27670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 rot="10800000" flipH="1" flipV="1">
            <a:off x="9262109" y="5222874"/>
            <a:ext cx="1541781" cy="22098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iInternal</a:t>
            </a:r>
            <a:r>
              <a:rPr lang="en-GB" dirty="0" smtClean="0"/>
              <a:t> </a:t>
            </a:r>
            <a:r>
              <a:rPr lang="en-GB" dirty="0" smtClean="0">
                <a:solidFill>
                  <a:schemeClr val="tx1"/>
                </a:solidFill>
              </a:rPr>
              <a:t>internal network</a:t>
            </a:r>
            <a:endParaRPr lang="en-GB" dirty="0"/>
          </a:p>
        </p:txBody>
      </p:sp>
      <p:sp>
        <p:nvSpPr>
          <p:cNvPr id="9" name="Flowchart: Process 8"/>
          <p:cNvSpPr/>
          <p:nvPr/>
        </p:nvSpPr>
        <p:spPr>
          <a:xfrm>
            <a:off x="5943600" y="2108077"/>
            <a:ext cx="1866900" cy="612648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Application 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Proxy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1" name="Flowchart: Process 10"/>
          <p:cNvSpPr/>
          <p:nvPr/>
        </p:nvSpPr>
        <p:spPr>
          <a:xfrm>
            <a:off x="7073900" y="4292917"/>
            <a:ext cx="1073150" cy="115093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FTP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server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/>
          <p:cNvCxnSpPr>
            <a:stCxn id="5" idx="6"/>
          </p:cNvCxnSpPr>
          <p:nvPr/>
        </p:nvCxnSpPr>
        <p:spPr>
          <a:xfrm>
            <a:off x="5270500" y="3657601"/>
            <a:ext cx="5105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6743700" y="2785586"/>
            <a:ext cx="38100" cy="8833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8" idx="0"/>
          </p:cNvCxnSpPr>
          <p:nvPr/>
        </p:nvCxnSpPr>
        <p:spPr>
          <a:xfrm flipV="1">
            <a:off x="5712459" y="3657600"/>
            <a:ext cx="231141" cy="6353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1" idx="0"/>
          </p:cNvCxnSpPr>
          <p:nvPr/>
        </p:nvCxnSpPr>
        <p:spPr>
          <a:xfrm flipH="1" flipV="1">
            <a:off x="7597141" y="3646268"/>
            <a:ext cx="13334" cy="6466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614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0450" y="373381"/>
            <a:ext cx="9144000" cy="939005"/>
          </a:xfrm>
        </p:spPr>
        <p:txBody>
          <a:bodyPr>
            <a:normAutofit/>
          </a:bodyPr>
          <a:lstStyle/>
          <a:p>
            <a:r>
              <a:rPr lang="en-GB" dirty="0"/>
              <a:t>S</a:t>
            </a:r>
            <a:r>
              <a:rPr lang="en-GB" dirty="0" smtClean="0"/>
              <a:t>eparate Services Subnet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6500" y="1460500"/>
            <a:ext cx="9144000" cy="4203700"/>
          </a:xfrm>
        </p:spPr>
        <p:txBody>
          <a:bodyPr/>
          <a:lstStyle/>
          <a:p>
            <a:endParaRPr lang="en-GB" dirty="0" smtClean="0"/>
          </a:p>
          <a:p>
            <a:endParaRPr lang="en-GB" dirty="0"/>
          </a:p>
        </p:txBody>
      </p:sp>
      <p:sp>
        <p:nvSpPr>
          <p:cNvPr id="4" name="Cloud Callout 3"/>
          <p:cNvSpPr/>
          <p:nvPr/>
        </p:nvSpPr>
        <p:spPr>
          <a:xfrm>
            <a:off x="1905000" y="3238501"/>
            <a:ext cx="1689100" cy="647699"/>
          </a:xfrm>
          <a:prstGeom prst="cloudCallo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Internet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3911600" y="3238501"/>
            <a:ext cx="1358900" cy="838199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r</a:t>
            </a:r>
            <a:r>
              <a:rPr lang="en-GB" dirty="0" err="1" smtClean="0">
                <a:solidFill>
                  <a:schemeClr val="tx1"/>
                </a:solidFill>
              </a:rPr>
              <a:t>Router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5077459" y="4292918"/>
            <a:ext cx="1270000" cy="118268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WWW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server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>
            <a:stCxn id="4" idx="2"/>
            <a:endCxn id="5" idx="2"/>
          </p:cNvCxnSpPr>
          <p:nvPr/>
        </p:nvCxnSpPr>
        <p:spPr>
          <a:xfrm>
            <a:off x="3592692" y="3562351"/>
            <a:ext cx="318908" cy="952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0350500" y="2184401"/>
            <a:ext cx="25400" cy="27670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 rot="10800000" flipH="1" flipV="1">
            <a:off x="9262109" y="5222874"/>
            <a:ext cx="1541781" cy="22098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 smtClean="0"/>
              <a:t>iInternal</a:t>
            </a:r>
            <a:r>
              <a:rPr lang="en-GB" dirty="0" smtClean="0"/>
              <a:t> </a:t>
            </a:r>
            <a:r>
              <a:rPr lang="en-GB" dirty="0" smtClean="0">
                <a:solidFill>
                  <a:schemeClr val="tx1"/>
                </a:solidFill>
              </a:rPr>
              <a:t>internal network</a:t>
            </a:r>
            <a:endParaRPr lang="en-GB" dirty="0"/>
          </a:p>
        </p:txBody>
      </p:sp>
      <p:sp>
        <p:nvSpPr>
          <p:cNvPr id="11" name="Flowchart: Process 10"/>
          <p:cNvSpPr/>
          <p:nvPr/>
        </p:nvSpPr>
        <p:spPr>
          <a:xfrm>
            <a:off x="7073900" y="4292917"/>
            <a:ext cx="1073150" cy="1150937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FTP</a:t>
            </a:r>
          </a:p>
          <a:p>
            <a:pPr algn="ctr"/>
            <a:r>
              <a:rPr lang="en-GB" dirty="0" smtClean="0">
                <a:solidFill>
                  <a:schemeClr val="tx1"/>
                </a:solidFill>
              </a:rPr>
              <a:t>server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22" name="Straight Connector 21"/>
          <p:cNvCxnSpPr>
            <a:stCxn id="8" idx="0"/>
          </p:cNvCxnSpPr>
          <p:nvPr/>
        </p:nvCxnSpPr>
        <p:spPr>
          <a:xfrm flipV="1">
            <a:off x="5712459" y="3961487"/>
            <a:ext cx="543720" cy="3314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 flipV="1">
            <a:off x="7061200" y="3961487"/>
            <a:ext cx="396875" cy="33143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 flipH="1">
            <a:off x="8698547" y="3052206"/>
            <a:ext cx="1247775" cy="11557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Router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943600" y="2641600"/>
            <a:ext cx="14859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schemeClr val="tx1"/>
                </a:solidFill>
              </a:rPr>
              <a:t>Bastion host</a:t>
            </a:r>
            <a:endParaRPr lang="en-GB" dirty="0">
              <a:solidFill>
                <a:schemeClr val="tx1"/>
              </a:solidFill>
            </a:endParaRPr>
          </a:p>
        </p:txBody>
      </p:sp>
      <p:cxnSp>
        <p:nvCxnSpPr>
          <p:cNvPr id="20" name="Straight Connector 19"/>
          <p:cNvCxnSpPr>
            <a:stCxn id="5" idx="6"/>
            <a:endCxn id="12" idx="1"/>
          </p:cNvCxnSpPr>
          <p:nvPr/>
        </p:nvCxnSpPr>
        <p:spPr>
          <a:xfrm flipV="1">
            <a:off x="5270500" y="3098800"/>
            <a:ext cx="673100" cy="5588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2" idx="3"/>
          </p:cNvCxnSpPr>
          <p:nvPr/>
        </p:nvCxnSpPr>
        <p:spPr>
          <a:xfrm>
            <a:off x="7429500" y="3098800"/>
            <a:ext cx="1282700" cy="383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7" idx="2"/>
            <a:endCxn id="3" idx="3"/>
          </p:cNvCxnSpPr>
          <p:nvPr/>
        </p:nvCxnSpPr>
        <p:spPr>
          <a:xfrm flipV="1">
            <a:off x="9946322" y="3562350"/>
            <a:ext cx="404178" cy="677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H="1">
            <a:off x="6277688" y="3961487"/>
            <a:ext cx="796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12" idx="2"/>
          </p:cNvCxnSpPr>
          <p:nvPr/>
        </p:nvCxnSpPr>
        <p:spPr>
          <a:xfrm flipV="1">
            <a:off x="6686550" y="3556000"/>
            <a:ext cx="0" cy="4054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3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85</Words>
  <Application>Microsoft Office PowerPoint</Application>
  <PresentationFormat>Widescreen</PresentationFormat>
  <Paragraphs>50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Screened subnet Firewalls </vt:lpstr>
      <vt:lpstr>The classic Firewall Architecture  </vt:lpstr>
      <vt:lpstr>Belt and Braces Firewall  </vt:lpstr>
      <vt:lpstr>The Chapman Architecture</vt:lpstr>
      <vt:lpstr>Separate Services Subnet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Screened subnet Firewalls</dc:title>
  <dc:creator>Amir</dc:creator>
  <cp:lastModifiedBy>Amir</cp:lastModifiedBy>
  <cp:revision>5</cp:revision>
  <dcterms:created xsi:type="dcterms:W3CDTF">2016-05-04T13:25:40Z</dcterms:created>
  <dcterms:modified xsi:type="dcterms:W3CDTF">2017-02-07T14:18:49Z</dcterms:modified>
</cp:coreProperties>
</file>