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26721-C760-4FB0-84BE-4B2E89E2E80C}" type="datetimeFigureOut">
              <a:rPr lang="en-US" smtClean="0"/>
              <a:t>2/7/2017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25BD9-79B5-4EED-BAC3-F1B88FB81A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07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25BD9-79B5-4EED-BAC3-F1B88FB81A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1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25BD9-79B5-4EED-BAC3-F1B88FB81A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5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265865-36D0-480B-972E-DBBB962E66AE}" type="datetimeFigureOut">
              <a:rPr lang="en-US" smtClean="0"/>
              <a:pPr/>
              <a:t>2/7/2017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2DF99D10-A642-4281-80F3-D13A3C4BCA8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9552" y="188640"/>
            <a:ext cx="7399658" cy="1304568"/>
          </a:xfrm>
        </p:spPr>
        <p:txBody>
          <a:bodyPr/>
          <a:lstStyle/>
          <a:p>
            <a:r>
              <a:rPr lang="en-GB" u="sng" dirty="0" smtClean="0"/>
              <a:t>Concepts of Cryptography</a:t>
            </a:r>
            <a:endParaRPr lang="en-GB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GB" dirty="0" smtClean="0"/>
              <a:t>ryptography</a:t>
            </a:r>
          </a:p>
          <a:p>
            <a:r>
              <a:rPr lang="en-GB" dirty="0" smtClean="0"/>
              <a:t>Cryptography Algorithms</a:t>
            </a:r>
          </a:p>
          <a:p>
            <a:r>
              <a:rPr lang="en-GB" dirty="0" smtClean="0"/>
              <a:t>Authentication</a:t>
            </a:r>
          </a:p>
          <a:p>
            <a:r>
              <a:rPr lang="en-GB" dirty="0" smtClean="0"/>
              <a:t>Hashing</a:t>
            </a:r>
          </a:p>
          <a:p>
            <a:r>
              <a:rPr lang="en-GB" dirty="0" smtClean="0"/>
              <a:t>Digital Signatures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1143000"/>
          </a:xfrm>
        </p:spPr>
        <p:txBody>
          <a:bodyPr/>
          <a:lstStyle/>
          <a:p>
            <a:r>
              <a:rPr lang="en-GB" u="sng" dirty="0" smtClean="0"/>
              <a:t>What is Cryptography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The science of using Mathematics to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smtClean="0"/>
              <a:t>	ENCRYPT and DECRYPT DATA</a:t>
            </a:r>
          </a:p>
          <a:p>
            <a:pPr>
              <a:buNone/>
            </a:pPr>
            <a:r>
              <a:rPr lang="en-GB" dirty="0" smtClean="0"/>
              <a:t>  		      </a:t>
            </a:r>
            <a:r>
              <a:rPr lang="en-GB" sz="1600" dirty="0" smtClean="0">
                <a:solidFill>
                  <a:srgbClr val="FF0000"/>
                </a:solidFill>
              </a:rPr>
              <a:t>(math-E)	             (gibberish)	   (math-D)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34" y="3500438"/>
            <a:ext cx="1128714" cy="785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Clear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86182" y="3357562"/>
            <a:ext cx="100013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Cipher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86644" y="3357562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Clear 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14480" y="3786190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57356" y="3500438"/>
            <a:ext cx="139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ENCRYPTION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5072066" y="3429000"/>
            <a:ext cx="1383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DECRYPTION</a:t>
            </a:r>
            <a:endParaRPr lang="en-GB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786314" y="3786190"/>
            <a:ext cx="242889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4348" y="4714884"/>
            <a:ext cx="155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/>
              <a:t>Confidentiality</a:t>
            </a:r>
            <a:endParaRPr lang="en-GB" u="sng" dirty="0"/>
          </a:p>
        </p:txBody>
      </p:sp>
      <p:sp>
        <p:nvSpPr>
          <p:cNvPr id="21" name="Rectangle 20"/>
          <p:cNvSpPr/>
          <p:nvPr/>
        </p:nvSpPr>
        <p:spPr>
          <a:xfrm>
            <a:off x="353362" y="5643578"/>
            <a:ext cx="503862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N1</a:t>
            </a:r>
            <a:endParaRPr lang="en-GB" sz="1600" dirty="0"/>
          </a:p>
        </p:txBody>
      </p:sp>
      <p:sp>
        <p:nvSpPr>
          <p:cNvPr id="22" name="Rectangle 21"/>
          <p:cNvSpPr/>
          <p:nvPr/>
        </p:nvSpPr>
        <p:spPr>
          <a:xfrm>
            <a:off x="7929586" y="5572140"/>
            <a:ext cx="50006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N2</a:t>
            </a:r>
            <a:endParaRPr lang="en-GB" dirty="0"/>
          </a:p>
        </p:txBody>
      </p:sp>
      <p:sp>
        <p:nvSpPr>
          <p:cNvPr id="23" name="Cloud Callout 22"/>
          <p:cNvSpPr/>
          <p:nvPr/>
        </p:nvSpPr>
        <p:spPr>
          <a:xfrm>
            <a:off x="3500430" y="5429264"/>
            <a:ext cx="1643074" cy="612648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Internet</a:t>
            </a:r>
            <a:endParaRPr lang="en-GB" dirty="0"/>
          </a:p>
        </p:txBody>
      </p:sp>
      <p:sp>
        <p:nvSpPr>
          <p:cNvPr id="25" name="Freeform 24"/>
          <p:cNvSpPr/>
          <p:nvPr/>
        </p:nvSpPr>
        <p:spPr>
          <a:xfrm>
            <a:off x="923278" y="5792679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 25"/>
          <p:cNvSpPr/>
          <p:nvPr/>
        </p:nvSpPr>
        <p:spPr>
          <a:xfrm>
            <a:off x="5143504" y="5643578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1857356" y="5643578"/>
            <a:ext cx="428628" cy="4286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 smtClean="0"/>
              <a:t>X</a:t>
            </a:r>
            <a:endParaRPr lang="en-GB" sz="3600" dirty="0"/>
          </a:p>
        </p:txBody>
      </p:sp>
      <p:sp>
        <p:nvSpPr>
          <p:cNvPr id="28" name="Oval 27"/>
          <p:cNvSpPr/>
          <p:nvPr/>
        </p:nvSpPr>
        <p:spPr>
          <a:xfrm>
            <a:off x="6215074" y="5429264"/>
            <a:ext cx="428628" cy="4286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400" dirty="0" smtClean="0"/>
              <a:t>X</a:t>
            </a:r>
            <a:endParaRPr lang="en-GB" sz="4400" dirty="0"/>
          </a:p>
        </p:txBody>
      </p:sp>
      <p:sp>
        <p:nvSpPr>
          <p:cNvPr id="30" name="Oval 29"/>
          <p:cNvSpPr/>
          <p:nvPr/>
        </p:nvSpPr>
        <p:spPr>
          <a:xfrm>
            <a:off x="3563888" y="4857760"/>
            <a:ext cx="1222426" cy="3571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Attacker</a:t>
            </a:r>
            <a:endParaRPr lang="en-GB" sz="1200" dirty="0"/>
          </a:p>
        </p:txBody>
      </p:sp>
      <p:cxnSp>
        <p:nvCxnSpPr>
          <p:cNvPr id="32" name="Straight Arrow Connector 31"/>
          <p:cNvCxnSpPr/>
          <p:nvPr/>
        </p:nvCxnSpPr>
        <p:spPr>
          <a:xfrm rot="16200000" flipH="1">
            <a:off x="4179436" y="5250324"/>
            <a:ext cx="177905" cy="1071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5786" y="5000636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smtClean="0"/>
              <a:t>?</a:t>
            </a:r>
            <a:endParaRPr lang="en-GB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2143108" y="5214950"/>
            <a:ext cx="916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Cost???</a:t>
            </a:r>
            <a:endParaRPr lang="en-GB" dirty="0"/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893737" y="5749941"/>
            <a:ext cx="78581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072330" y="5715016"/>
            <a:ext cx="85725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1143000"/>
          </a:xfrm>
        </p:spPr>
        <p:txBody>
          <a:bodyPr/>
          <a:lstStyle/>
          <a:p>
            <a:r>
              <a:rPr lang="en-GB" u="sng" dirty="0" smtClean="0"/>
              <a:t>Cryptography ALGORITHMS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A mathematical FUNCTION used to </a:t>
            </a:r>
          </a:p>
          <a:p>
            <a:pPr>
              <a:buNone/>
            </a:pPr>
            <a:r>
              <a:rPr lang="en-GB" dirty="0" smtClean="0"/>
              <a:t>		ENCRYPT  / DECRYPT   DATA</a:t>
            </a:r>
          </a:p>
          <a:p>
            <a:pPr>
              <a:buNone/>
            </a:pPr>
            <a:r>
              <a:rPr lang="en-GB" dirty="0" smtClean="0"/>
              <a:t>  		      </a:t>
            </a:r>
            <a:r>
              <a:rPr lang="en-GB" sz="1600" dirty="0" smtClean="0">
                <a:solidFill>
                  <a:schemeClr val="accent2"/>
                </a:solidFill>
              </a:rPr>
              <a:t>	             	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34" y="4071942"/>
            <a:ext cx="1128714" cy="785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Clear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3306" y="4143380"/>
            <a:ext cx="928694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Cipher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2330" y="4000504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Clear 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Text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43042" y="4500570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57356" y="4071942"/>
            <a:ext cx="139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ENCRYPTION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5000628" y="4071942"/>
            <a:ext cx="1383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DECRYPTION</a:t>
            </a:r>
            <a:endParaRPr lang="en-GB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572000" y="4500570"/>
            <a:ext cx="242889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96" y="2928934"/>
            <a:ext cx="11717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1400" b="1" dirty="0" smtClean="0">
                <a:solidFill>
                  <a:srgbClr val="0070C0"/>
                </a:solidFill>
              </a:rPr>
              <a:t>DATA</a:t>
            </a:r>
          </a:p>
          <a:p>
            <a:pPr>
              <a:buFont typeface="Arial" pitchFamily="34" charset="0"/>
              <a:buChar char="•"/>
            </a:pPr>
            <a:r>
              <a:rPr lang="en-GB" sz="1400" b="1" dirty="0" smtClean="0">
                <a:solidFill>
                  <a:srgbClr val="0070C0"/>
                </a:solidFill>
              </a:rPr>
              <a:t>KEY</a:t>
            </a:r>
          </a:p>
          <a:p>
            <a:pPr>
              <a:buFont typeface="Arial" pitchFamily="34" charset="0"/>
              <a:buChar char="•"/>
            </a:pPr>
            <a:r>
              <a:rPr lang="en-GB" sz="1400" b="1" dirty="0" smtClean="0">
                <a:solidFill>
                  <a:srgbClr val="0070C0"/>
                </a:solidFill>
              </a:rPr>
              <a:t>ALGORITHM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43108" y="4714884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(CL + KEY)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57818" y="4786322"/>
            <a:ext cx="112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(CT + KEY)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8662" y="5500702"/>
            <a:ext cx="1478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b="1" dirty="0" smtClean="0"/>
              <a:t>SYMMETRIC</a:t>
            </a:r>
          </a:p>
          <a:p>
            <a:pPr>
              <a:buFont typeface="Arial" pitchFamily="34" charset="0"/>
              <a:buChar char="•"/>
            </a:pPr>
            <a:endParaRPr lang="en-GB" b="1" dirty="0" smtClean="0"/>
          </a:p>
          <a:p>
            <a:pPr>
              <a:buFont typeface="Arial" pitchFamily="34" charset="0"/>
              <a:buChar char="•"/>
            </a:pPr>
            <a:r>
              <a:rPr lang="en-GB" b="1" dirty="0" smtClean="0"/>
              <a:t>ASSYMETRIC</a:t>
            </a:r>
            <a:endParaRPr lang="en-GB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3786182" y="5715016"/>
            <a:ext cx="137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accent6">
                    <a:lumMod val="50000"/>
                  </a:schemeClr>
                </a:solidFill>
              </a:rPr>
              <a:t>ALGORITHM</a:t>
            </a:r>
            <a:endParaRPr lang="en-GB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0" name="Straight Arrow Connector 39"/>
          <p:cNvCxnSpPr>
            <a:stCxn id="38" idx="1"/>
          </p:cNvCxnSpPr>
          <p:nvPr/>
        </p:nvCxnSpPr>
        <p:spPr>
          <a:xfrm rot="10800000">
            <a:off x="2857488" y="5000636"/>
            <a:ext cx="928694" cy="8990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8" idx="3"/>
          </p:cNvCxnSpPr>
          <p:nvPr/>
        </p:nvCxnSpPr>
        <p:spPr>
          <a:xfrm flipV="1">
            <a:off x="5158994" y="5143512"/>
            <a:ext cx="627452" cy="756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ight Arrow 43"/>
          <p:cNvSpPr/>
          <p:nvPr/>
        </p:nvSpPr>
        <p:spPr>
          <a:xfrm>
            <a:off x="2571736" y="5857892"/>
            <a:ext cx="1000132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229600" cy="1143000"/>
          </a:xfrm>
        </p:spPr>
        <p:txBody>
          <a:bodyPr/>
          <a:lstStyle/>
          <a:p>
            <a:r>
              <a:rPr lang="en-GB" u="sng" dirty="0" smtClean="0"/>
              <a:t>Authentication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The VERIFCATION of  DATA INTEGRITY 	and 				        DATA ORIGIN</a:t>
            </a:r>
          </a:p>
          <a:p>
            <a:pPr>
              <a:buNone/>
            </a:pPr>
            <a:r>
              <a:rPr lang="en-GB" dirty="0" smtClean="0"/>
              <a:t>  		      </a:t>
            </a:r>
            <a:r>
              <a:rPr lang="en-GB" sz="1600" dirty="0" smtClean="0">
                <a:solidFill>
                  <a:schemeClr val="accent2"/>
                </a:solidFill>
              </a:rPr>
              <a:t>	             	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596" y="2357430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>
                <a:solidFill>
                  <a:srgbClr val="FF0000"/>
                </a:solidFill>
              </a:rPr>
              <a:t>DATA Integrity</a:t>
            </a:r>
            <a:endParaRPr lang="en-GB" u="sng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929066"/>
            <a:ext cx="471462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N1</a:t>
            </a:r>
            <a:endParaRPr lang="en-GB" sz="1600" dirty="0"/>
          </a:p>
        </p:txBody>
      </p:sp>
      <p:sp>
        <p:nvSpPr>
          <p:cNvPr id="22" name="Rectangle 21"/>
          <p:cNvSpPr/>
          <p:nvPr/>
        </p:nvSpPr>
        <p:spPr>
          <a:xfrm>
            <a:off x="8072462" y="3643314"/>
            <a:ext cx="50006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N2</a:t>
            </a:r>
            <a:endParaRPr lang="en-GB" dirty="0"/>
          </a:p>
        </p:txBody>
      </p:sp>
      <p:sp>
        <p:nvSpPr>
          <p:cNvPr id="23" name="Cloud Callout 22"/>
          <p:cNvSpPr/>
          <p:nvPr/>
        </p:nvSpPr>
        <p:spPr>
          <a:xfrm>
            <a:off x="3643306" y="3643314"/>
            <a:ext cx="1643074" cy="612648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Internet</a:t>
            </a:r>
            <a:endParaRPr lang="en-GB" dirty="0"/>
          </a:p>
        </p:txBody>
      </p:sp>
      <p:sp>
        <p:nvSpPr>
          <p:cNvPr id="25" name="Freeform 24"/>
          <p:cNvSpPr/>
          <p:nvPr/>
        </p:nvSpPr>
        <p:spPr>
          <a:xfrm>
            <a:off x="928662" y="4000504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 25"/>
          <p:cNvSpPr/>
          <p:nvPr/>
        </p:nvSpPr>
        <p:spPr>
          <a:xfrm>
            <a:off x="5286380" y="3857628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1857356" y="3857628"/>
            <a:ext cx="428628" cy="4286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 smtClean="0"/>
              <a:t>X</a:t>
            </a:r>
            <a:endParaRPr lang="en-GB" sz="3600" dirty="0"/>
          </a:p>
        </p:txBody>
      </p:sp>
      <p:sp>
        <p:nvSpPr>
          <p:cNvPr id="28" name="Oval 27"/>
          <p:cNvSpPr/>
          <p:nvPr/>
        </p:nvSpPr>
        <p:spPr>
          <a:xfrm>
            <a:off x="6357950" y="3714752"/>
            <a:ext cx="428628" cy="4286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400" dirty="0" smtClean="0"/>
              <a:t>X</a:t>
            </a:r>
            <a:endParaRPr lang="en-GB" sz="4400" dirty="0"/>
          </a:p>
        </p:txBody>
      </p:sp>
      <p:sp>
        <p:nvSpPr>
          <p:cNvPr id="30" name="Oval 29"/>
          <p:cNvSpPr/>
          <p:nvPr/>
        </p:nvSpPr>
        <p:spPr>
          <a:xfrm>
            <a:off x="4143372" y="3071810"/>
            <a:ext cx="1220716" cy="3571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Attacker</a:t>
            </a:r>
            <a:endParaRPr lang="en-GB" sz="1200" dirty="0"/>
          </a:p>
        </p:txBody>
      </p:sp>
      <p:cxnSp>
        <p:nvCxnSpPr>
          <p:cNvPr id="32" name="Straight Arrow Connector 31"/>
          <p:cNvCxnSpPr/>
          <p:nvPr/>
        </p:nvCxnSpPr>
        <p:spPr>
          <a:xfrm rot="16200000" flipH="1">
            <a:off x="4536626" y="3464374"/>
            <a:ext cx="177905" cy="1071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5720" y="2714620"/>
            <a:ext cx="3857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1400" b="1" i="1" dirty="0" smtClean="0">
                <a:solidFill>
                  <a:srgbClr val="FF0000"/>
                </a:solidFill>
              </a:rPr>
              <a:t>CHECKSUM	 - bit count</a:t>
            </a:r>
          </a:p>
          <a:p>
            <a:pPr>
              <a:buFont typeface="Arial" pitchFamily="34" charset="0"/>
              <a:buChar char="•"/>
            </a:pPr>
            <a:r>
              <a:rPr lang="en-GB" sz="1400" b="1" i="1" dirty="0" smtClean="0">
                <a:solidFill>
                  <a:srgbClr val="FF0000"/>
                </a:solidFill>
              </a:rPr>
              <a:t>CYCLIC REDUNDANCY CHECK – use of polynomial</a:t>
            </a:r>
          </a:p>
          <a:p>
            <a:pPr>
              <a:buFont typeface="Arial" pitchFamily="34" charset="0"/>
              <a:buChar char="•"/>
            </a:pPr>
            <a:r>
              <a:rPr lang="en-GB" b="1" dirty="0" smtClean="0">
                <a:solidFill>
                  <a:srgbClr val="FF0000"/>
                </a:solidFill>
              </a:rPr>
              <a:t>ONE WAY HASH – </a:t>
            </a:r>
            <a:r>
              <a:rPr lang="en-GB" sz="1400" b="1" dirty="0" smtClean="0">
                <a:solidFill>
                  <a:srgbClr val="FF0000"/>
                </a:solidFill>
              </a:rPr>
              <a:t>less CPU time</a:t>
            </a:r>
            <a:endParaRPr lang="en-GB" sz="1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9388" y="1214422"/>
            <a:ext cx="86773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NOTIFY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642910" y="4714884"/>
            <a:ext cx="21464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>
                <a:solidFill>
                  <a:srgbClr val="FF0000"/>
                </a:solidFill>
              </a:rPr>
              <a:t>DATA Origin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        Non repudiation</a:t>
            </a:r>
          </a:p>
          <a:p>
            <a:r>
              <a:rPr lang="en-GB" dirty="0" smtClean="0"/>
              <a:t>Phone</a:t>
            </a:r>
          </a:p>
          <a:p>
            <a:r>
              <a:rPr lang="en-GB" dirty="0" smtClean="0"/>
              <a:t>Letter</a:t>
            </a:r>
          </a:p>
          <a:p>
            <a:r>
              <a:rPr lang="en-GB" dirty="0" smtClean="0"/>
              <a:t>E-mail</a:t>
            </a:r>
          </a:p>
          <a:p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3643306" y="5429264"/>
            <a:ext cx="114471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Identifier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HASH Function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A mathematical FUNCTION applied to a variable sized INPUT to produce a UNIQUE fixed sized output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643306" y="3071810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CT</a:t>
            </a:r>
            <a:endParaRPr lang="en-GB" sz="2800" b="1" dirty="0"/>
          </a:p>
        </p:txBody>
      </p:sp>
      <p:sp>
        <p:nvSpPr>
          <p:cNvPr id="5" name="Right Arrow Callout 4"/>
          <p:cNvSpPr/>
          <p:nvPr/>
        </p:nvSpPr>
        <p:spPr>
          <a:xfrm>
            <a:off x="5572132" y="3000372"/>
            <a:ext cx="914400" cy="914400"/>
          </a:xfrm>
          <a:prstGeom prst="right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HF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00826" y="3071810"/>
            <a:ext cx="1643074" cy="7143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  <a:t>DIGEST</a:t>
            </a:r>
            <a:endParaRPr lang="en-GB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" name="Straight Arrow Connector 7"/>
          <p:cNvCxnSpPr>
            <a:stCxn id="4" idx="3"/>
            <a:endCxn id="5" idx="1"/>
          </p:cNvCxnSpPr>
          <p:nvPr/>
        </p:nvCxnSpPr>
        <p:spPr>
          <a:xfrm flipV="1">
            <a:off x="4557706" y="3457572"/>
            <a:ext cx="101442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034" y="3720116"/>
            <a:ext cx="3998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GB" dirty="0" smtClean="0"/>
              <a:t>Requirements: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No collisions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Difficult to REVERSE- near impossible</a:t>
            </a:r>
            <a:endParaRPr lang="en-GB" dirty="0"/>
          </a:p>
        </p:txBody>
      </p:sp>
      <p:sp>
        <p:nvSpPr>
          <p:cNvPr id="10" name="Cloud Callout 9"/>
          <p:cNvSpPr/>
          <p:nvPr/>
        </p:nvSpPr>
        <p:spPr>
          <a:xfrm>
            <a:off x="3714744" y="5072074"/>
            <a:ext cx="1643074" cy="612648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Internet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484710" y="5214950"/>
            <a:ext cx="515390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N1</a:t>
            </a:r>
            <a:endParaRPr lang="en-GB" sz="1600" dirty="0"/>
          </a:p>
        </p:txBody>
      </p:sp>
      <p:sp>
        <p:nvSpPr>
          <p:cNvPr id="12" name="Freeform 11"/>
          <p:cNvSpPr/>
          <p:nvPr/>
        </p:nvSpPr>
        <p:spPr>
          <a:xfrm>
            <a:off x="1000100" y="5357826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5286380" y="5214950"/>
            <a:ext cx="2863048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8072462" y="5000636"/>
            <a:ext cx="50006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N2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928662" y="5929330"/>
            <a:ext cx="110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CT + MD1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071670" y="6000768"/>
            <a:ext cx="5107559" cy="1132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86644" y="5857892"/>
            <a:ext cx="474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C00000"/>
                </a:solidFill>
              </a:rPr>
              <a:t>CT 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1" name="Right Arrow Callout 20"/>
          <p:cNvSpPr/>
          <p:nvPr/>
        </p:nvSpPr>
        <p:spPr>
          <a:xfrm>
            <a:off x="7715272" y="5643578"/>
            <a:ext cx="414366" cy="714380"/>
          </a:xfrm>
          <a:prstGeom prst="right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8215338" y="578645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MD2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4857752" y="635795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C00000"/>
                </a:solidFill>
              </a:rPr>
              <a:t>MD1</a:t>
            </a:r>
            <a:r>
              <a:rPr lang="en-GB" dirty="0" smtClean="0"/>
              <a:t> = MD2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2500298" y="6072206"/>
            <a:ext cx="314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AUTHENTICATION APPLICATION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Digital Signature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85720" y="1785926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CT</a:t>
            </a:r>
            <a:endParaRPr lang="en-GB" sz="2800" b="1" dirty="0"/>
          </a:p>
        </p:txBody>
      </p:sp>
      <p:sp>
        <p:nvSpPr>
          <p:cNvPr id="5" name="Right Arrow Callout 4"/>
          <p:cNvSpPr/>
          <p:nvPr/>
        </p:nvSpPr>
        <p:spPr>
          <a:xfrm>
            <a:off x="1357290" y="1857364"/>
            <a:ext cx="914400" cy="914400"/>
          </a:xfrm>
          <a:prstGeom prst="right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HF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14546" y="2285992"/>
            <a:ext cx="1071570" cy="6429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  <a:t>DIGEST1</a:t>
            </a:r>
            <a:endParaRPr lang="en-GB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" name="Straight Arrow Connector 7"/>
          <p:cNvCxnSpPr>
            <a:stCxn id="4" idx="3"/>
            <a:endCxn id="5" idx="1"/>
          </p:cNvCxnSpPr>
          <p:nvPr/>
        </p:nvCxnSpPr>
        <p:spPr>
          <a:xfrm>
            <a:off x="1200120" y="2243126"/>
            <a:ext cx="15717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loud Callout 9"/>
          <p:cNvSpPr/>
          <p:nvPr/>
        </p:nvSpPr>
        <p:spPr>
          <a:xfrm>
            <a:off x="3214678" y="3357562"/>
            <a:ext cx="1643074" cy="612648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Internet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285720" y="3429000"/>
            <a:ext cx="571504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N1</a:t>
            </a:r>
            <a:endParaRPr lang="en-GB" sz="1600" dirty="0"/>
          </a:p>
        </p:txBody>
      </p:sp>
      <p:sp>
        <p:nvSpPr>
          <p:cNvPr id="12" name="Freeform 11"/>
          <p:cNvSpPr/>
          <p:nvPr/>
        </p:nvSpPr>
        <p:spPr>
          <a:xfrm>
            <a:off x="857224" y="3571876"/>
            <a:ext cx="2428892" cy="214314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4857752" y="3571876"/>
            <a:ext cx="2714644" cy="149441"/>
          </a:xfrm>
          <a:custGeom>
            <a:avLst/>
            <a:gdLst>
              <a:gd name="connsiteX0" fmla="*/ 0 w 2863048"/>
              <a:gd name="connsiteY0" fmla="*/ 66583 h 149441"/>
              <a:gd name="connsiteX1" fmla="*/ 1855433 w 2863048"/>
              <a:gd name="connsiteY1" fmla="*/ 13317 h 149441"/>
              <a:gd name="connsiteX2" fmla="*/ 1819922 w 2863048"/>
              <a:gd name="connsiteY2" fmla="*/ 146482 h 149441"/>
              <a:gd name="connsiteX3" fmla="*/ 2725444 w 2863048"/>
              <a:gd name="connsiteY3" fmla="*/ 31072 h 149441"/>
              <a:gd name="connsiteX4" fmla="*/ 2645545 w 2863048"/>
              <a:gd name="connsiteY4" fmla="*/ 13317 h 14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048" h="149441">
                <a:moveTo>
                  <a:pt x="0" y="66583"/>
                </a:moveTo>
                <a:cubicBezTo>
                  <a:pt x="776056" y="33291"/>
                  <a:pt x="1552113" y="0"/>
                  <a:pt x="1855433" y="13317"/>
                </a:cubicBezTo>
                <a:cubicBezTo>
                  <a:pt x="2158753" y="26634"/>
                  <a:pt x="1674920" y="143523"/>
                  <a:pt x="1819922" y="146482"/>
                </a:cubicBezTo>
                <a:cubicBezTo>
                  <a:pt x="1964924" y="149441"/>
                  <a:pt x="2587840" y="53266"/>
                  <a:pt x="2725444" y="31072"/>
                </a:cubicBezTo>
                <a:cubicBezTo>
                  <a:pt x="2863048" y="8878"/>
                  <a:pt x="2654423" y="19235"/>
                  <a:pt x="2645545" y="1331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500958" y="3429000"/>
            <a:ext cx="500066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N2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2857488" y="1571612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PRIVATE KEY</a:t>
            </a:r>
            <a:endParaRPr lang="en-GB" dirty="0"/>
          </a:p>
        </p:txBody>
      </p:sp>
      <p:sp>
        <p:nvSpPr>
          <p:cNvPr id="32" name="TextBox 31"/>
          <p:cNvSpPr txBox="1"/>
          <p:nvPr/>
        </p:nvSpPr>
        <p:spPr>
          <a:xfrm>
            <a:off x="3428992" y="1928802"/>
            <a:ext cx="38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+</a:t>
            </a:r>
            <a:endParaRPr lang="en-GB" sz="3200" b="1" dirty="0"/>
          </a:p>
        </p:txBody>
      </p:sp>
      <p:sp>
        <p:nvSpPr>
          <p:cNvPr id="33" name="Right Arrow 32"/>
          <p:cNvSpPr/>
          <p:nvPr/>
        </p:nvSpPr>
        <p:spPr>
          <a:xfrm>
            <a:off x="6242694" y="4429132"/>
            <a:ext cx="901074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 smtClean="0"/>
              <a:t>Decipher</a:t>
            </a:r>
            <a:endParaRPr lang="en-GB" sz="1000" dirty="0"/>
          </a:p>
        </p:txBody>
      </p:sp>
      <p:sp>
        <p:nvSpPr>
          <p:cNvPr id="34" name="Rectangle 33"/>
          <p:cNvSpPr/>
          <p:nvPr/>
        </p:nvSpPr>
        <p:spPr>
          <a:xfrm>
            <a:off x="4071934" y="2071677"/>
            <a:ext cx="1064810" cy="10066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CIPHER</a:t>
            </a:r>
          </a:p>
          <a:p>
            <a:pPr algn="ctr"/>
            <a:r>
              <a:rPr lang="en-GB" dirty="0" smtClean="0"/>
              <a:t>DIGEST</a:t>
            </a:r>
            <a:endParaRPr lang="en-GB" dirty="0"/>
          </a:p>
        </p:txBody>
      </p:sp>
      <p:cxnSp>
        <p:nvCxnSpPr>
          <p:cNvPr id="36" name="Straight Arrow Connector 35"/>
          <p:cNvCxnSpPr/>
          <p:nvPr/>
        </p:nvCxnSpPr>
        <p:spPr>
          <a:xfrm rot="5400000" flipH="1" flipV="1">
            <a:off x="714348" y="3000372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136744" y="4214818"/>
            <a:ext cx="106403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CIPHER</a:t>
            </a:r>
          </a:p>
          <a:p>
            <a:pPr algn="ctr"/>
            <a:r>
              <a:rPr lang="en-GB" dirty="0" smtClean="0"/>
              <a:t>DIGEST</a:t>
            </a:r>
            <a:endParaRPr lang="en-GB" dirty="0"/>
          </a:p>
        </p:txBody>
      </p:sp>
      <p:sp>
        <p:nvSpPr>
          <p:cNvPr id="39" name="Right Arrow 38"/>
          <p:cNvSpPr/>
          <p:nvPr/>
        </p:nvSpPr>
        <p:spPr>
          <a:xfrm>
            <a:off x="3357554" y="2357430"/>
            <a:ext cx="857256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ENC</a:t>
            </a:r>
            <a:endParaRPr lang="en-GB" dirty="0"/>
          </a:p>
        </p:txBody>
      </p:sp>
      <p:sp>
        <p:nvSpPr>
          <p:cNvPr id="40" name="Rectangle 39"/>
          <p:cNvSpPr/>
          <p:nvPr/>
        </p:nvSpPr>
        <p:spPr>
          <a:xfrm>
            <a:off x="5017536" y="2579832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CT</a:t>
            </a:r>
            <a:endParaRPr lang="en-GB" sz="2800" b="1" dirty="0"/>
          </a:p>
        </p:txBody>
      </p:sp>
      <p:sp>
        <p:nvSpPr>
          <p:cNvPr id="41" name="Rectangle 40"/>
          <p:cNvSpPr/>
          <p:nvPr/>
        </p:nvSpPr>
        <p:spPr>
          <a:xfrm>
            <a:off x="5601188" y="5544127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CT</a:t>
            </a:r>
            <a:endParaRPr lang="en-GB" sz="2800" b="1" dirty="0"/>
          </a:p>
        </p:txBody>
      </p:sp>
      <p:cxnSp>
        <p:nvCxnSpPr>
          <p:cNvPr id="43" name="Straight Arrow Connector 42"/>
          <p:cNvCxnSpPr/>
          <p:nvPr/>
        </p:nvCxnSpPr>
        <p:spPr>
          <a:xfrm rot="10800000" flipV="1">
            <a:off x="6643702" y="3857628"/>
            <a:ext cx="78581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64730" y="4611883"/>
            <a:ext cx="38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+</a:t>
            </a:r>
            <a:endParaRPr lang="en-GB" sz="32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6469063" y="493823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PUBLIC KEY</a:t>
            </a:r>
            <a:endParaRPr lang="en-GB" dirty="0"/>
          </a:p>
        </p:txBody>
      </p:sp>
      <p:sp>
        <p:nvSpPr>
          <p:cNvPr id="46" name="Rounded Rectangle 45"/>
          <p:cNvSpPr/>
          <p:nvPr/>
        </p:nvSpPr>
        <p:spPr>
          <a:xfrm>
            <a:off x="7643834" y="5786454"/>
            <a:ext cx="1071570" cy="6429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  <a:t>DIGEST3</a:t>
            </a:r>
            <a:endParaRPr lang="en-GB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9" name="Right Arrow Callout 48"/>
          <p:cNvSpPr/>
          <p:nvPr/>
        </p:nvSpPr>
        <p:spPr>
          <a:xfrm>
            <a:off x="6786578" y="5572140"/>
            <a:ext cx="914400" cy="914400"/>
          </a:xfrm>
          <a:prstGeom prst="right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HF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000232" y="6143644"/>
            <a:ext cx="2931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DIGET1 = DIGEST2 = DIGETS3</a:t>
            </a:r>
            <a:endParaRPr lang="en-GB" b="1" dirty="0"/>
          </a:p>
        </p:txBody>
      </p:sp>
      <p:sp>
        <p:nvSpPr>
          <p:cNvPr id="52" name="Rounded Rectangle 51"/>
          <p:cNvSpPr/>
          <p:nvPr/>
        </p:nvSpPr>
        <p:spPr>
          <a:xfrm>
            <a:off x="7143768" y="4357694"/>
            <a:ext cx="1071570" cy="6429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  <a:t>DIGEST2</a:t>
            </a:r>
            <a:endParaRPr lang="en-GB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3214678" y="3933056"/>
            <a:ext cx="349210" cy="281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699792" y="4214818"/>
            <a:ext cx="936104" cy="366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Key Server</a:t>
            </a:r>
            <a:endParaRPr lang="en-GB" sz="1100" dirty="0"/>
          </a:p>
        </p:txBody>
      </p:sp>
      <p:cxnSp>
        <p:nvCxnSpPr>
          <p:cNvPr id="17" name="Straight Arrow Connector 16"/>
          <p:cNvCxnSpPr>
            <a:stCxn id="11" idx="2"/>
          </p:cNvCxnSpPr>
          <p:nvPr/>
        </p:nvCxnSpPr>
        <p:spPr>
          <a:xfrm flipH="1">
            <a:off x="484710" y="3786190"/>
            <a:ext cx="86762" cy="4286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9512" y="4214818"/>
            <a:ext cx="648188" cy="294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/>
              <a:t>PR </a:t>
            </a:r>
          </a:p>
          <a:p>
            <a:pPr algn="ctr"/>
            <a:r>
              <a:rPr lang="en-GB" sz="900" dirty="0" smtClean="0"/>
              <a:t>PK</a:t>
            </a:r>
            <a:endParaRPr lang="en-GB" sz="900" dirty="0"/>
          </a:p>
        </p:txBody>
      </p:sp>
      <p:cxnSp>
        <p:nvCxnSpPr>
          <p:cNvPr id="20" name="Straight Arrow Connector 19"/>
          <p:cNvCxnSpPr>
            <a:stCxn id="18" idx="3"/>
            <a:endCxn id="15" idx="1"/>
          </p:cNvCxnSpPr>
          <p:nvPr/>
        </p:nvCxnSpPr>
        <p:spPr>
          <a:xfrm>
            <a:off x="827700" y="4361969"/>
            <a:ext cx="18720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619672" y="4214818"/>
            <a:ext cx="504056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PK</a:t>
            </a:r>
            <a:endParaRPr lang="en-GB" sz="800" dirty="0"/>
          </a:p>
        </p:txBody>
      </p:sp>
      <p:cxnSp>
        <p:nvCxnSpPr>
          <p:cNvPr id="23" name="Straight Arrow Connector 22"/>
          <p:cNvCxnSpPr>
            <a:stCxn id="41" idx="3"/>
            <a:endCxn id="49" idx="1"/>
          </p:cNvCxnSpPr>
          <p:nvPr/>
        </p:nvCxnSpPr>
        <p:spPr>
          <a:xfrm>
            <a:off x="6515588" y="6001327"/>
            <a:ext cx="270990" cy="28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290</TotalTime>
  <Words>174</Words>
  <Application>Microsoft Office PowerPoint</Application>
  <PresentationFormat>On-screen Show (4:3)</PresentationFormat>
  <Paragraphs>114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News Gothic MT</vt:lpstr>
      <vt:lpstr>Wingdings 2</vt:lpstr>
      <vt:lpstr>Breeze</vt:lpstr>
      <vt:lpstr>Concepts of Cryptography</vt:lpstr>
      <vt:lpstr>What is Cryptography</vt:lpstr>
      <vt:lpstr>Cryptography ALGORITHMS</vt:lpstr>
      <vt:lpstr>Authentication</vt:lpstr>
      <vt:lpstr>HASH Function</vt:lpstr>
      <vt:lpstr>Digital Signature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Concepts of Security</dc:title>
  <dc:creator>amir</dc:creator>
  <cp:lastModifiedBy>Amir</cp:lastModifiedBy>
  <cp:revision>31</cp:revision>
  <dcterms:created xsi:type="dcterms:W3CDTF">2013-11-07T14:52:07Z</dcterms:created>
  <dcterms:modified xsi:type="dcterms:W3CDTF">2017-02-07T14:06:44Z</dcterms:modified>
</cp:coreProperties>
</file>