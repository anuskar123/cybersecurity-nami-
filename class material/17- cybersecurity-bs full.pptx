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51"/>
  </p:notesMasterIdLst>
  <p:handoutMasterIdLst>
    <p:handoutMasterId r:id="rId52"/>
  </p:handoutMasterIdLst>
  <p:sldIdLst>
    <p:sldId id="289" r:id="rId2"/>
    <p:sldId id="318" r:id="rId3"/>
    <p:sldId id="319" r:id="rId4"/>
    <p:sldId id="320" r:id="rId5"/>
    <p:sldId id="321" r:id="rId6"/>
    <p:sldId id="322" r:id="rId7"/>
    <p:sldId id="323" r:id="rId8"/>
    <p:sldId id="324" r:id="rId9"/>
    <p:sldId id="325" r:id="rId10"/>
    <p:sldId id="326" r:id="rId11"/>
    <p:sldId id="327" r:id="rId12"/>
    <p:sldId id="328" r:id="rId13"/>
    <p:sldId id="329" r:id="rId14"/>
    <p:sldId id="330" r:id="rId15"/>
    <p:sldId id="331" r:id="rId16"/>
    <p:sldId id="332" r:id="rId17"/>
    <p:sldId id="333" r:id="rId18"/>
    <p:sldId id="334" r:id="rId19"/>
    <p:sldId id="335" r:id="rId20"/>
    <p:sldId id="336" r:id="rId21"/>
    <p:sldId id="337" r:id="rId22"/>
    <p:sldId id="338" r:id="rId23"/>
    <p:sldId id="339" r:id="rId24"/>
    <p:sldId id="340" r:id="rId25"/>
    <p:sldId id="341" r:id="rId26"/>
    <p:sldId id="342" r:id="rId27"/>
    <p:sldId id="343" r:id="rId28"/>
    <p:sldId id="344" r:id="rId29"/>
    <p:sldId id="345" r:id="rId30"/>
    <p:sldId id="346" r:id="rId31"/>
    <p:sldId id="347" r:id="rId32"/>
    <p:sldId id="348" r:id="rId33"/>
    <p:sldId id="349" r:id="rId34"/>
    <p:sldId id="350" r:id="rId35"/>
    <p:sldId id="351" r:id="rId36"/>
    <p:sldId id="352" r:id="rId37"/>
    <p:sldId id="353" r:id="rId38"/>
    <p:sldId id="354" r:id="rId39"/>
    <p:sldId id="355" r:id="rId40"/>
    <p:sldId id="356" r:id="rId41"/>
    <p:sldId id="357" r:id="rId42"/>
    <p:sldId id="358" r:id="rId43"/>
    <p:sldId id="359" r:id="rId44"/>
    <p:sldId id="360" r:id="rId45"/>
    <p:sldId id="361" r:id="rId46"/>
    <p:sldId id="362" r:id="rId47"/>
    <p:sldId id="363" r:id="rId48"/>
    <p:sldId id="364" r:id="rId49"/>
    <p:sldId id="365" r:id="rId50"/>
  </p:sldIdLst>
  <p:sldSz cx="9144000" cy="6858000" type="screen4x3"/>
  <p:notesSz cx="6858000" cy="9144000"/>
  <p:defaultTextStyle>
    <a:defPPr>
      <a:defRPr lang="en-US"/>
    </a:defPPr>
    <a:lvl1pPr algn="ctr" rtl="0" fontAlgn="base">
      <a:spcBef>
        <a:spcPct val="0"/>
      </a:spcBef>
      <a:spcAft>
        <a:spcPct val="0"/>
      </a:spcAft>
      <a:defRPr sz="2800" kern="1200">
        <a:solidFill>
          <a:srgbClr val="FFFFFF"/>
        </a:solidFill>
        <a:latin typeface="Gill Sans" charset="0"/>
        <a:ea typeface="ヒラギノ角ゴ ProN W3" charset="0"/>
        <a:cs typeface="ヒラギノ角ゴ ProN W3" charset="0"/>
        <a:sym typeface="Gill Sans" charset="0"/>
      </a:defRPr>
    </a:lvl1pPr>
    <a:lvl2pPr marL="457200" algn="ctr" rtl="0" fontAlgn="base">
      <a:spcBef>
        <a:spcPct val="0"/>
      </a:spcBef>
      <a:spcAft>
        <a:spcPct val="0"/>
      </a:spcAft>
      <a:defRPr sz="2800" kern="1200">
        <a:solidFill>
          <a:srgbClr val="FFFFFF"/>
        </a:solidFill>
        <a:latin typeface="Gill Sans" charset="0"/>
        <a:ea typeface="ヒラギノ角ゴ ProN W3" charset="0"/>
        <a:cs typeface="ヒラギノ角ゴ ProN W3" charset="0"/>
        <a:sym typeface="Gill Sans" charset="0"/>
      </a:defRPr>
    </a:lvl2pPr>
    <a:lvl3pPr marL="914400" algn="ctr" rtl="0" fontAlgn="base">
      <a:spcBef>
        <a:spcPct val="0"/>
      </a:spcBef>
      <a:spcAft>
        <a:spcPct val="0"/>
      </a:spcAft>
      <a:defRPr sz="2800" kern="1200">
        <a:solidFill>
          <a:srgbClr val="FFFFFF"/>
        </a:solidFill>
        <a:latin typeface="Gill Sans" charset="0"/>
        <a:ea typeface="ヒラギノ角ゴ ProN W3" charset="0"/>
        <a:cs typeface="ヒラギノ角ゴ ProN W3" charset="0"/>
        <a:sym typeface="Gill Sans" charset="0"/>
      </a:defRPr>
    </a:lvl3pPr>
    <a:lvl4pPr marL="1371600" algn="ctr" rtl="0" fontAlgn="base">
      <a:spcBef>
        <a:spcPct val="0"/>
      </a:spcBef>
      <a:spcAft>
        <a:spcPct val="0"/>
      </a:spcAft>
      <a:defRPr sz="2800" kern="1200">
        <a:solidFill>
          <a:srgbClr val="FFFFFF"/>
        </a:solidFill>
        <a:latin typeface="Gill Sans" charset="0"/>
        <a:ea typeface="ヒラギノ角ゴ ProN W3" charset="0"/>
        <a:cs typeface="ヒラギノ角ゴ ProN W3" charset="0"/>
        <a:sym typeface="Gill Sans" charset="0"/>
      </a:defRPr>
    </a:lvl4pPr>
    <a:lvl5pPr marL="1828800" algn="ctr" rtl="0" fontAlgn="base">
      <a:spcBef>
        <a:spcPct val="0"/>
      </a:spcBef>
      <a:spcAft>
        <a:spcPct val="0"/>
      </a:spcAft>
      <a:defRPr sz="2800" kern="1200">
        <a:solidFill>
          <a:srgbClr val="FFFFFF"/>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2800" kern="1200">
        <a:solidFill>
          <a:srgbClr val="FFFFFF"/>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2800" kern="1200">
        <a:solidFill>
          <a:srgbClr val="FFFFFF"/>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2800" kern="1200">
        <a:solidFill>
          <a:srgbClr val="FFFFFF"/>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2800" kern="1200">
        <a:solidFill>
          <a:srgbClr val="FFFFFF"/>
        </a:solidFill>
        <a:latin typeface="Gill Sans" charset="0"/>
        <a:ea typeface="ヒラギノ角ゴ ProN W3" charset="0"/>
        <a:cs typeface="ヒラギノ角ゴ ProN W3" charset="0"/>
        <a:sym typeface="Gill Sans"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272"/>
    <a:srgbClr val="FF0B2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787"/>
    <p:restoredTop sz="90929"/>
  </p:normalViewPr>
  <p:slideViewPr>
    <p:cSldViewPr>
      <p:cViewPr varScale="1">
        <p:scale>
          <a:sx n="84" d="100"/>
          <a:sy n="84" d="100"/>
        </p:scale>
        <p:origin x="162" y="90"/>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Rectangle 2"/>
          <p:cNvSpPr>
            <a:spLocks noGrp="1"/>
          </p:cNvSpPr>
          <p:nvPr>
            <p:ph type="hdr" sz="quarter"/>
          </p:nvPr>
        </p:nvSpPr>
        <p:spPr bwMode="auto">
          <a:xfrm>
            <a:off x="0" y="0"/>
            <a:ext cx="2971800" cy="457200"/>
          </a:xfrm>
          <a:prstGeom prst="rect">
            <a:avLst/>
          </a:prstGeom>
          <a:noFill/>
          <a:ln>
            <a:noFill/>
          </a:ln>
          <a:effectLst/>
          <a:extLst>
            <a:ext uri="{909E8E84-426E-40dd-AFC4-6F175D3DCCD1}">
              <a14:hiddenFill xmlns="" xmlns:a14="http://schemas.microsoft.com/office/drawing/2010/main">
                <a:blipFill dpi="0" rotWithShape="0">
                  <a:blip r:embed="rId2"/>
                  <a:srcRect/>
                  <a:tile tx="0" ty="0" sx="100000" sy="100000" flip="none" algn="tl"/>
                </a:blipFill>
              </a14:hiddenFill>
            </a:ext>
            <a:ext uri="{91240B29-F687-4f45-9708-019B960494DF}">
              <a14:hiddenLine xmlns="" xmlns:a14="http://schemas.microsoft.com/office/drawing/2010/main" w="2540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l">
              <a:defRPr sz="1200"/>
            </a:lvl1pPr>
          </a:lstStyle>
          <a:p>
            <a:endParaRPr lang="en-US"/>
          </a:p>
        </p:txBody>
      </p:sp>
      <p:sp>
        <p:nvSpPr>
          <p:cNvPr id="83971" name="Rectangle 3"/>
          <p:cNvSpPr>
            <a:spLocks noGrp="1"/>
          </p:cNvSpPr>
          <p:nvPr>
            <p:ph type="dt" sz="quarter" idx="1"/>
          </p:nvPr>
        </p:nvSpPr>
        <p:spPr bwMode="auto">
          <a:xfrm>
            <a:off x="3886200" y="0"/>
            <a:ext cx="2971800" cy="457200"/>
          </a:xfrm>
          <a:prstGeom prst="rect">
            <a:avLst/>
          </a:prstGeom>
          <a:noFill/>
          <a:ln>
            <a:noFill/>
          </a:ln>
          <a:effectLst/>
          <a:extLst>
            <a:ext uri="{909E8E84-426E-40dd-AFC4-6F175D3DCCD1}">
              <a14:hiddenFill xmlns="" xmlns:a14="http://schemas.microsoft.com/office/drawing/2010/main">
                <a:blipFill dpi="0" rotWithShape="0">
                  <a:blip r:embed="rId2"/>
                  <a:srcRect/>
                  <a:tile tx="0" ty="0" sx="100000" sy="100000" flip="none" algn="tl"/>
                </a:blipFill>
              </a14:hiddenFill>
            </a:ext>
            <a:ext uri="{91240B29-F687-4f45-9708-019B960494DF}">
              <a14:hiddenLine xmlns="" xmlns:a14="http://schemas.microsoft.com/office/drawing/2010/main" w="2540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83972" name="Rectangle 4"/>
          <p:cNvSpPr>
            <a:spLocks noGrp="1"/>
          </p:cNvSpPr>
          <p:nvPr>
            <p:ph type="ftr" sz="quarter" idx="2"/>
          </p:nvPr>
        </p:nvSpPr>
        <p:spPr bwMode="auto">
          <a:xfrm>
            <a:off x="0" y="8686800"/>
            <a:ext cx="2971800" cy="457200"/>
          </a:xfrm>
          <a:prstGeom prst="rect">
            <a:avLst/>
          </a:prstGeom>
          <a:noFill/>
          <a:ln>
            <a:noFill/>
          </a:ln>
          <a:effectLst/>
          <a:extLst>
            <a:ext uri="{909E8E84-426E-40dd-AFC4-6F175D3DCCD1}">
              <a14:hiddenFill xmlns="" xmlns:a14="http://schemas.microsoft.com/office/drawing/2010/main">
                <a:blipFill dpi="0" rotWithShape="0">
                  <a:blip r:embed="rId2"/>
                  <a:srcRect/>
                  <a:tile tx="0" ty="0" sx="100000" sy="100000" flip="none" algn="tl"/>
                </a:blipFill>
              </a14:hiddenFill>
            </a:ext>
            <a:ext uri="{91240B29-F687-4f45-9708-019B960494DF}">
              <a14:hiddenLine xmlns="" xmlns:a14="http://schemas.microsoft.com/office/drawing/2010/main" w="2540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l">
              <a:defRPr sz="1200"/>
            </a:lvl1pPr>
          </a:lstStyle>
          <a:p>
            <a:endParaRPr lang="en-US"/>
          </a:p>
        </p:txBody>
      </p:sp>
      <p:sp>
        <p:nvSpPr>
          <p:cNvPr id="83973" name="Rectangle 5"/>
          <p:cNvSpPr>
            <a:spLocks noGrp="1"/>
          </p:cNvSpPr>
          <p:nvPr>
            <p:ph type="sldNum" sz="quarter" idx="3"/>
          </p:nvPr>
        </p:nvSpPr>
        <p:spPr bwMode="auto">
          <a:xfrm>
            <a:off x="3886200" y="8686800"/>
            <a:ext cx="2971800" cy="457200"/>
          </a:xfrm>
          <a:prstGeom prst="rect">
            <a:avLst/>
          </a:prstGeom>
          <a:noFill/>
          <a:ln>
            <a:noFill/>
          </a:ln>
          <a:effectLst/>
          <a:extLst>
            <a:ext uri="{909E8E84-426E-40dd-AFC4-6F175D3DCCD1}">
              <a14:hiddenFill xmlns="" xmlns:a14="http://schemas.microsoft.com/office/drawing/2010/main">
                <a:blipFill dpi="0" rotWithShape="0">
                  <a:blip r:embed="rId2"/>
                  <a:srcRect/>
                  <a:tile tx="0" ty="0" sx="100000" sy="100000" flip="none" algn="tl"/>
                </a:blipFill>
              </a14:hiddenFill>
            </a:ext>
            <a:ext uri="{91240B29-F687-4f45-9708-019B960494DF}">
              <a14:hiddenLine xmlns="" xmlns:a14="http://schemas.microsoft.com/office/drawing/2010/main" w="2540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a:lvl1pPr>
          </a:lstStyle>
          <a:p>
            <a:fld id="{AFAFD398-8847-1F48-8138-7334937C226B}" type="slidenum">
              <a:rPr lang="en-US"/>
              <a:pPr/>
              <a:t>‹#›</a:t>
            </a:fld>
            <a:endParaRPr lang="en-US"/>
          </a:p>
        </p:txBody>
      </p:sp>
    </p:spTree>
    <p:extLst>
      <p:ext uri="{BB962C8B-B14F-4D97-AF65-F5344CB8AC3E}">
        <p14:creationId xmlns:p14="http://schemas.microsoft.com/office/powerpoint/2010/main" val="7434437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p:cNvSpPr>
          <p:nvPr>
            <p:ph type="hdr" sz="quarter"/>
          </p:nvPr>
        </p:nvSpPr>
        <p:spPr bwMode="auto">
          <a:xfrm>
            <a:off x="0" y="0"/>
            <a:ext cx="2971800" cy="457200"/>
          </a:xfrm>
          <a:prstGeom prst="rect">
            <a:avLst/>
          </a:prstGeom>
          <a:noFill/>
          <a:ln>
            <a:noFill/>
          </a:ln>
          <a:effectLst/>
          <a:extLst>
            <a:ext uri="{909E8E84-426E-40dd-AFC4-6F175D3DCCD1}">
              <a14:hiddenFill xmlns="" xmlns:a14="http://schemas.microsoft.com/office/drawing/2010/main">
                <a:blipFill dpi="0" rotWithShape="0">
                  <a:blip r:embed="rId2"/>
                  <a:srcRect/>
                  <a:tile tx="0" ty="0" sx="100000" sy="100000" flip="none" algn="tl"/>
                </a:blipFill>
              </a14:hiddenFill>
            </a:ext>
            <a:ext uri="{91240B29-F687-4f45-9708-019B960494DF}">
              <a14:hiddenLine xmlns="" xmlns:a14="http://schemas.microsoft.com/office/drawing/2010/main" w="2540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l">
              <a:defRPr sz="1200"/>
            </a:lvl1pPr>
          </a:lstStyle>
          <a:p>
            <a:endParaRPr lang="en-US"/>
          </a:p>
        </p:txBody>
      </p:sp>
      <p:sp>
        <p:nvSpPr>
          <p:cNvPr id="48131" name="Rectangle 3"/>
          <p:cNvSpPr>
            <a:spLocks noGrp="1"/>
          </p:cNvSpPr>
          <p:nvPr>
            <p:ph type="dt" idx="1"/>
          </p:nvPr>
        </p:nvSpPr>
        <p:spPr bwMode="auto">
          <a:xfrm>
            <a:off x="3886200" y="0"/>
            <a:ext cx="2971800" cy="457200"/>
          </a:xfrm>
          <a:prstGeom prst="rect">
            <a:avLst/>
          </a:prstGeom>
          <a:noFill/>
          <a:ln>
            <a:noFill/>
          </a:ln>
          <a:effectLst/>
          <a:extLst>
            <a:ext uri="{909E8E84-426E-40dd-AFC4-6F175D3DCCD1}">
              <a14:hiddenFill xmlns="" xmlns:a14="http://schemas.microsoft.com/office/drawing/2010/main">
                <a:blipFill dpi="0" rotWithShape="0">
                  <a:blip r:embed="rId2"/>
                  <a:srcRect/>
                  <a:tile tx="0" ty="0" sx="100000" sy="100000" flip="none" algn="tl"/>
                </a:blipFill>
              </a14:hiddenFill>
            </a:ext>
            <a:ext uri="{91240B29-F687-4f45-9708-019B960494DF}">
              <a14:hiddenLine xmlns="" xmlns:a14="http://schemas.microsoft.com/office/drawing/2010/main" w="2540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481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48133" name="Rectangle 5"/>
          <p:cNvSpPr>
            <a:spLocks noGrp="1"/>
          </p:cNvSpPr>
          <p:nvPr>
            <p:ph type="body" sz="quarter" idx="3"/>
          </p:nvPr>
        </p:nvSpPr>
        <p:spPr bwMode="auto">
          <a:xfrm>
            <a:off x="914400" y="4343400"/>
            <a:ext cx="5029200" cy="4114800"/>
          </a:xfrm>
          <a:prstGeom prst="rect">
            <a:avLst/>
          </a:prstGeom>
          <a:noFill/>
          <a:ln>
            <a:noFill/>
          </a:ln>
          <a:effectLst/>
          <a:extLst>
            <a:ext uri="{909E8E84-426E-40dd-AFC4-6F175D3DCCD1}">
              <a14:hiddenFill xmlns="" xmlns:a14="http://schemas.microsoft.com/office/drawing/2010/main">
                <a:blipFill dpi="0" rotWithShape="0">
                  <a:blip r:embed="rId2"/>
                  <a:srcRect/>
                  <a:tile tx="0" ty="0" sx="100000" sy="100000" flip="none" algn="tl"/>
                </a:blipFill>
              </a14:hiddenFill>
            </a:ext>
            <a:ext uri="{91240B29-F687-4f45-9708-019B960494DF}">
              <a14:hiddenLine xmlns="" xmlns:a14="http://schemas.microsoft.com/office/drawing/2010/main" w="2540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134" name="Rectangle 6"/>
          <p:cNvSpPr>
            <a:spLocks noGrp="1"/>
          </p:cNvSpPr>
          <p:nvPr>
            <p:ph type="ftr" sz="quarter" idx="4"/>
          </p:nvPr>
        </p:nvSpPr>
        <p:spPr bwMode="auto">
          <a:xfrm>
            <a:off x="0" y="8686800"/>
            <a:ext cx="2971800" cy="457200"/>
          </a:xfrm>
          <a:prstGeom prst="rect">
            <a:avLst/>
          </a:prstGeom>
          <a:noFill/>
          <a:ln>
            <a:noFill/>
          </a:ln>
          <a:effectLst/>
          <a:extLst>
            <a:ext uri="{909E8E84-426E-40dd-AFC4-6F175D3DCCD1}">
              <a14:hiddenFill xmlns="" xmlns:a14="http://schemas.microsoft.com/office/drawing/2010/main">
                <a:blipFill dpi="0" rotWithShape="0">
                  <a:blip r:embed="rId2"/>
                  <a:srcRect/>
                  <a:tile tx="0" ty="0" sx="100000" sy="100000" flip="none" algn="tl"/>
                </a:blipFill>
              </a14:hiddenFill>
            </a:ext>
            <a:ext uri="{91240B29-F687-4f45-9708-019B960494DF}">
              <a14:hiddenLine xmlns="" xmlns:a14="http://schemas.microsoft.com/office/drawing/2010/main" w="2540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l">
              <a:defRPr sz="1200"/>
            </a:lvl1pPr>
          </a:lstStyle>
          <a:p>
            <a:endParaRPr lang="en-US"/>
          </a:p>
        </p:txBody>
      </p:sp>
      <p:sp>
        <p:nvSpPr>
          <p:cNvPr id="48135" name="Rectangle 7"/>
          <p:cNvSpPr>
            <a:spLocks noGrp="1"/>
          </p:cNvSpPr>
          <p:nvPr>
            <p:ph type="sldNum" sz="quarter" idx="5"/>
          </p:nvPr>
        </p:nvSpPr>
        <p:spPr bwMode="auto">
          <a:xfrm>
            <a:off x="3886200" y="8686800"/>
            <a:ext cx="2971800" cy="457200"/>
          </a:xfrm>
          <a:prstGeom prst="rect">
            <a:avLst/>
          </a:prstGeom>
          <a:noFill/>
          <a:ln>
            <a:noFill/>
          </a:ln>
          <a:effectLst/>
          <a:extLst>
            <a:ext uri="{909E8E84-426E-40dd-AFC4-6F175D3DCCD1}">
              <a14:hiddenFill xmlns="" xmlns:a14="http://schemas.microsoft.com/office/drawing/2010/main">
                <a:blipFill dpi="0" rotWithShape="0">
                  <a:blip r:embed="rId2"/>
                  <a:srcRect/>
                  <a:tile tx="0" ty="0" sx="100000" sy="100000" flip="none" algn="tl"/>
                </a:blipFill>
              </a14:hiddenFill>
            </a:ext>
            <a:ext uri="{91240B29-F687-4f45-9708-019B960494DF}">
              <a14:hiddenLine xmlns="" xmlns:a14="http://schemas.microsoft.com/office/drawing/2010/main" w="2540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a:lvl1pPr>
          </a:lstStyle>
          <a:p>
            <a:fld id="{ABC00708-AF15-9C4E-B6D2-D2F427F6D767}" type="slidenum">
              <a:rPr lang="en-US"/>
              <a:pPr/>
              <a:t>‹#›</a:t>
            </a:fld>
            <a:endParaRPr lang="en-US"/>
          </a:p>
        </p:txBody>
      </p:sp>
    </p:spTree>
    <p:extLst>
      <p:ext uri="{BB962C8B-B14F-4D97-AF65-F5344CB8AC3E}">
        <p14:creationId xmlns:p14="http://schemas.microsoft.com/office/powerpoint/2010/main" val="173060964"/>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Gill Sans" charset="0"/>
        <a:ea typeface="ＭＳ Ｐゴシック" charset="0"/>
        <a:cs typeface="+mn-cs"/>
      </a:defRPr>
    </a:lvl1pPr>
    <a:lvl2pPr marL="457200" algn="l" rtl="0" fontAlgn="base">
      <a:spcBef>
        <a:spcPct val="0"/>
      </a:spcBef>
      <a:spcAft>
        <a:spcPct val="0"/>
      </a:spcAft>
      <a:defRPr sz="1200" kern="1200">
        <a:solidFill>
          <a:schemeClr val="tx1"/>
        </a:solidFill>
        <a:latin typeface="Gill Sans" charset="0"/>
        <a:ea typeface="ＭＳ Ｐゴシック" charset="0"/>
        <a:cs typeface="+mn-cs"/>
      </a:defRPr>
    </a:lvl2pPr>
    <a:lvl3pPr marL="914400" algn="l" rtl="0" fontAlgn="base">
      <a:spcBef>
        <a:spcPct val="0"/>
      </a:spcBef>
      <a:spcAft>
        <a:spcPct val="0"/>
      </a:spcAft>
      <a:defRPr sz="1200" kern="1200">
        <a:solidFill>
          <a:schemeClr val="tx1"/>
        </a:solidFill>
        <a:latin typeface="Gill Sans" charset="0"/>
        <a:ea typeface="ＭＳ Ｐゴシック" charset="0"/>
        <a:cs typeface="+mn-cs"/>
      </a:defRPr>
    </a:lvl3pPr>
    <a:lvl4pPr marL="1371600" algn="l" rtl="0" fontAlgn="base">
      <a:spcBef>
        <a:spcPct val="0"/>
      </a:spcBef>
      <a:spcAft>
        <a:spcPct val="0"/>
      </a:spcAft>
      <a:defRPr sz="1200" kern="1200">
        <a:solidFill>
          <a:schemeClr val="tx1"/>
        </a:solidFill>
        <a:latin typeface="Gill Sans" charset="0"/>
        <a:ea typeface="ＭＳ Ｐゴシック" charset="0"/>
        <a:cs typeface="+mn-cs"/>
      </a:defRPr>
    </a:lvl4pPr>
    <a:lvl5pPr marL="1828800" algn="l" rtl="0" fontAlgn="base">
      <a:spcBef>
        <a:spcPct val="0"/>
      </a:spcBef>
      <a:spcAft>
        <a:spcPct val="0"/>
      </a:spcAft>
      <a:defRPr sz="1200" kern="1200">
        <a:solidFill>
          <a:schemeClr val="tx1"/>
        </a:solidFill>
        <a:latin typeface="Gill Sans"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F99A3A55-E3F2-164E-BC4A-7FF86D3E896E}" type="slidenum">
              <a:rPr lang="en-US"/>
              <a:pPr/>
              <a:t>1</a:t>
            </a:fld>
            <a:endParaRPr lang="en-US"/>
          </a:p>
        </p:txBody>
      </p:sp>
      <p:sp>
        <p:nvSpPr>
          <p:cNvPr id="778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7827" name="Rectangle 3"/>
          <p:cNvSpPr>
            <a:spLocks noGrp="1"/>
          </p:cNvSpPr>
          <p:nvPr>
            <p:ph type="body" idx="1"/>
          </p:nvPr>
        </p:nvSpPr>
        <p:spPr/>
        <p:txBody>
          <a:bodyPr/>
          <a:lstStyle/>
          <a:p>
            <a:endParaRPr lang="en-US"/>
          </a:p>
        </p:txBody>
      </p:sp>
    </p:spTree>
    <p:extLst>
      <p:ext uri="{BB962C8B-B14F-4D97-AF65-F5344CB8AC3E}">
        <p14:creationId xmlns:p14="http://schemas.microsoft.com/office/powerpoint/2010/main" val="4185245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smtClean="0"/>
              <a:t>Click to edit Master subtitle style</a:t>
            </a:r>
            <a:endParaRPr lang="en-US"/>
          </a:p>
        </p:txBody>
      </p:sp>
    </p:spTree>
    <p:extLst>
      <p:ext uri="{BB962C8B-B14F-4D97-AF65-F5344CB8AC3E}">
        <p14:creationId xmlns:p14="http://schemas.microsoft.com/office/powerpoint/2010/main" val="22482484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extLst>
      <p:ext uri="{BB962C8B-B14F-4D97-AF65-F5344CB8AC3E}">
        <p14:creationId xmlns:p14="http://schemas.microsoft.com/office/powerpoint/2010/main" val="270605803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smtClean="0"/>
              <a:t>Click to edit Master text styles</a:t>
            </a:r>
          </a:p>
        </p:txBody>
      </p:sp>
    </p:spTree>
    <p:extLst>
      <p:ext uri="{BB962C8B-B14F-4D97-AF65-F5344CB8AC3E}">
        <p14:creationId xmlns:p14="http://schemas.microsoft.com/office/powerpoint/2010/main" val="283674525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609600" y="1638300"/>
            <a:ext cx="3924300" cy="4533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86300" y="1638300"/>
            <a:ext cx="3924300" cy="4533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extLst>
      <p:ext uri="{BB962C8B-B14F-4D97-AF65-F5344CB8AC3E}">
        <p14:creationId xmlns:p14="http://schemas.microsoft.com/office/powerpoint/2010/main" val="428265839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extLst>
      <p:ext uri="{BB962C8B-B14F-4D97-AF65-F5344CB8AC3E}">
        <p14:creationId xmlns:p14="http://schemas.microsoft.com/office/powerpoint/2010/main" val="271925979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Tree>
    <p:extLst>
      <p:ext uri="{BB962C8B-B14F-4D97-AF65-F5344CB8AC3E}">
        <p14:creationId xmlns:p14="http://schemas.microsoft.com/office/powerpoint/2010/main" val="276244496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2816926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Tree>
    <p:extLst>
      <p:ext uri="{BB962C8B-B14F-4D97-AF65-F5344CB8AC3E}">
        <p14:creationId xmlns:p14="http://schemas.microsoft.com/office/powerpoint/2010/main" val="207761234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smtClean="0"/>
              <a:t>Drag picture to placeholder or click icon to add</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Tree>
    <p:extLst>
      <p:ext uri="{BB962C8B-B14F-4D97-AF65-F5344CB8AC3E}">
        <p14:creationId xmlns:p14="http://schemas.microsoft.com/office/powerpoint/2010/main" val="155050975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extLst>
      <p:ext uri="{BB962C8B-B14F-4D97-AF65-F5344CB8AC3E}">
        <p14:creationId xmlns:p14="http://schemas.microsoft.com/office/powerpoint/2010/main" val="127704579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42900"/>
            <a:ext cx="2000250" cy="5829300"/>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609600" y="342900"/>
            <a:ext cx="5848350" cy="5829300"/>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extLst>
      <p:ext uri="{BB962C8B-B14F-4D97-AF65-F5344CB8AC3E}">
        <p14:creationId xmlns:p14="http://schemas.microsoft.com/office/powerpoint/2010/main" val="389042951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6"/>
            </a:gs>
            <a:gs pos="100000">
              <a:srgbClr val="2747FF"/>
            </a:gs>
          </a:gsLst>
          <a:lin ang="5400000" scaled="1"/>
          <a:tileRect/>
        </a:gra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889000" y="342900"/>
            <a:ext cx="7366000" cy="11557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FAA26D3D-D897-4be2-8F04-BA451C77F1D7}">
              <ma14:placeholderFlag xmlns="" xmlns:ma14="http://schemas.microsoft.com/office/mac/drawingml/2011/main" val="1"/>
            </a:ext>
          </a:extLst>
        </p:spPr>
        <p:txBody>
          <a:bodyPr vert="horz" wrap="square" lIns="38100" tIns="38100" rIns="38100" bIns="38100" numCol="1" anchor="ctr" anchorCtr="0" compatLnSpc="1">
            <a:prstTxWarp prst="textNoShape">
              <a:avLst/>
            </a:prstTxWarp>
          </a:bodyPr>
          <a:lstStyle/>
          <a:p>
            <a:pPr lvl="0"/>
            <a:r>
              <a:rPr lang="en-GB" smtClean="0">
                <a:sym typeface="Gill Sans" charset="0"/>
              </a:rPr>
              <a:t>Click to edit Master title style</a:t>
            </a:r>
            <a:endParaRPr lang="en-US">
              <a:sym typeface="Gill Sans" charset="0"/>
            </a:endParaRPr>
          </a:p>
        </p:txBody>
      </p:sp>
      <p:sp>
        <p:nvSpPr>
          <p:cNvPr id="2050" name="Rectangle 2"/>
          <p:cNvSpPr>
            <a:spLocks noGrp="1" noChangeArrowheads="1"/>
          </p:cNvSpPr>
          <p:nvPr>
            <p:ph type="body" idx="1"/>
          </p:nvPr>
        </p:nvSpPr>
        <p:spPr bwMode="auto">
          <a:xfrm>
            <a:off x="609600" y="1638300"/>
            <a:ext cx="8001000" cy="45339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FAA26D3D-D897-4be2-8F04-BA451C77F1D7}">
              <ma14:placeholderFlag xmlns="" xmlns:ma14="http://schemas.microsoft.com/office/mac/drawingml/2011/main" val="1"/>
            </a:ext>
          </a:extLst>
        </p:spPr>
        <p:txBody>
          <a:bodyPr vert="horz" wrap="square" lIns="38100" tIns="38100" rIns="38100" bIns="38100" numCol="1" anchor="t" anchorCtr="0" compatLnSpc="1">
            <a:prstTxWarp prst="textNoShape">
              <a:avLst/>
            </a:prstTxWarp>
          </a:bodyPr>
          <a:lstStyle/>
          <a:p>
            <a:pPr lvl="0"/>
            <a:r>
              <a:rPr lang="en-GB" smtClean="0">
                <a:sym typeface="Gill Sans" charset="0"/>
              </a:rPr>
              <a:t>Click to edit Master text styles</a:t>
            </a:r>
          </a:p>
          <a:p>
            <a:pPr lvl="1"/>
            <a:r>
              <a:rPr lang="en-GB" smtClean="0">
                <a:sym typeface="Gill Sans" charset="0"/>
              </a:rPr>
              <a:t>Second level</a:t>
            </a:r>
          </a:p>
          <a:p>
            <a:pPr lvl="2"/>
            <a:r>
              <a:rPr lang="en-GB" smtClean="0">
                <a:sym typeface="Gill Sans" charset="0"/>
              </a:rPr>
              <a:t>Third level</a:t>
            </a:r>
          </a:p>
          <a:p>
            <a:pPr lvl="3"/>
            <a:r>
              <a:rPr lang="en-GB" smtClean="0">
                <a:sym typeface="Gill Sans" charset="0"/>
              </a:rPr>
              <a:t>Fourth level</a:t>
            </a:r>
          </a:p>
          <a:p>
            <a:pPr lvl="4"/>
            <a:r>
              <a:rPr lang="en-GB" smtClean="0">
                <a:sym typeface="Gill Sans" charset="0"/>
              </a:rPr>
              <a:t>Fifth level</a:t>
            </a:r>
            <a:endParaRPr lang="en-US">
              <a:sym typeface="Gill Sans" charset="0"/>
            </a:endParaRPr>
          </a:p>
        </p:txBody>
      </p:sp>
      <p:pic>
        <p:nvPicPr>
          <p:cNvPr id="2051"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445500" y="254000"/>
            <a:ext cx="355600" cy="463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pic>
      <p:sp>
        <p:nvSpPr>
          <p:cNvPr id="2053" name="Text Box 5"/>
          <p:cNvSpPr txBox="1">
            <a:spLocks/>
          </p:cNvSpPr>
          <p:nvPr/>
        </p:nvSpPr>
        <p:spPr bwMode="auto">
          <a:xfrm>
            <a:off x="609600" y="6400800"/>
            <a:ext cx="8001000" cy="244475"/>
          </a:xfrm>
          <a:prstGeom prst="rect">
            <a:avLst/>
          </a:prstGeom>
          <a:noFill/>
          <a:ln>
            <a:noFill/>
          </a:ln>
          <a:effectLst/>
          <a:extLst>
            <a:ext uri="{909E8E84-426E-40dd-AFC4-6F175D3DCCD1}">
              <a14:hiddenFill xmlns="" xmlns:a14="http://schemas.microsoft.com/office/drawing/2010/main">
                <a:blipFill dpi="0" rotWithShape="0">
                  <a:blip r:embed="rId14"/>
                  <a:srcRect/>
                  <a:tile tx="0" ty="0" sx="100000" sy="100000" flip="none" algn="tl"/>
                </a:blipFill>
              </a14:hiddenFill>
            </a:ext>
            <a:ext uri="{91240B29-F687-4f45-9708-019B960494DF}">
              <a14:hiddenLine xmlns="" xmlns:a14="http://schemas.microsoft.com/office/drawing/2010/main" w="2540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lgn="l">
              <a:tabLst>
                <a:tab pos="7239000" algn="l"/>
              </a:tabLst>
              <a:defRPr sz="1200">
                <a:solidFill>
                  <a:schemeClr val="tx1"/>
                </a:solidFill>
                <a:latin typeface="Gill Sans" charset="0"/>
                <a:ea typeface="ＭＳ Ｐゴシック" charset="0"/>
              </a:defRPr>
            </a:lvl1pPr>
            <a:lvl2pPr algn="l">
              <a:tabLst>
                <a:tab pos="7239000" algn="l"/>
              </a:tabLst>
              <a:defRPr sz="1200">
                <a:solidFill>
                  <a:schemeClr val="tx1"/>
                </a:solidFill>
                <a:latin typeface="Gill Sans" charset="0"/>
                <a:ea typeface="ＭＳ Ｐゴシック" charset="0"/>
              </a:defRPr>
            </a:lvl2pPr>
            <a:lvl3pPr algn="l">
              <a:tabLst>
                <a:tab pos="7239000" algn="l"/>
              </a:tabLst>
              <a:defRPr sz="1200">
                <a:solidFill>
                  <a:schemeClr val="tx1"/>
                </a:solidFill>
                <a:latin typeface="Gill Sans" charset="0"/>
                <a:ea typeface="ＭＳ Ｐゴシック" charset="0"/>
              </a:defRPr>
            </a:lvl3pPr>
            <a:lvl4pPr algn="l">
              <a:tabLst>
                <a:tab pos="7239000" algn="l"/>
              </a:tabLst>
              <a:defRPr sz="1200">
                <a:solidFill>
                  <a:schemeClr val="tx1"/>
                </a:solidFill>
                <a:latin typeface="Gill Sans" charset="0"/>
                <a:ea typeface="ＭＳ Ｐゴシック" charset="0"/>
              </a:defRPr>
            </a:lvl4pPr>
            <a:lvl5pPr algn="l">
              <a:tabLst>
                <a:tab pos="7239000" algn="l"/>
              </a:tabLst>
              <a:defRPr sz="1200">
                <a:solidFill>
                  <a:schemeClr val="tx1"/>
                </a:solidFill>
                <a:latin typeface="Gill Sans" charset="0"/>
                <a:ea typeface="ＭＳ Ｐゴシック" charset="0"/>
              </a:defRPr>
            </a:lvl5pPr>
            <a:lvl6pPr fontAlgn="base">
              <a:spcBef>
                <a:spcPct val="0"/>
              </a:spcBef>
              <a:spcAft>
                <a:spcPct val="0"/>
              </a:spcAft>
              <a:tabLst>
                <a:tab pos="7239000" algn="l"/>
              </a:tabLst>
              <a:defRPr sz="1200">
                <a:solidFill>
                  <a:schemeClr val="tx1"/>
                </a:solidFill>
                <a:latin typeface="Gill Sans" charset="0"/>
                <a:ea typeface="ＭＳ Ｐゴシック" charset="0"/>
              </a:defRPr>
            </a:lvl6pPr>
            <a:lvl7pPr fontAlgn="base">
              <a:spcBef>
                <a:spcPct val="0"/>
              </a:spcBef>
              <a:spcAft>
                <a:spcPct val="0"/>
              </a:spcAft>
              <a:tabLst>
                <a:tab pos="7239000" algn="l"/>
              </a:tabLst>
              <a:defRPr sz="1200">
                <a:solidFill>
                  <a:schemeClr val="tx1"/>
                </a:solidFill>
                <a:latin typeface="Gill Sans" charset="0"/>
                <a:ea typeface="ＭＳ Ｐゴシック" charset="0"/>
              </a:defRPr>
            </a:lvl7pPr>
            <a:lvl8pPr fontAlgn="base">
              <a:spcBef>
                <a:spcPct val="0"/>
              </a:spcBef>
              <a:spcAft>
                <a:spcPct val="0"/>
              </a:spcAft>
              <a:tabLst>
                <a:tab pos="7239000" algn="l"/>
              </a:tabLst>
              <a:defRPr sz="1200">
                <a:solidFill>
                  <a:schemeClr val="tx1"/>
                </a:solidFill>
                <a:latin typeface="Gill Sans" charset="0"/>
                <a:ea typeface="ＭＳ Ｐゴシック" charset="0"/>
              </a:defRPr>
            </a:lvl8pPr>
            <a:lvl9pPr fontAlgn="base">
              <a:spcBef>
                <a:spcPct val="0"/>
              </a:spcBef>
              <a:spcAft>
                <a:spcPct val="0"/>
              </a:spcAft>
              <a:tabLst>
                <a:tab pos="7239000" algn="l"/>
              </a:tabLst>
              <a:defRPr sz="1200">
                <a:solidFill>
                  <a:schemeClr val="tx1"/>
                </a:solidFill>
                <a:latin typeface="Gill Sans" charset="0"/>
                <a:ea typeface="ＭＳ Ｐゴシック" charset="0"/>
              </a:defRPr>
            </a:lvl9pPr>
          </a:lstStyle>
          <a:p>
            <a:pPr algn="ctr">
              <a:spcBef>
                <a:spcPct val="50000"/>
              </a:spcBef>
            </a:pPr>
            <a:r>
              <a:rPr lang="en-US" sz="1000" dirty="0" smtClean="0">
                <a:solidFill>
                  <a:schemeClr val="bg1"/>
                </a:solidFill>
                <a:ea typeface="ヒラギノ角ゴ ProN W3" charset="0"/>
              </a:rPr>
              <a:t>Introduction</a:t>
            </a:r>
            <a:r>
              <a:rPr lang="en-US" sz="1000" baseline="0" dirty="0" smtClean="0">
                <a:solidFill>
                  <a:schemeClr val="bg1"/>
                </a:solidFill>
                <a:ea typeface="ヒラギノ角ゴ ProN W3" charset="0"/>
              </a:rPr>
              <a:t> to </a:t>
            </a:r>
            <a:r>
              <a:rPr lang="en-US" sz="1000" baseline="0" dirty="0" err="1" smtClean="0">
                <a:solidFill>
                  <a:schemeClr val="bg1"/>
                </a:solidFill>
                <a:ea typeface="ヒラギノ角ゴ ProN W3" charset="0"/>
              </a:rPr>
              <a:t>cybersecurity</a:t>
            </a:r>
            <a:r>
              <a:rPr lang="en-US" sz="1000" baseline="0" dirty="0" smtClean="0">
                <a:solidFill>
                  <a:schemeClr val="bg1"/>
                </a:solidFill>
                <a:ea typeface="ヒラギノ角ゴ ProN W3" charset="0"/>
              </a:rPr>
              <a:t>, 2013</a:t>
            </a:r>
            <a:r>
              <a:rPr lang="en-US" sz="1000" dirty="0">
                <a:solidFill>
                  <a:schemeClr val="bg1"/>
                </a:solidFill>
                <a:ea typeface="ヒラギノ角ゴ ProN W3" charset="0"/>
              </a:rPr>
              <a:t>	Slide </a:t>
            </a:r>
            <a:fld id="{3ED8B2F4-87F9-964E-B7BD-83186EF5A9A8}" type="slidenum">
              <a:rPr lang="en-US" sz="1000">
                <a:solidFill>
                  <a:schemeClr val="bg1"/>
                </a:solidFill>
                <a:ea typeface="ヒラギノ角ゴ ProN W3" charset="0"/>
              </a:rPr>
              <a:pPr algn="ctr">
                <a:spcBef>
                  <a:spcPct val="50000"/>
                </a:spcBef>
              </a:pPr>
              <a:t>‹#›</a:t>
            </a:fld>
            <a:endParaRPr lang="en-US" dirty="0">
              <a:solidFill>
                <a:schemeClr val="bg1"/>
              </a:solidFill>
              <a:ea typeface="ヒラギノ角ゴ ProN W3" charset="0"/>
            </a:endParaRPr>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p:txStyles>
    <p:titleStyle>
      <a:lvl1pPr algn="ctr" rtl="0" eaLnBrk="1" fontAlgn="base" hangingPunct="1">
        <a:spcBef>
          <a:spcPct val="0"/>
        </a:spcBef>
        <a:spcAft>
          <a:spcPct val="0"/>
        </a:spcAft>
        <a:defRPr sz="4000">
          <a:solidFill>
            <a:schemeClr val="tx1"/>
          </a:solidFill>
          <a:latin typeface="+mj-lt"/>
          <a:ea typeface="+mj-ea"/>
          <a:cs typeface="+mj-cs"/>
          <a:sym typeface="Gill Sans" charset="0"/>
        </a:defRPr>
      </a:lvl1pPr>
      <a:lvl2pPr algn="ctr" rtl="0" eaLnBrk="1" fontAlgn="base" hangingPunct="1">
        <a:spcBef>
          <a:spcPct val="0"/>
        </a:spcBef>
        <a:spcAft>
          <a:spcPct val="0"/>
        </a:spcAft>
        <a:defRPr sz="4000">
          <a:solidFill>
            <a:schemeClr val="tx1"/>
          </a:solidFill>
          <a:latin typeface="Gill Sans" charset="0"/>
          <a:ea typeface="ヒラギノ角ゴ ProN W3" charset="0"/>
          <a:cs typeface="ヒラギノ角ゴ ProN W3" charset="0"/>
          <a:sym typeface="Gill Sans" charset="0"/>
        </a:defRPr>
      </a:lvl2pPr>
      <a:lvl3pPr algn="ctr" rtl="0" eaLnBrk="1" fontAlgn="base" hangingPunct="1">
        <a:spcBef>
          <a:spcPct val="0"/>
        </a:spcBef>
        <a:spcAft>
          <a:spcPct val="0"/>
        </a:spcAft>
        <a:defRPr sz="4000">
          <a:solidFill>
            <a:schemeClr val="tx1"/>
          </a:solidFill>
          <a:latin typeface="Gill Sans" charset="0"/>
          <a:ea typeface="ヒラギノ角ゴ ProN W3" charset="0"/>
          <a:cs typeface="ヒラギノ角ゴ ProN W3" charset="0"/>
          <a:sym typeface="Gill Sans" charset="0"/>
        </a:defRPr>
      </a:lvl3pPr>
      <a:lvl4pPr algn="ctr" rtl="0" eaLnBrk="1" fontAlgn="base" hangingPunct="1">
        <a:spcBef>
          <a:spcPct val="0"/>
        </a:spcBef>
        <a:spcAft>
          <a:spcPct val="0"/>
        </a:spcAft>
        <a:defRPr sz="4000">
          <a:solidFill>
            <a:schemeClr val="tx1"/>
          </a:solidFill>
          <a:latin typeface="Gill Sans" charset="0"/>
          <a:ea typeface="ヒラギノ角ゴ ProN W3" charset="0"/>
          <a:cs typeface="ヒラギノ角ゴ ProN W3" charset="0"/>
          <a:sym typeface="Gill Sans" charset="0"/>
        </a:defRPr>
      </a:lvl4pPr>
      <a:lvl5pPr algn="ctr" rtl="0" eaLnBrk="1" fontAlgn="base" hangingPunct="1">
        <a:spcBef>
          <a:spcPct val="0"/>
        </a:spcBef>
        <a:spcAft>
          <a:spcPct val="0"/>
        </a:spcAft>
        <a:defRPr sz="4000">
          <a:solidFill>
            <a:schemeClr val="tx1"/>
          </a:solidFill>
          <a:latin typeface="Gill Sans" charset="0"/>
          <a:ea typeface="ヒラギノ角ゴ ProN W3" charset="0"/>
          <a:cs typeface="ヒラギノ角ゴ ProN W3" charset="0"/>
          <a:sym typeface="Gill Sans" charset="0"/>
        </a:defRPr>
      </a:lvl5pPr>
      <a:lvl6pPr marL="457200" algn="ctr" rtl="0" eaLnBrk="1" fontAlgn="base" hangingPunct="1">
        <a:spcBef>
          <a:spcPct val="0"/>
        </a:spcBef>
        <a:spcAft>
          <a:spcPct val="0"/>
        </a:spcAft>
        <a:defRPr sz="4000">
          <a:solidFill>
            <a:schemeClr val="tx1"/>
          </a:solidFill>
          <a:latin typeface="Gill Sans" charset="0"/>
          <a:ea typeface="ヒラギノ角ゴ ProN W3" charset="0"/>
          <a:cs typeface="ヒラギノ角ゴ ProN W3" charset="0"/>
          <a:sym typeface="Gill Sans" charset="0"/>
        </a:defRPr>
      </a:lvl6pPr>
      <a:lvl7pPr marL="914400" algn="ctr" rtl="0" eaLnBrk="1" fontAlgn="base" hangingPunct="1">
        <a:spcBef>
          <a:spcPct val="0"/>
        </a:spcBef>
        <a:spcAft>
          <a:spcPct val="0"/>
        </a:spcAft>
        <a:defRPr sz="4000">
          <a:solidFill>
            <a:schemeClr val="tx1"/>
          </a:solidFill>
          <a:latin typeface="Gill Sans" charset="0"/>
          <a:ea typeface="ヒラギノ角ゴ ProN W3" charset="0"/>
          <a:cs typeface="ヒラギノ角ゴ ProN W3" charset="0"/>
          <a:sym typeface="Gill Sans" charset="0"/>
        </a:defRPr>
      </a:lvl7pPr>
      <a:lvl8pPr marL="1371600" algn="ctr" rtl="0" eaLnBrk="1" fontAlgn="base" hangingPunct="1">
        <a:spcBef>
          <a:spcPct val="0"/>
        </a:spcBef>
        <a:spcAft>
          <a:spcPct val="0"/>
        </a:spcAft>
        <a:defRPr sz="4000">
          <a:solidFill>
            <a:schemeClr val="tx1"/>
          </a:solidFill>
          <a:latin typeface="Gill Sans" charset="0"/>
          <a:ea typeface="ヒラギノ角ゴ ProN W3" charset="0"/>
          <a:cs typeface="ヒラギノ角ゴ ProN W3" charset="0"/>
          <a:sym typeface="Gill Sans" charset="0"/>
        </a:defRPr>
      </a:lvl8pPr>
      <a:lvl9pPr marL="1828800" algn="ctr" rtl="0" eaLnBrk="1" fontAlgn="base" hangingPunct="1">
        <a:spcBef>
          <a:spcPct val="0"/>
        </a:spcBef>
        <a:spcAft>
          <a:spcPct val="0"/>
        </a:spcAft>
        <a:defRPr sz="4000">
          <a:solidFill>
            <a:schemeClr val="tx1"/>
          </a:solidFill>
          <a:latin typeface="Gill Sans" charset="0"/>
          <a:ea typeface="ヒラギノ角ゴ ProN W3" charset="0"/>
          <a:cs typeface="ヒラギノ角ゴ ProN W3" charset="0"/>
          <a:sym typeface="Gill Sans" charset="0"/>
        </a:defRPr>
      </a:lvl9pPr>
    </p:titleStyle>
    <p:bodyStyle>
      <a:lvl1pPr marL="660400" indent="-444500" algn="l" rtl="0" eaLnBrk="1" fontAlgn="base" hangingPunct="1">
        <a:spcBef>
          <a:spcPts val="1400"/>
        </a:spcBef>
        <a:spcAft>
          <a:spcPct val="0"/>
        </a:spcAft>
        <a:buClr>
          <a:srgbClr val="FFFFFF"/>
        </a:buClr>
        <a:buFont typeface="Gill Sans" charset="0"/>
        <a:buChar char="•"/>
        <a:defRPr sz="2400">
          <a:solidFill>
            <a:schemeClr val="tx1"/>
          </a:solidFill>
          <a:latin typeface="+mn-lt"/>
          <a:ea typeface="+mn-ea"/>
          <a:cs typeface="+mn-cs"/>
          <a:sym typeface="Gill Sans" charset="0"/>
        </a:defRPr>
      </a:lvl1pPr>
      <a:lvl2pPr marL="1003300" indent="-444500" algn="l" rtl="0" eaLnBrk="1" fontAlgn="base" hangingPunct="1">
        <a:spcBef>
          <a:spcPts val="1000"/>
        </a:spcBef>
        <a:spcAft>
          <a:spcPct val="0"/>
        </a:spcAft>
        <a:buClr>
          <a:srgbClr val="FFFFFF"/>
        </a:buClr>
        <a:buFont typeface="Gill Sans" charset="0"/>
        <a:buChar char="–"/>
        <a:defRPr sz="2000">
          <a:solidFill>
            <a:schemeClr val="tx1"/>
          </a:solidFill>
          <a:latin typeface="+mn-lt"/>
          <a:ea typeface="+mn-ea"/>
          <a:cs typeface="+mn-cs"/>
          <a:sym typeface="Gill Sans" charset="0"/>
        </a:defRPr>
      </a:lvl2pPr>
      <a:lvl3pPr marL="1346200" indent="-444500" algn="l" rtl="0" eaLnBrk="1" fontAlgn="base" hangingPunct="1">
        <a:spcBef>
          <a:spcPts val="1600"/>
        </a:spcBef>
        <a:spcAft>
          <a:spcPct val="0"/>
        </a:spcAft>
        <a:buClr>
          <a:srgbClr val="FFFFFF"/>
        </a:buClr>
        <a:buFont typeface="Gill Sans" charset="0"/>
        <a:buChar char="•"/>
        <a:defRPr>
          <a:solidFill>
            <a:schemeClr val="tx1"/>
          </a:solidFill>
          <a:latin typeface="+mn-lt"/>
          <a:ea typeface="+mn-ea"/>
          <a:cs typeface="+mn-cs"/>
          <a:sym typeface="Gill Sans" charset="0"/>
        </a:defRPr>
      </a:lvl3pPr>
      <a:lvl4pPr marL="1701800" indent="-444500" algn="l" rtl="0" eaLnBrk="1" fontAlgn="base" hangingPunct="1">
        <a:spcBef>
          <a:spcPts val="1600"/>
        </a:spcBef>
        <a:spcAft>
          <a:spcPct val="0"/>
        </a:spcAft>
        <a:buClr>
          <a:srgbClr val="FFFFFF"/>
        </a:buClr>
        <a:buSzPct val="171000"/>
        <a:buFont typeface="Gill Sans" charset="0"/>
        <a:buChar char="•"/>
        <a:defRPr>
          <a:solidFill>
            <a:schemeClr val="tx1"/>
          </a:solidFill>
          <a:latin typeface="+mn-lt"/>
          <a:ea typeface="+mn-ea"/>
          <a:cs typeface="+mn-cs"/>
          <a:sym typeface="Gill Sans" charset="0"/>
        </a:defRPr>
      </a:lvl4pPr>
      <a:lvl5pPr marL="2044700" indent="-444500" algn="l" rtl="0" eaLnBrk="1" fontAlgn="base" hangingPunct="1">
        <a:spcBef>
          <a:spcPts val="1600"/>
        </a:spcBef>
        <a:spcAft>
          <a:spcPct val="0"/>
        </a:spcAft>
        <a:buClr>
          <a:srgbClr val="FFFFFF"/>
        </a:buClr>
        <a:buSzPct val="171000"/>
        <a:buFont typeface="Gill Sans" charset="0"/>
        <a:buChar char="•"/>
        <a:defRPr>
          <a:solidFill>
            <a:schemeClr val="tx1"/>
          </a:solidFill>
          <a:latin typeface="+mn-lt"/>
          <a:ea typeface="+mn-ea"/>
          <a:cs typeface="+mn-cs"/>
          <a:sym typeface="Gill Sans" charset="0"/>
        </a:defRPr>
      </a:lvl5pPr>
      <a:lvl6pPr marL="2501900" indent="-444500" algn="l" rtl="0" eaLnBrk="1" fontAlgn="base" hangingPunct="1">
        <a:spcBef>
          <a:spcPts val="1600"/>
        </a:spcBef>
        <a:spcAft>
          <a:spcPct val="0"/>
        </a:spcAft>
        <a:buClr>
          <a:srgbClr val="FFFFFF"/>
        </a:buClr>
        <a:buSzPct val="171000"/>
        <a:buFont typeface="Gill Sans" charset="0"/>
        <a:buChar char="•"/>
        <a:defRPr>
          <a:solidFill>
            <a:schemeClr val="tx1"/>
          </a:solidFill>
          <a:latin typeface="+mn-lt"/>
          <a:ea typeface="+mn-ea"/>
          <a:cs typeface="+mn-cs"/>
          <a:sym typeface="Gill Sans" charset="0"/>
        </a:defRPr>
      </a:lvl6pPr>
      <a:lvl7pPr marL="2959100" indent="-444500" algn="l" rtl="0" eaLnBrk="1" fontAlgn="base" hangingPunct="1">
        <a:spcBef>
          <a:spcPts val="1600"/>
        </a:spcBef>
        <a:spcAft>
          <a:spcPct val="0"/>
        </a:spcAft>
        <a:buClr>
          <a:srgbClr val="FFFFFF"/>
        </a:buClr>
        <a:buSzPct val="171000"/>
        <a:buFont typeface="Gill Sans" charset="0"/>
        <a:buChar char="•"/>
        <a:defRPr>
          <a:solidFill>
            <a:schemeClr val="tx1"/>
          </a:solidFill>
          <a:latin typeface="+mn-lt"/>
          <a:ea typeface="+mn-ea"/>
          <a:cs typeface="+mn-cs"/>
          <a:sym typeface="Gill Sans" charset="0"/>
        </a:defRPr>
      </a:lvl7pPr>
      <a:lvl8pPr marL="3416300" indent="-444500" algn="l" rtl="0" eaLnBrk="1" fontAlgn="base" hangingPunct="1">
        <a:spcBef>
          <a:spcPts val="1600"/>
        </a:spcBef>
        <a:spcAft>
          <a:spcPct val="0"/>
        </a:spcAft>
        <a:buClr>
          <a:srgbClr val="FFFFFF"/>
        </a:buClr>
        <a:buSzPct val="171000"/>
        <a:buFont typeface="Gill Sans" charset="0"/>
        <a:buChar char="•"/>
        <a:defRPr>
          <a:solidFill>
            <a:schemeClr val="tx1"/>
          </a:solidFill>
          <a:latin typeface="+mn-lt"/>
          <a:ea typeface="+mn-ea"/>
          <a:cs typeface="+mn-cs"/>
          <a:sym typeface="Gill Sans" charset="0"/>
        </a:defRPr>
      </a:lvl8pPr>
      <a:lvl9pPr marL="3873500" indent="-444500" algn="l" rtl="0" eaLnBrk="1" fontAlgn="base" hangingPunct="1">
        <a:spcBef>
          <a:spcPts val="1600"/>
        </a:spcBef>
        <a:spcAft>
          <a:spcPct val="0"/>
        </a:spcAft>
        <a:buClr>
          <a:srgbClr val="FFFFFF"/>
        </a:buClr>
        <a:buSzPct val="171000"/>
        <a:buFont typeface="Gill Sans" charset="0"/>
        <a:buChar char="•"/>
        <a:defRPr>
          <a:solidFill>
            <a:schemeClr val="tx1"/>
          </a:solidFill>
          <a:latin typeface="+mn-lt"/>
          <a:ea typeface="+mn-ea"/>
          <a:cs typeface="+mn-cs"/>
          <a:sym typeface="Gill Sans"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slideLayout" Target="../slideLayouts/slideLayout6.xml"/><Relationship Id="rId4" Type="http://schemas.openxmlformats.org/officeDocument/2006/relationships/image" Target="../media/image17.wmf"/></Relationships>
</file>

<file path=ppt/slides/_rels/slide31.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6.wmf"/><Relationship Id="rId1" Type="http://schemas.openxmlformats.org/officeDocument/2006/relationships/slideLayout" Target="../slideLayouts/slideLayout6.xml"/><Relationship Id="rId4" Type="http://schemas.openxmlformats.org/officeDocument/2006/relationships/image" Target="../media/image17.wmf"/></Relationships>
</file>

<file path=ppt/slides/_rels/slide3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slideLayout" Target="../slideLayouts/slideLayout6.xml"/><Relationship Id="rId4" Type="http://schemas.openxmlformats.org/officeDocument/2006/relationships/image" Target="../media/image17.wmf"/></Relationships>
</file>

<file path=ppt/slides/_rels/slide3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8.wmf"/><Relationship Id="rId1" Type="http://schemas.openxmlformats.org/officeDocument/2006/relationships/slideLayout" Target="../slideLayouts/slideLayout6.xml"/><Relationship Id="rId4" Type="http://schemas.openxmlformats.org/officeDocument/2006/relationships/image" Target="../media/image15.wmf"/></Relationships>
</file>

<file path=ppt/slides/_rels/slide34.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7.wmf"/><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image" Target="../media/image18.wmf"/><Relationship Id="rId7"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15.wmf"/><Relationship Id="rId9" Type="http://schemas.openxmlformats.org/officeDocument/2006/relationships/image" Target="../media/image20.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1" name="Rectangle 1"/>
          <p:cNvSpPr>
            <a:spLocks noGrp="1" noChangeArrowheads="1"/>
          </p:cNvSpPr>
          <p:nvPr>
            <p:ph type="title"/>
          </p:nvPr>
        </p:nvSpPr>
        <p:spPr>
          <a:xfrm>
            <a:off x="914400" y="1676400"/>
            <a:ext cx="7366000" cy="1155700"/>
          </a:xfrm>
          <a:noFill/>
          <a:ln/>
        </p:spPr>
        <p:txBody>
          <a:bodyPr/>
          <a:lstStyle/>
          <a:p>
            <a:r>
              <a:rPr lang="en-US" dirty="0" err="1" smtClean="0"/>
              <a:t>CyberSecurity</a:t>
            </a:r>
            <a:r>
              <a:rPr lang="en-US" dirty="0" smtClean="0"/>
              <a:t> </a:t>
            </a:r>
            <a:endParaRPr lang="en-US"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Part One</a:t>
            </a:r>
            <a:endParaRPr lang="en-GB" dirty="0"/>
          </a:p>
        </p:txBody>
      </p:sp>
    </p:spTree>
    <p:extLst>
      <p:ext uri="{BB962C8B-B14F-4D97-AF65-F5344CB8AC3E}">
        <p14:creationId xmlns:p14="http://schemas.microsoft.com/office/powerpoint/2010/main" val="72968175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What is cybersecurity</a:t>
            </a:r>
            <a:endParaRPr lang="en-US" dirty="0"/>
          </a:p>
        </p:txBody>
      </p:sp>
      <p:sp>
        <p:nvSpPr>
          <p:cNvPr id="3" name="Content Placeholder 2"/>
          <p:cNvSpPr>
            <a:spLocks noGrp="1"/>
          </p:cNvSpPr>
          <p:nvPr>
            <p:ph idx="1"/>
          </p:nvPr>
        </p:nvSpPr>
        <p:spPr>
          <a:xfrm>
            <a:off x="4716016" y="1638300"/>
            <a:ext cx="3894584" cy="4533900"/>
          </a:xfrm>
        </p:spPr>
        <p:txBody>
          <a:bodyPr/>
          <a:lstStyle/>
          <a:p>
            <a:r>
              <a:rPr lang="en-US" dirty="0"/>
              <a:t>A wide-ranging term that embraces all aspects of ensuring the protection of citizens, businesses and critical infrastructures from threats that arise from their use of computers and the internet</a:t>
            </a:r>
            <a:r>
              <a:rPr lang="en-US" dirty="0" smtClean="0"/>
              <a:t>.</a:t>
            </a:r>
            <a:endParaRPr lang="en-US" dirty="0"/>
          </a:p>
        </p:txBody>
      </p:sp>
      <p:pic>
        <p:nvPicPr>
          <p:cNvPr id="4" name="Picture 3"/>
          <p:cNvPicPr>
            <a:picLocks noChangeAspect="1"/>
          </p:cNvPicPr>
          <p:nvPr/>
        </p:nvPicPr>
        <p:blipFill>
          <a:blip r:embed="rId2"/>
          <a:stretch>
            <a:fillRect/>
          </a:stretch>
        </p:blipFill>
        <p:spPr>
          <a:xfrm>
            <a:off x="467544" y="2276872"/>
            <a:ext cx="3840427" cy="2880320"/>
          </a:xfrm>
          <a:prstGeom prst="rect">
            <a:avLst/>
          </a:prstGeom>
        </p:spPr>
      </p:pic>
    </p:spTree>
    <p:extLst>
      <p:ext uri="{BB962C8B-B14F-4D97-AF65-F5344CB8AC3E}">
        <p14:creationId xmlns:p14="http://schemas.microsoft.com/office/powerpoint/2010/main" val="36135589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of </a:t>
            </a:r>
            <a:r>
              <a:rPr lang="en-US" dirty="0" err="1" smtClean="0"/>
              <a:t>cybersecurity</a:t>
            </a:r>
            <a:endParaRPr lang="en-US" dirty="0"/>
          </a:p>
        </p:txBody>
      </p:sp>
      <p:sp>
        <p:nvSpPr>
          <p:cNvPr id="3" name="Content Placeholder 2"/>
          <p:cNvSpPr>
            <a:spLocks noGrp="1"/>
          </p:cNvSpPr>
          <p:nvPr>
            <p:ph idx="1"/>
          </p:nvPr>
        </p:nvSpPr>
        <p:spPr>
          <a:xfrm>
            <a:off x="4283968" y="1638300"/>
            <a:ext cx="4326632" cy="4533900"/>
          </a:xfrm>
        </p:spPr>
        <p:txBody>
          <a:bodyPr/>
          <a:lstStyle/>
          <a:p>
            <a:r>
              <a:rPr lang="en-US" dirty="0" smtClean="0"/>
              <a:t>Techniques </a:t>
            </a:r>
            <a:r>
              <a:rPr lang="en-US" dirty="0"/>
              <a:t>of threat and attack analysis and mitigation</a:t>
            </a:r>
          </a:p>
          <a:p>
            <a:r>
              <a:rPr lang="en-US" dirty="0"/>
              <a:t>Protection and recovery technologies, processes and procedures for individuals, business and government</a:t>
            </a:r>
          </a:p>
          <a:p>
            <a:r>
              <a:rPr lang="en-US" dirty="0"/>
              <a:t>Policies, laws and regulation relevant to the use of computers and the Internet</a:t>
            </a:r>
          </a:p>
          <a:p>
            <a:endParaRPr lang="en-US" dirty="0"/>
          </a:p>
        </p:txBody>
      </p:sp>
      <p:pic>
        <p:nvPicPr>
          <p:cNvPr id="4" name="Picture 3"/>
          <p:cNvPicPr>
            <a:picLocks noChangeAspect="1"/>
          </p:cNvPicPr>
          <p:nvPr/>
        </p:nvPicPr>
        <p:blipFill>
          <a:blip r:embed="rId2"/>
          <a:stretch>
            <a:fillRect/>
          </a:stretch>
        </p:blipFill>
        <p:spPr>
          <a:xfrm>
            <a:off x="251520" y="1916832"/>
            <a:ext cx="4064000" cy="3048000"/>
          </a:xfrm>
          <a:prstGeom prst="rect">
            <a:avLst/>
          </a:prstGeom>
        </p:spPr>
      </p:pic>
    </p:spTree>
    <p:extLst>
      <p:ext uri="{BB962C8B-B14F-4D97-AF65-F5344CB8AC3E}">
        <p14:creationId xmlns:p14="http://schemas.microsoft.com/office/powerpoint/2010/main" val="7903044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systems problem</a:t>
            </a:r>
            <a:endParaRPr lang="en-US" dirty="0"/>
          </a:p>
        </p:txBody>
      </p:sp>
      <p:sp>
        <p:nvSpPr>
          <p:cNvPr id="3" name="Content Placeholder 2"/>
          <p:cNvSpPr>
            <a:spLocks noGrp="1"/>
          </p:cNvSpPr>
          <p:nvPr>
            <p:ph idx="1"/>
          </p:nvPr>
        </p:nvSpPr>
        <p:spPr/>
        <p:txBody>
          <a:bodyPr/>
          <a:lstStyle/>
          <a:p>
            <a:r>
              <a:rPr lang="en-US" dirty="0"/>
              <a:t>Related to, but broader in scope </a:t>
            </a:r>
            <a:r>
              <a:rPr lang="en-US" dirty="0" smtClean="0"/>
              <a:t>than:</a:t>
            </a:r>
          </a:p>
          <a:p>
            <a:pPr lvl="1"/>
            <a:r>
              <a:rPr lang="en-US" dirty="0" smtClean="0"/>
              <a:t>Computer security</a:t>
            </a:r>
          </a:p>
          <a:p>
            <a:pPr lvl="1"/>
            <a:r>
              <a:rPr lang="en-US" dirty="0" smtClean="0"/>
              <a:t>Security engineering</a:t>
            </a:r>
          </a:p>
          <a:p>
            <a:pPr lvl="1"/>
            <a:r>
              <a:rPr lang="en-US" dirty="0" smtClean="0"/>
              <a:t>Encryption</a:t>
            </a:r>
          </a:p>
          <a:p>
            <a:pPr lvl="1"/>
            <a:r>
              <a:rPr lang="en-US" dirty="0" smtClean="0"/>
              <a:t>Computer crime</a:t>
            </a:r>
          </a:p>
          <a:p>
            <a:pPr lvl="1"/>
            <a:r>
              <a:rPr lang="en-US" dirty="0" smtClean="0"/>
              <a:t>Computer forensics</a:t>
            </a:r>
            <a:endParaRPr lang="en-US" dirty="0"/>
          </a:p>
          <a:p>
            <a:r>
              <a:rPr lang="en-US" dirty="0" err="1"/>
              <a:t>Cybersecurity</a:t>
            </a:r>
            <a:r>
              <a:rPr lang="en-US" dirty="0"/>
              <a:t> is a </a:t>
            </a:r>
            <a:r>
              <a:rPr lang="en-US" dirty="0">
                <a:solidFill>
                  <a:srgbClr val="FF0000"/>
                </a:solidFill>
              </a:rPr>
              <a:t>socio-technical systems </a:t>
            </a:r>
            <a:r>
              <a:rPr lang="en-US" dirty="0" smtClean="0">
                <a:solidFill>
                  <a:srgbClr val="FF0000"/>
                </a:solidFill>
              </a:rPr>
              <a:t>problem</a:t>
            </a:r>
          </a:p>
          <a:p>
            <a:r>
              <a:rPr lang="en-US" dirty="0" smtClean="0">
                <a:solidFill>
                  <a:srgbClr val="FFFFFF"/>
                </a:solidFill>
              </a:rPr>
              <a:t>Problems almost always stem from a mix of technical, human and </a:t>
            </a:r>
            <a:r>
              <a:rPr lang="en-US" dirty="0" err="1" smtClean="0">
                <a:solidFill>
                  <a:srgbClr val="FFFFFF"/>
                </a:solidFill>
              </a:rPr>
              <a:t>organisational</a:t>
            </a:r>
            <a:r>
              <a:rPr lang="en-US" dirty="0" smtClean="0">
                <a:solidFill>
                  <a:srgbClr val="FFFFFF"/>
                </a:solidFill>
              </a:rPr>
              <a:t> causes</a:t>
            </a:r>
            <a:endParaRPr lang="en-US" dirty="0">
              <a:solidFill>
                <a:srgbClr val="FFFFFF"/>
              </a:solidFill>
            </a:endParaRPr>
          </a:p>
        </p:txBody>
      </p:sp>
    </p:spTree>
    <p:extLst>
      <p:ext uri="{BB962C8B-B14F-4D97-AF65-F5344CB8AC3E}">
        <p14:creationId xmlns:p14="http://schemas.microsoft.com/office/powerpoint/2010/main" val="42748473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Malicious and accidental damage </a:t>
            </a:r>
            <a:endParaRPr lang="en-US" dirty="0"/>
          </a:p>
        </p:txBody>
      </p:sp>
      <p:sp>
        <p:nvSpPr>
          <p:cNvPr id="3" name="Content Placeholder 2"/>
          <p:cNvSpPr>
            <a:spLocks noGrp="1"/>
          </p:cNvSpPr>
          <p:nvPr>
            <p:ph idx="1"/>
          </p:nvPr>
        </p:nvSpPr>
        <p:spPr/>
        <p:txBody>
          <a:bodyPr/>
          <a:lstStyle/>
          <a:p>
            <a:r>
              <a:rPr lang="en-US" dirty="0" err="1"/>
              <a:t>Cybersecurity</a:t>
            </a:r>
            <a:r>
              <a:rPr lang="en-US" dirty="0"/>
              <a:t> is most concerned </a:t>
            </a:r>
            <a:r>
              <a:rPr lang="en-US" dirty="0" smtClean="0"/>
              <a:t>with</a:t>
            </a:r>
            <a:endParaRPr lang="en-US" dirty="0"/>
          </a:p>
          <a:p>
            <a:pPr lvl="1"/>
            <a:r>
              <a:rPr lang="sv-SE" dirty="0" smtClean="0"/>
              <a:t> </a:t>
            </a:r>
            <a:r>
              <a:rPr lang="sv-SE" dirty="0"/>
              <a:t>Cyber </a:t>
            </a:r>
            <a:r>
              <a:rPr lang="sv-SE" dirty="0" smtClean="0"/>
              <a:t>attacks</a:t>
            </a:r>
          </a:p>
          <a:p>
            <a:pPr lvl="1"/>
            <a:r>
              <a:rPr lang="sv-SE" dirty="0" err="1" smtClean="0"/>
              <a:t>Malicious</a:t>
            </a:r>
            <a:r>
              <a:rPr lang="sv-SE" dirty="0" smtClean="0"/>
              <a:t> </a:t>
            </a:r>
            <a:r>
              <a:rPr lang="sv-SE" dirty="0" err="1"/>
              <a:t>attempts</a:t>
            </a:r>
            <a:r>
              <a:rPr lang="sv-SE" dirty="0"/>
              <a:t> </a:t>
            </a:r>
            <a:r>
              <a:rPr lang="sv-SE" dirty="0" err="1"/>
              <a:t>to</a:t>
            </a:r>
            <a:r>
              <a:rPr lang="sv-SE" dirty="0"/>
              <a:t> cause loss or </a:t>
            </a:r>
            <a:r>
              <a:rPr lang="sv-SE" dirty="0" err="1"/>
              <a:t>damage</a:t>
            </a:r>
            <a:r>
              <a:rPr lang="sv-SE" dirty="0"/>
              <a:t> </a:t>
            </a:r>
            <a:r>
              <a:rPr lang="sv-SE" dirty="0" err="1"/>
              <a:t>to</a:t>
            </a:r>
            <a:r>
              <a:rPr lang="sv-SE" dirty="0"/>
              <a:t> an </a:t>
            </a:r>
            <a:r>
              <a:rPr lang="sv-SE" dirty="0" err="1"/>
              <a:t>individual</a:t>
            </a:r>
            <a:r>
              <a:rPr lang="sv-SE" dirty="0"/>
              <a:t>, business or public </a:t>
            </a:r>
            <a:r>
              <a:rPr lang="sv-SE" dirty="0" err="1" smtClean="0"/>
              <a:t>bodies</a:t>
            </a:r>
            <a:endParaRPr lang="sv-SE" dirty="0"/>
          </a:p>
          <a:p>
            <a:r>
              <a:rPr lang="sv-SE" dirty="0" err="1" smtClean="0"/>
              <a:t>But</a:t>
            </a:r>
            <a:r>
              <a:rPr lang="sv-SE" dirty="0" smtClean="0"/>
              <a:t> </a:t>
            </a:r>
            <a:r>
              <a:rPr lang="sv-SE" dirty="0"/>
              <a:t>it </a:t>
            </a:r>
            <a:r>
              <a:rPr lang="sv-SE" dirty="0" err="1"/>
              <a:t>should</a:t>
            </a:r>
            <a:r>
              <a:rPr lang="sv-SE" dirty="0"/>
              <a:t> </a:t>
            </a:r>
            <a:r>
              <a:rPr lang="sv-SE" dirty="0" err="1"/>
              <a:t>also</a:t>
            </a:r>
            <a:r>
              <a:rPr lang="sv-SE" dirty="0"/>
              <a:t> be </a:t>
            </a:r>
            <a:r>
              <a:rPr lang="sv-SE" dirty="0" err="1"/>
              <a:t>concerned</a:t>
            </a:r>
            <a:r>
              <a:rPr lang="sv-SE" dirty="0"/>
              <a:t> </a:t>
            </a:r>
            <a:r>
              <a:rPr lang="sv-SE" dirty="0" err="1" smtClean="0"/>
              <a:t>with</a:t>
            </a:r>
            <a:endParaRPr lang="sv-SE" dirty="0"/>
          </a:p>
          <a:p>
            <a:pPr lvl="1"/>
            <a:r>
              <a:rPr lang="fr-FR" dirty="0"/>
              <a:t> Cyber-</a:t>
            </a:r>
            <a:r>
              <a:rPr lang="fr-FR" dirty="0" smtClean="0"/>
              <a:t>accidents</a:t>
            </a:r>
          </a:p>
          <a:p>
            <a:pPr lvl="1"/>
            <a:r>
              <a:rPr lang="fr-FR" dirty="0" smtClean="0"/>
              <a:t> </a:t>
            </a:r>
            <a:r>
              <a:rPr lang="fr-FR" dirty="0" err="1"/>
              <a:t>Accidental</a:t>
            </a:r>
            <a:r>
              <a:rPr lang="fr-FR" dirty="0"/>
              <a:t> </a:t>
            </a:r>
            <a:r>
              <a:rPr lang="fr-FR" dirty="0" err="1"/>
              <a:t>events</a:t>
            </a:r>
            <a:r>
              <a:rPr lang="fr-FR" dirty="0"/>
              <a:t> </a:t>
            </a:r>
            <a:r>
              <a:rPr lang="fr-FR" dirty="0" err="1"/>
              <a:t>that</a:t>
            </a:r>
            <a:r>
              <a:rPr lang="fr-FR" dirty="0"/>
              <a:t> </a:t>
            </a:r>
            <a:r>
              <a:rPr lang="fr-FR" dirty="0" err="1"/>
              <a:t>can</a:t>
            </a:r>
            <a:r>
              <a:rPr lang="fr-FR" dirty="0"/>
              <a:t> cause </a:t>
            </a:r>
            <a:r>
              <a:rPr lang="fr-FR" dirty="0" err="1"/>
              <a:t>loss</a:t>
            </a:r>
            <a:r>
              <a:rPr lang="fr-FR" dirty="0"/>
              <a:t> or damage to to an </a:t>
            </a:r>
            <a:r>
              <a:rPr lang="fr-FR" dirty="0" err="1"/>
              <a:t>individual</a:t>
            </a:r>
            <a:r>
              <a:rPr lang="fr-FR" dirty="0"/>
              <a:t>, business or public body</a:t>
            </a:r>
          </a:p>
          <a:p>
            <a:pPr marL="215900" indent="0">
              <a:buNone/>
            </a:pPr>
            <a:r>
              <a:rPr lang="en-US" dirty="0" smtClean="0"/>
              <a:t>Many of the same technologies are applicable although sometimes protecting against cyber attacks increases the probability of cyber accidents</a:t>
            </a:r>
          </a:p>
        </p:txBody>
      </p:sp>
    </p:spTree>
    <p:extLst>
      <p:ext uri="{BB962C8B-B14F-4D97-AF65-F5344CB8AC3E}">
        <p14:creationId xmlns:p14="http://schemas.microsoft.com/office/powerpoint/2010/main" val="380099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Insider and external attacks</a:t>
            </a:r>
            <a:endParaRPr lang="en-US" dirty="0"/>
          </a:p>
        </p:txBody>
      </p:sp>
      <p:sp>
        <p:nvSpPr>
          <p:cNvPr id="3" name="Content Placeholder 2"/>
          <p:cNvSpPr>
            <a:spLocks noGrp="1"/>
          </p:cNvSpPr>
          <p:nvPr>
            <p:ph idx="1"/>
          </p:nvPr>
        </p:nvSpPr>
        <p:spPr/>
        <p:txBody>
          <a:bodyPr/>
          <a:lstStyle/>
          <a:p>
            <a:r>
              <a:rPr lang="en-US" dirty="0" smtClean="0"/>
              <a:t>Insider attacks</a:t>
            </a:r>
          </a:p>
          <a:p>
            <a:pPr lvl="1"/>
            <a:r>
              <a:rPr lang="en-US" dirty="0" smtClean="0"/>
              <a:t>Attacks to an </a:t>
            </a:r>
            <a:r>
              <a:rPr lang="en-US" dirty="0" err="1" smtClean="0"/>
              <a:t>organisation</a:t>
            </a:r>
            <a:r>
              <a:rPr lang="en-US" dirty="0" smtClean="0"/>
              <a:t> carried out by someone who is inside that </a:t>
            </a:r>
            <a:r>
              <a:rPr lang="en-US" dirty="0" err="1" smtClean="0"/>
              <a:t>organisation</a:t>
            </a:r>
            <a:endParaRPr lang="en-US" dirty="0" smtClean="0"/>
          </a:p>
          <a:p>
            <a:pPr lvl="1"/>
            <a:r>
              <a:rPr lang="en-US" dirty="0" smtClean="0"/>
              <a:t>Difficult to counter using technical methods as the insider may have valid credentials to access the system</a:t>
            </a:r>
          </a:p>
          <a:p>
            <a:r>
              <a:rPr lang="en-US" dirty="0" smtClean="0"/>
              <a:t>External attacks</a:t>
            </a:r>
          </a:p>
          <a:p>
            <a:pPr lvl="1"/>
            <a:r>
              <a:rPr lang="en-US" dirty="0" smtClean="0"/>
              <a:t>Attacks to an </a:t>
            </a:r>
            <a:r>
              <a:rPr lang="en-US" dirty="0" err="1" smtClean="0"/>
              <a:t>organisation</a:t>
            </a:r>
            <a:r>
              <a:rPr lang="en-US" dirty="0" smtClean="0"/>
              <a:t> carried out by an external agent</a:t>
            </a:r>
          </a:p>
          <a:p>
            <a:pPr lvl="1"/>
            <a:r>
              <a:rPr lang="en-US" dirty="0" smtClean="0"/>
              <a:t>Requires either valid credentials or the exploitation of some vulnerability to gain access to the systems</a:t>
            </a:r>
            <a:endParaRPr lang="en-US" dirty="0"/>
          </a:p>
        </p:txBody>
      </p:sp>
    </p:spTree>
    <p:extLst>
      <p:ext uri="{BB962C8B-B14F-4D97-AF65-F5344CB8AC3E}">
        <p14:creationId xmlns:p14="http://schemas.microsoft.com/office/powerpoint/2010/main" val="36150884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Classes of cyber attack</a:t>
            </a:r>
            <a:endParaRPr lang="en-US" dirty="0"/>
          </a:p>
        </p:txBody>
      </p:sp>
      <p:sp>
        <p:nvSpPr>
          <p:cNvPr id="3" name="Content Placeholder 2"/>
          <p:cNvSpPr>
            <a:spLocks noGrp="1"/>
          </p:cNvSpPr>
          <p:nvPr>
            <p:ph idx="1"/>
          </p:nvPr>
        </p:nvSpPr>
        <p:spPr/>
        <p:txBody>
          <a:bodyPr/>
          <a:lstStyle/>
          <a:p>
            <a:r>
              <a:rPr lang="en-US" dirty="0" smtClean="0"/>
              <a:t>Cyber fraud</a:t>
            </a:r>
          </a:p>
          <a:p>
            <a:pPr lvl="1"/>
            <a:r>
              <a:rPr lang="en-US" dirty="0" smtClean="0"/>
              <a:t>Cyber </a:t>
            </a:r>
            <a:r>
              <a:rPr lang="en-US" dirty="0"/>
              <a:t>attacks that are generally aimed at gaining monetary or related gains for the perpetrator. </a:t>
            </a:r>
            <a:endParaRPr lang="en-US" dirty="0" smtClean="0"/>
          </a:p>
          <a:p>
            <a:r>
              <a:rPr lang="en-US" dirty="0" smtClean="0"/>
              <a:t>Cyber</a:t>
            </a:r>
            <a:r>
              <a:rPr lang="en-US" dirty="0"/>
              <a:t>-spying</a:t>
            </a:r>
          </a:p>
          <a:p>
            <a:pPr lvl="1"/>
            <a:r>
              <a:rPr lang="en-US" dirty="0" smtClean="0"/>
              <a:t>Cyber </a:t>
            </a:r>
            <a:r>
              <a:rPr lang="en-US" dirty="0"/>
              <a:t>attacks aimed at gaining information for the perpetrator. Related to cyber-fraud in that one aim of cyber-spying may be to sell the information </a:t>
            </a:r>
            <a:r>
              <a:rPr lang="en-US" dirty="0" smtClean="0"/>
              <a:t>gained,</a:t>
            </a:r>
            <a:endParaRPr lang="en-US" dirty="0"/>
          </a:p>
          <a:p>
            <a:r>
              <a:rPr lang="en-US" dirty="0" smtClean="0"/>
              <a:t>Cyber-</a:t>
            </a:r>
            <a:r>
              <a:rPr lang="en-US" dirty="0"/>
              <a:t>stalking, cyber-bullying etc. </a:t>
            </a:r>
            <a:endParaRPr lang="en-US" dirty="0" smtClean="0"/>
          </a:p>
          <a:p>
            <a:pPr lvl="1"/>
            <a:r>
              <a:rPr lang="en-US" dirty="0" smtClean="0"/>
              <a:t>Cyber attacks which are designed to intimidate individuals </a:t>
            </a:r>
            <a:r>
              <a:rPr lang="en-US" dirty="0"/>
              <a:t>rather than businesses or government</a:t>
            </a:r>
          </a:p>
          <a:p>
            <a:endParaRPr lang="en-US" dirty="0"/>
          </a:p>
          <a:p>
            <a:r>
              <a:rPr lang="en-US" dirty="0" smtClean="0"/>
              <a:t> </a:t>
            </a:r>
            <a:r>
              <a:rPr lang="en-US" dirty="0"/>
              <a:t> </a:t>
            </a:r>
          </a:p>
        </p:txBody>
      </p:sp>
    </p:spTree>
    <p:extLst>
      <p:ext uri="{BB962C8B-B14F-4D97-AF65-F5344CB8AC3E}">
        <p14:creationId xmlns:p14="http://schemas.microsoft.com/office/powerpoint/2010/main" val="14188656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Classes of cyber attack</a:t>
            </a:r>
            <a:endParaRPr lang="en-US" dirty="0"/>
          </a:p>
        </p:txBody>
      </p:sp>
      <p:sp>
        <p:nvSpPr>
          <p:cNvPr id="3" name="Content Placeholder 2"/>
          <p:cNvSpPr>
            <a:spLocks noGrp="1"/>
          </p:cNvSpPr>
          <p:nvPr>
            <p:ph idx="1"/>
          </p:nvPr>
        </p:nvSpPr>
        <p:spPr/>
        <p:txBody>
          <a:bodyPr/>
          <a:lstStyle/>
          <a:p>
            <a:r>
              <a:rPr lang="en-US" dirty="0"/>
              <a:t>Cyber assault</a:t>
            </a:r>
          </a:p>
          <a:p>
            <a:pPr lvl="1"/>
            <a:r>
              <a:rPr lang="en-US" dirty="0"/>
              <a:t> Cyber-attacks aimed at causing damage to information or equipment that is being attacked. Again, related to cyber fraud in that some attacks such as DDOS attacks may be precursors to attempts to extort money from those affected by the </a:t>
            </a:r>
            <a:r>
              <a:rPr lang="en-US" dirty="0" smtClean="0"/>
              <a:t>attacks.</a:t>
            </a:r>
          </a:p>
          <a:p>
            <a:pPr lvl="1"/>
            <a:r>
              <a:rPr lang="en-US" dirty="0" smtClean="0"/>
              <a:t>Damage </a:t>
            </a:r>
            <a:r>
              <a:rPr lang="en-US" dirty="0"/>
              <a:t>may be physical damage to equipment, reputational damage, psychological damage to individuals (cyber bullying or cyber stalking) or damage to information.   </a:t>
            </a:r>
          </a:p>
          <a:p>
            <a:r>
              <a:rPr lang="en-US" dirty="0" smtClean="0"/>
              <a:t>Cyber warfare</a:t>
            </a:r>
          </a:p>
          <a:p>
            <a:pPr lvl="1"/>
            <a:r>
              <a:rPr lang="en-US" dirty="0" smtClean="0"/>
              <a:t>An </a:t>
            </a:r>
            <a:r>
              <a:rPr lang="en-US" dirty="0"/>
              <a:t>extreme form of cyber-assault where at least one of the parties involved is a nation state.</a:t>
            </a:r>
          </a:p>
          <a:p>
            <a:endParaRPr lang="en-US" dirty="0"/>
          </a:p>
          <a:p>
            <a:pPr lvl="1"/>
            <a:endParaRPr lang="en-US" dirty="0"/>
          </a:p>
        </p:txBody>
      </p:sp>
    </p:spTree>
    <p:extLst>
      <p:ext uri="{BB962C8B-B14F-4D97-AF65-F5344CB8AC3E}">
        <p14:creationId xmlns:p14="http://schemas.microsoft.com/office/powerpoint/2010/main" val="21155471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Cyber-fraud</a:t>
            </a:r>
            <a:endParaRPr lang="en-US" dirty="0"/>
          </a:p>
        </p:txBody>
      </p:sp>
      <p:sp>
        <p:nvSpPr>
          <p:cNvPr id="3" name="Content Placeholder 2"/>
          <p:cNvSpPr>
            <a:spLocks noGrp="1"/>
          </p:cNvSpPr>
          <p:nvPr>
            <p:ph idx="1"/>
          </p:nvPr>
        </p:nvSpPr>
        <p:spPr/>
        <p:txBody>
          <a:bodyPr/>
          <a:lstStyle/>
          <a:p>
            <a:r>
              <a:rPr lang="en-US" dirty="0" smtClean="0"/>
              <a:t>Phishing attacks combined with fake websites to steal users’ personal details and, with these, steal money from their accounts</a:t>
            </a:r>
          </a:p>
          <a:p>
            <a:pPr lvl="1"/>
            <a:r>
              <a:rPr lang="en-US" dirty="0" smtClean="0"/>
              <a:t>Fraudsters set up a fake website that looks like a bank website</a:t>
            </a:r>
          </a:p>
          <a:p>
            <a:pPr lvl="1"/>
            <a:r>
              <a:rPr lang="en-US" dirty="0" smtClean="0"/>
              <a:t>Emails are sent to large numbers of recipients with a link to this site and a message trying to lure them to log on</a:t>
            </a:r>
          </a:p>
          <a:p>
            <a:pPr lvl="1"/>
            <a:r>
              <a:rPr lang="en-US" dirty="0" smtClean="0"/>
              <a:t>If the click on the link, their personal details are collected and then used by the fraudster to access their legitimate site</a:t>
            </a:r>
            <a:endParaRPr lang="en-US" dirty="0"/>
          </a:p>
        </p:txBody>
      </p:sp>
    </p:spTree>
    <p:extLst>
      <p:ext uri="{BB962C8B-B14F-4D97-AF65-F5344CB8AC3E}">
        <p14:creationId xmlns:p14="http://schemas.microsoft.com/office/powerpoint/2010/main" val="30329550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899592" y="1052736"/>
            <a:ext cx="7321252" cy="5048753"/>
          </a:xfrm>
          <a:prstGeom prst="rect">
            <a:avLst/>
          </a:prstGeom>
        </p:spPr>
      </p:pic>
    </p:spTree>
    <p:extLst>
      <p:ext uri="{BB962C8B-B14F-4D97-AF65-F5344CB8AC3E}">
        <p14:creationId xmlns:p14="http://schemas.microsoft.com/office/powerpoint/2010/main" val="14038722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Cyber-spying</a:t>
            </a:r>
            <a:endParaRPr lang="en-US" dirty="0"/>
          </a:p>
        </p:txBody>
      </p:sp>
      <p:pic>
        <p:nvPicPr>
          <p:cNvPr id="4" name="Picture 3"/>
          <p:cNvPicPr>
            <a:picLocks noChangeAspect="1"/>
          </p:cNvPicPr>
          <p:nvPr/>
        </p:nvPicPr>
        <p:blipFill>
          <a:blip r:embed="rId2"/>
          <a:stretch>
            <a:fillRect/>
          </a:stretch>
        </p:blipFill>
        <p:spPr>
          <a:xfrm>
            <a:off x="1043608" y="1556792"/>
            <a:ext cx="6948264" cy="4448359"/>
          </a:xfrm>
          <a:prstGeom prst="rect">
            <a:avLst/>
          </a:prstGeom>
        </p:spPr>
      </p:pic>
    </p:spTree>
    <p:extLst>
      <p:ext uri="{BB962C8B-B14F-4D97-AF65-F5344CB8AC3E}">
        <p14:creationId xmlns:p14="http://schemas.microsoft.com/office/powerpoint/2010/main" val="3914960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Cyber-spying</a:t>
            </a:r>
          </a:p>
        </p:txBody>
      </p:sp>
      <p:pic>
        <p:nvPicPr>
          <p:cNvPr id="4" name="Content Placeholder 3"/>
          <p:cNvPicPr>
            <a:picLocks noGrp="1" noChangeAspect="1"/>
          </p:cNvPicPr>
          <p:nvPr>
            <p:ph idx="1"/>
          </p:nvPr>
        </p:nvPicPr>
        <p:blipFill>
          <a:blip r:embed="rId2"/>
          <a:stretch>
            <a:fillRect/>
          </a:stretch>
        </p:blipFill>
        <p:spPr>
          <a:xfrm>
            <a:off x="1491456" y="2148681"/>
            <a:ext cx="6372225" cy="3705225"/>
          </a:xfrm>
        </p:spPr>
      </p:pic>
    </p:spTree>
    <p:extLst>
      <p:ext uri="{BB962C8B-B14F-4D97-AF65-F5344CB8AC3E}">
        <p14:creationId xmlns:p14="http://schemas.microsoft.com/office/powerpoint/2010/main" val="38090347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Cyber-bullying</a:t>
            </a:r>
            <a:endParaRPr lang="en-US" dirty="0"/>
          </a:p>
        </p:txBody>
      </p:sp>
      <p:pic>
        <p:nvPicPr>
          <p:cNvPr id="6" name="Picture 5"/>
          <p:cNvPicPr>
            <a:picLocks noChangeAspect="1"/>
          </p:cNvPicPr>
          <p:nvPr/>
        </p:nvPicPr>
        <p:blipFill>
          <a:blip r:embed="rId2"/>
          <a:stretch>
            <a:fillRect/>
          </a:stretch>
        </p:blipFill>
        <p:spPr>
          <a:xfrm>
            <a:off x="395536" y="1393713"/>
            <a:ext cx="8356600" cy="5435600"/>
          </a:xfrm>
          <a:prstGeom prst="rect">
            <a:avLst/>
          </a:prstGeom>
        </p:spPr>
      </p:pic>
    </p:spTree>
    <p:extLst>
      <p:ext uri="{BB962C8B-B14F-4D97-AF65-F5344CB8AC3E}">
        <p14:creationId xmlns:p14="http://schemas.microsoft.com/office/powerpoint/2010/main" val="37128453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Cyber Stalking</a:t>
            </a:r>
            <a:endParaRPr lang="en-US" dirty="0"/>
          </a:p>
        </p:txBody>
      </p:sp>
      <p:pic>
        <p:nvPicPr>
          <p:cNvPr id="6" name="Content Placeholder 5"/>
          <p:cNvPicPr>
            <a:picLocks noGrp="1" noChangeAspect="1"/>
          </p:cNvPicPr>
          <p:nvPr>
            <p:ph idx="1"/>
          </p:nvPr>
        </p:nvPicPr>
        <p:blipFill>
          <a:blip r:embed="rId2"/>
          <a:stretch>
            <a:fillRect/>
          </a:stretch>
        </p:blipFill>
        <p:spPr>
          <a:xfrm>
            <a:off x="1439069" y="2339181"/>
            <a:ext cx="6477000" cy="3324225"/>
          </a:xfrm>
        </p:spPr>
      </p:pic>
    </p:spTree>
    <p:extLst>
      <p:ext uri="{BB962C8B-B14F-4D97-AF65-F5344CB8AC3E}">
        <p14:creationId xmlns:p14="http://schemas.microsoft.com/office/powerpoint/2010/main" val="17962950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Cyber-assault</a:t>
            </a:r>
            <a:endParaRPr lang="en-US" dirty="0"/>
          </a:p>
        </p:txBody>
      </p:sp>
      <p:pic>
        <p:nvPicPr>
          <p:cNvPr id="4" name="Picture 3"/>
          <p:cNvPicPr>
            <a:picLocks noChangeAspect="1"/>
          </p:cNvPicPr>
          <p:nvPr/>
        </p:nvPicPr>
        <p:blipFill>
          <a:blip r:embed="rId2"/>
          <a:stretch>
            <a:fillRect/>
          </a:stretch>
        </p:blipFill>
        <p:spPr>
          <a:xfrm>
            <a:off x="5077" y="1412776"/>
            <a:ext cx="9144000" cy="5125997"/>
          </a:xfrm>
          <a:prstGeom prst="rect">
            <a:avLst/>
          </a:prstGeom>
        </p:spPr>
      </p:pic>
    </p:spTree>
    <p:extLst>
      <p:ext uri="{BB962C8B-B14F-4D97-AF65-F5344CB8AC3E}">
        <p14:creationId xmlns:p14="http://schemas.microsoft.com/office/powerpoint/2010/main" val="37138665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Cyber warfare attacks</a:t>
            </a:r>
            <a:endParaRPr lang="en-US" dirty="0"/>
          </a:p>
        </p:txBody>
      </p:sp>
      <p:sp>
        <p:nvSpPr>
          <p:cNvPr id="3" name="Content Placeholder 2"/>
          <p:cNvSpPr>
            <a:spLocks noGrp="1"/>
          </p:cNvSpPr>
          <p:nvPr>
            <p:ph idx="1"/>
          </p:nvPr>
        </p:nvSpPr>
        <p:spPr/>
        <p:txBody>
          <a:bodyPr/>
          <a:lstStyle/>
          <a:p>
            <a:r>
              <a:rPr lang="en-US" dirty="0" smtClean="0"/>
              <a:t>These are much harder to validate as, for obvious reasons, neither the perpetrator or the victim wish to release information</a:t>
            </a:r>
          </a:p>
          <a:p>
            <a:r>
              <a:rPr lang="en-US" dirty="0" smtClean="0"/>
              <a:t>Denial of service attacks</a:t>
            </a:r>
          </a:p>
          <a:p>
            <a:pPr lvl="1"/>
            <a:r>
              <a:rPr lang="en-US" dirty="0" smtClean="0"/>
              <a:t>Government and critical infrastructure sites attacked by </a:t>
            </a:r>
            <a:r>
              <a:rPr lang="en-US" dirty="0" err="1" smtClean="0"/>
              <a:t>DoS</a:t>
            </a:r>
            <a:r>
              <a:rPr lang="en-US" dirty="0" smtClean="0"/>
              <a:t> attacks with a view to taking them offline</a:t>
            </a:r>
          </a:p>
          <a:p>
            <a:r>
              <a:rPr lang="en-US" dirty="0" smtClean="0"/>
              <a:t>Malware</a:t>
            </a:r>
          </a:p>
          <a:p>
            <a:pPr lvl="1"/>
            <a:r>
              <a:rPr lang="en-US" dirty="0" smtClean="0"/>
              <a:t>Malware introduced to target and damage government and infrastructure facilities</a:t>
            </a:r>
            <a:endParaRPr lang="en-US" dirty="0"/>
          </a:p>
        </p:txBody>
      </p:sp>
    </p:spTree>
    <p:extLst>
      <p:ext uri="{BB962C8B-B14F-4D97-AF65-F5344CB8AC3E}">
        <p14:creationId xmlns:p14="http://schemas.microsoft.com/office/powerpoint/2010/main" val="27965561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scale of the problem</a:t>
            </a:r>
            <a:endParaRPr lang="en-US" dirty="0"/>
          </a:p>
        </p:txBody>
      </p:sp>
      <p:sp>
        <p:nvSpPr>
          <p:cNvPr id="3" name="Content Placeholder 2"/>
          <p:cNvSpPr>
            <a:spLocks noGrp="1"/>
          </p:cNvSpPr>
          <p:nvPr>
            <p:ph idx="1"/>
          </p:nvPr>
        </p:nvSpPr>
        <p:spPr/>
        <p:txBody>
          <a:bodyPr/>
          <a:lstStyle/>
          <a:p>
            <a:r>
              <a:rPr lang="en-US" dirty="0" smtClean="0"/>
              <a:t>It’s a big problem</a:t>
            </a:r>
          </a:p>
          <a:p>
            <a:r>
              <a:rPr lang="en-US" dirty="0" smtClean="0"/>
              <a:t>How big ?  We really do not know</a:t>
            </a:r>
          </a:p>
          <a:p>
            <a:r>
              <a:rPr lang="en-US" dirty="0" smtClean="0"/>
              <a:t>Many surveys on costs but very wide variations and different methodologies</a:t>
            </a:r>
          </a:p>
          <a:p>
            <a:r>
              <a:rPr lang="en-US" dirty="0" smtClean="0"/>
              <a:t>Differing estimates:</a:t>
            </a:r>
          </a:p>
          <a:p>
            <a:pPr lvl="1"/>
            <a:r>
              <a:rPr lang="en-US" dirty="0" smtClean="0"/>
              <a:t>Cybercrime in Scotland from £31 billion to £168 million</a:t>
            </a:r>
          </a:p>
          <a:p>
            <a:r>
              <a:rPr lang="en-US" dirty="0" smtClean="0"/>
              <a:t>Industry reluctant to release figures but when they do, they tend to overvalue assets</a:t>
            </a:r>
            <a:endParaRPr lang="en-US" dirty="0"/>
          </a:p>
        </p:txBody>
      </p:sp>
    </p:spTree>
    <p:extLst>
      <p:ext uri="{BB962C8B-B14F-4D97-AF65-F5344CB8AC3E}">
        <p14:creationId xmlns:p14="http://schemas.microsoft.com/office/powerpoint/2010/main" val="37716832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has this problem arisen</a:t>
            </a:r>
            <a:endParaRPr lang="en-US" dirty="0"/>
          </a:p>
        </p:txBody>
      </p:sp>
      <p:sp>
        <p:nvSpPr>
          <p:cNvPr id="3" name="Content Placeholder 2"/>
          <p:cNvSpPr>
            <a:spLocks noGrp="1"/>
          </p:cNvSpPr>
          <p:nvPr>
            <p:ph idx="1"/>
          </p:nvPr>
        </p:nvSpPr>
        <p:spPr/>
        <p:txBody>
          <a:bodyPr/>
          <a:lstStyle/>
          <a:p>
            <a:r>
              <a:rPr lang="en-US" dirty="0"/>
              <a:t>Connection of computers to the internet can cut costs, improve the efficiency and responsiveness of business processes and open up new opportunities for </a:t>
            </a:r>
            <a:r>
              <a:rPr lang="en-US" dirty="0" smtClean="0"/>
              <a:t>interaction. Therefore business has focused on connectivity rather than security </a:t>
            </a:r>
            <a:r>
              <a:rPr lang="en-US" dirty="0"/>
              <a:t>    </a:t>
            </a:r>
          </a:p>
          <a:p>
            <a:r>
              <a:rPr lang="en-US" dirty="0" smtClean="0"/>
              <a:t>Security is inconvenient and slows down transactions. Businesses have decided to </a:t>
            </a:r>
            <a:r>
              <a:rPr lang="en-US" dirty="0" err="1" smtClean="0"/>
              <a:t>prioritise</a:t>
            </a:r>
            <a:r>
              <a:rPr lang="en-US" dirty="0" smtClean="0"/>
              <a:t> convenience and usability over security.</a:t>
            </a:r>
            <a:endParaRPr lang="en-US" dirty="0"/>
          </a:p>
          <a:p>
            <a:r>
              <a:rPr lang="en-US" dirty="0" smtClean="0"/>
              <a:t>There are inherent security weaknesses </a:t>
            </a:r>
            <a:r>
              <a:rPr lang="en-US" dirty="0"/>
              <a:t>in the design of the Internet</a:t>
            </a:r>
          </a:p>
          <a:p>
            <a:endParaRPr lang="en-US" dirty="0"/>
          </a:p>
        </p:txBody>
      </p:sp>
    </p:spTree>
    <p:extLst>
      <p:ext uri="{BB962C8B-B14F-4D97-AF65-F5344CB8AC3E}">
        <p14:creationId xmlns:p14="http://schemas.microsoft.com/office/powerpoint/2010/main" val="9646326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Internet vulnerabilities</a:t>
            </a:r>
            <a:endParaRPr lang="en-US" dirty="0"/>
          </a:p>
        </p:txBody>
      </p:sp>
      <p:sp>
        <p:nvSpPr>
          <p:cNvPr id="3" name="Content Placeholder 2"/>
          <p:cNvSpPr>
            <a:spLocks noGrp="1"/>
          </p:cNvSpPr>
          <p:nvPr>
            <p:ph idx="1"/>
          </p:nvPr>
        </p:nvSpPr>
        <p:spPr/>
        <p:txBody>
          <a:bodyPr/>
          <a:lstStyle/>
          <a:p>
            <a:r>
              <a:rPr lang="en-US" dirty="0" smtClean="0"/>
              <a:t>The Internet was invented in the 1970s as a network between </a:t>
            </a:r>
            <a:r>
              <a:rPr lang="en-US" dirty="0" err="1" smtClean="0"/>
              <a:t>organisations</a:t>
            </a:r>
            <a:r>
              <a:rPr lang="en-US" dirty="0" smtClean="0"/>
              <a:t> that were trustworthy and which trusted each other</a:t>
            </a:r>
          </a:p>
          <a:p>
            <a:r>
              <a:rPr lang="en-US" dirty="0" smtClean="0"/>
              <a:t>Information maintained was largely non-commercial</a:t>
            </a:r>
          </a:p>
          <a:p>
            <a:r>
              <a:rPr lang="en-US" dirty="0" smtClean="0"/>
              <a:t>Security was not a factor in the design of internet protocols, practices and equipment</a:t>
            </a:r>
          </a:p>
          <a:p>
            <a:r>
              <a:rPr lang="en-US" dirty="0" smtClean="0"/>
              <a:t>These protocols made it easy for the Internet to be universally adopted in the 1990s but mean that we have to live with weak security.</a:t>
            </a:r>
            <a:endParaRPr lang="en-US" dirty="0"/>
          </a:p>
        </p:txBody>
      </p:sp>
    </p:spTree>
    <p:extLst>
      <p:ext uri="{BB962C8B-B14F-4D97-AF65-F5344CB8AC3E}">
        <p14:creationId xmlns:p14="http://schemas.microsoft.com/office/powerpoint/2010/main" val="27118798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Internet vulnerability examples</a:t>
            </a:r>
            <a:endParaRPr lang="en-US" dirty="0"/>
          </a:p>
        </p:txBody>
      </p:sp>
      <p:sp>
        <p:nvSpPr>
          <p:cNvPr id="3" name="Content Placeholder 2"/>
          <p:cNvSpPr>
            <a:spLocks noGrp="1"/>
          </p:cNvSpPr>
          <p:nvPr>
            <p:ph idx="1"/>
          </p:nvPr>
        </p:nvSpPr>
        <p:spPr>
          <a:xfrm>
            <a:off x="3707904" y="1638300"/>
            <a:ext cx="4902696" cy="4533900"/>
          </a:xfrm>
        </p:spPr>
        <p:txBody>
          <a:bodyPr/>
          <a:lstStyle/>
          <a:p>
            <a:r>
              <a:rPr lang="en-US" dirty="0" err="1"/>
              <a:t>Unencypted</a:t>
            </a:r>
            <a:r>
              <a:rPr lang="en-US" dirty="0"/>
              <a:t> traffic</a:t>
            </a:r>
          </a:p>
          <a:p>
            <a:pPr lvl="1"/>
            <a:r>
              <a:rPr lang="en-US" dirty="0"/>
              <a:t>Packets can be intercepted and examined  by an attacker</a:t>
            </a:r>
          </a:p>
          <a:p>
            <a:r>
              <a:rPr lang="en-US" dirty="0"/>
              <a:t>DNS system</a:t>
            </a:r>
          </a:p>
          <a:p>
            <a:pPr lvl="1"/>
            <a:r>
              <a:rPr lang="en-US" dirty="0"/>
              <a:t>Possible to divert traffic from legitimate to malicious addresses</a:t>
            </a:r>
          </a:p>
          <a:p>
            <a:pPr lvl="1"/>
            <a:r>
              <a:rPr lang="en-US" dirty="0"/>
              <a:t>Easy to hide where traffic has come from</a:t>
            </a:r>
          </a:p>
          <a:p>
            <a:r>
              <a:rPr lang="en-US" dirty="0"/>
              <a:t>Mail protocol</a:t>
            </a:r>
          </a:p>
          <a:p>
            <a:pPr lvl="1"/>
            <a:r>
              <a:rPr lang="en-US" dirty="0" smtClean="0"/>
              <a:t>No charging mechanism for mail</a:t>
            </a:r>
          </a:p>
          <a:p>
            <a:pPr lvl="1"/>
            <a:r>
              <a:rPr lang="en-US" dirty="0" smtClean="0"/>
              <a:t>Hence spam is possible</a:t>
            </a:r>
            <a:endParaRPr lang="en-US" dirty="0"/>
          </a:p>
        </p:txBody>
      </p:sp>
      <p:pic>
        <p:nvPicPr>
          <p:cNvPr id="4" name="Picture 3"/>
          <p:cNvPicPr>
            <a:picLocks noChangeAspect="1"/>
          </p:cNvPicPr>
          <p:nvPr/>
        </p:nvPicPr>
        <p:blipFill>
          <a:blip r:embed="rId2"/>
          <a:stretch>
            <a:fillRect/>
          </a:stretch>
        </p:blipFill>
        <p:spPr>
          <a:xfrm>
            <a:off x="899592" y="1700808"/>
            <a:ext cx="2592288" cy="1944216"/>
          </a:xfrm>
          <a:prstGeom prst="rect">
            <a:avLst/>
          </a:prstGeom>
        </p:spPr>
      </p:pic>
      <p:pic>
        <p:nvPicPr>
          <p:cNvPr id="5" name="Picture 4"/>
          <p:cNvPicPr>
            <a:picLocks noChangeAspect="1"/>
          </p:cNvPicPr>
          <p:nvPr/>
        </p:nvPicPr>
        <p:blipFill>
          <a:blip r:embed="rId3"/>
          <a:stretch>
            <a:fillRect/>
          </a:stretch>
        </p:blipFill>
        <p:spPr>
          <a:xfrm>
            <a:off x="827584" y="3861048"/>
            <a:ext cx="2808312" cy="1724479"/>
          </a:xfrm>
          <a:prstGeom prst="rect">
            <a:avLst/>
          </a:prstGeom>
        </p:spPr>
      </p:pic>
    </p:spTree>
    <p:extLst>
      <p:ext uri="{BB962C8B-B14F-4D97-AF65-F5344CB8AC3E}">
        <p14:creationId xmlns:p14="http://schemas.microsoft.com/office/powerpoint/2010/main" val="8957056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 classification</a:t>
            </a:r>
            <a:endParaRPr lang="en-US" dirty="0"/>
          </a:p>
        </p:txBody>
      </p:sp>
      <p:sp>
        <p:nvSpPr>
          <p:cNvPr id="3" name="Content Placeholder 2"/>
          <p:cNvSpPr>
            <a:spLocks noGrp="1"/>
          </p:cNvSpPr>
          <p:nvPr>
            <p:ph idx="1"/>
          </p:nvPr>
        </p:nvSpPr>
        <p:spPr>
          <a:xfrm>
            <a:off x="3923928" y="1638300"/>
            <a:ext cx="4686672" cy="4533900"/>
          </a:xfrm>
        </p:spPr>
        <p:txBody>
          <a:bodyPr/>
          <a:lstStyle/>
          <a:p>
            <a:r>
              <a:rPr lang="en-US" dirty="0" smtClean="0"/>
              <a:t>Risks due to actions of people</a:t>
            </a:r>
          </a:p>
          <a:p>
            <a:r>
              <a:rPr lang="en-US" dirty="0" smtClean="0"/>
              <a:t>Risks due to hardware or software</a:t>
            </a:r>
          </a:p>
          <a:p>
            <a:r>
              <a:rPr lang="en-US" dirty="0" smtClean="0"/>
              <a:t>Risks due to </a:t>
            </a:r>
            <a:r>
              <a:rPr lang="en-US" dirty="0" err="1" smtClean="0"/>
              <a:t>organisational</a:t>
            </a:r>
            <a:r>
              <a:rPr lang="en-US" dirty="0" smtClean="0"/>
              <a:t> processes</a:t>
            </a:r>
          </a:p>
          <a:p>
            <a:r>
              <a:rPr lang="en-US" dirty="0" smtClean="0"/>
              <a:t>There are also</a:t>
            </a:r>
          </a:p>
          <a:p>
            <a:pPr lvl="1"/>
            <a:r>
              <a:rPr lang="en-US" dirty="0" smtClean="0"/>
              <a:t>Risks due to external events such as weather, infrastructure failure, regulatory changes.</a:t>
            </a:r>
          </a:p>
          <a:p>
            <a:pPr lvl="1"/>
            <a:r>
              <a:rPr lang="en-US" dirty="0" smtClean="0"/>
              <a:t>But these are more difficult to anticipate and control</a:t>
            </a:r>
          </a:p>
          <a:p>
            <a:pPr marL="558800" lvl="1" indent="0">
              <a:buNone/>
            </a:pPr>
            <a:endParaRPr lang="en-US" dirty="0"/>
          </a:p>
        </p:txBody>
      </p:sp>
      <p:pic>
        <p:nvPicPr>
          <p:cNvPr id="4" name="Picture 3"/>
          <p:cNvPicPr>
            <a:picLocks noChangeAspect="1"/>
          </p:cNvPicPr>
          <p:nvPr/>
        </p:nvPicPr>
        <p:blipFill>
          <a:blip r:embed="rId2"/>
          <a:stretch>
            <a:fillRect/>
          </a:stretch>
        </p:blipFill>
        <p:spPr>
          <a:xfrm>
            <a:off x="611560" y="1628800"/>
            <a:ext cx="3124200" cy="2070100"/>
          </a:xfrm>
          <a:prstGeom prst="rect">
            <a:avLst/>
          </a:prstGeom>
        </p:spPr>
      </p:pic>
      <p:pic>
        <p:nvPicPr>
          <p:cNvPr id="5" name="Picture 4"/>
          <p:cNvPicPr>
            <a:picLocks noChangeAspect="1"/>
          </p:cNvPicPr>
          <p:nvPr/>
        </p:nvPicPr>
        <p:blipFill>
          <a:blip r:embed="rId3"/>
          <a:stretch>
            <a:fillRect/>
          </a:stretch>
        </p:blipFill>
        <p:spPr>
          <a:xfrm>
            <a:off x="683567" y="3933056"/>
            <a:ext cx="2952329" cy="2209634"/>
          </a:xfrm>
          <a:prstGeom prst="rect">
            <a:avLst/>
          </a:prstGeom>
        </p:spPr>
      </p:pic>
    </p:spTree>
    <p:extLst>
      <p:ext uri="{BB962C8B-B14F-4D97-AF65-F5344CB8AC3E}">
        <p14:creationId xmlns:p14="http://schemas.microsoft.com/office/powerpoint/2010/main" val="9763883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Actions of people</a:t>
            </a:r>
            <a:endParaRPr lang="en-US" dirty="0"/>
          </a:p>
        </p:txBody>
      </p:sp>
      <p:sp>
        <p:nvSpPr>
          <p:cNvPr id="3" name="Content Placeholder 2"/>
          <p:cNvSpPr>
            <a:spLocks noGrp="1"/>
          </p:cNvSpPr>
          <p:nvPr>
            <p:ph idx="1"/>
          </p:nvPr>
        </p:nvSpPr>
        <p:spPr/>
        <p:txBody>
          <a:bodyPr/>
          <a:lstStyle/>
          <a:p>
            <a:r>
              <a:rPr lang="en-US" dirty="0" smtClean="0"/>
              <a:t>Deliberate or accidental exposure of legitimate credentials to attackers</a:t>
            </a:r>
          </a:p>
          <a:p>
            <a:r>
              <a:rPr lang="en-US" dirty="0" smtClean="0"/>
              <a:t>Failure to maintain secure personal computers and devices</a:t>
            </a:r>
          </a:p>
          <a:p>
            <a:r>
              <a:rPr lang="en-US" dirty="0" smtClean="0"/>
              <a:t>Insider corruption or theft of data</a:t>
            </a:r>
          </a:p>
          <a:p>
            <a:r>
              <a:rPr lang="en-US" dirty="0" smtClean="0"/>
              <a:t>Preference for convenience and usability over security</a:t>
            </a:r>
          </a:p>
          <a:p>
            <a:pPr lvl="1"/>
            <a:r>
              <a:rPr lang="en-US" dirty="0" smtClean="0"/>
              <a:t>Weak passwords set because they are easy to remember and quick to type</a:t>
            </a:r>
          </a:p>
          <a:p>
            <a:endParaRPr lang="en-US" dirty="0"/>
          </a:p>
        </p:txBody>
      </p:sp>
    </p:spTree>
    <p:extLst>
      <p:ext uri="{BB962C8B-B14F-4D97-AF65-F5344CB8AC3E}">
        <p14:creationId xmlns:p14="http://schemas.microsoft.com/office/powerpoint/2010/main" val="26407222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and software</a:t>
            </a:r>
            <a:endParaRPr lang="en-US" dirty="0"/>
          </a:p>
        </p:txBody>
      </p:sp>
      <p:sp>
        <p:nvSpPr>
          <p:cNvPr id="3" name="Content Placeholder 2"/>
          <p:cNvSpPr>
            <a:spLocks noGrp="1"/>
          </p:cNvSpPr>
          <p:nvPr>
            <p:ph idx="1"/>
          </p:nvPr>
        </p:nvSpPr>
        <p:spPr/>
        <p:txBody>
          <a:bodyPr/>
          <a:lstStyle/>
          <a:p>
            <a:r>
              <a:rPr lang="en-US" dirty="0" smtClean="0"/>
              <a:t>Misconfigured firewalls and mail filters</a:t>
            </a:r>
          </a:p>
          <a:p>
            <a:r>
              <a:rPr lang="en-US" dirty="0" smtClean="0"/>
              <a:t>Programming errors and omissions in software lead to malicious penetration</a:t>
            </a:r>
          </a:p>
          <a:p>
            <a:pPr lvl="1"/>
            <a:r>
              <a:rPr lang="en-US" dirty="0" smtClean="0"/>
              <a:t>Buffer overflow attacks</a:t>
            </a:r>
          </a:p>
          <a:p>
            <a:pPr lvl="1"/>
            <a:r>
              <a:rPr lang="en-US" dirty="0" smtClean="0"/>
              <a:t>SQL poisoning attacks</a:t>
            </a:r>
          </a:p>
          <a:p>
            <a:r>
              <a:rPr lang="en-US" dirty="0" smtClean="0"/>
              <a:t>Inadequate server or router capacity leads to failure in the event of </a:t>
            </a:r>
            <a:r>
              <a:rPr lang="en-US" dirty="0" err="1" smtClean="0"/>
              <a:t>DoS</a:t>
            </a:r>
            <a:r>
              <a:rPr lang="en-US" dirty="0" smtClean="0"/>
              <a:t> attack</a:t>
            </a:r>
          </a:p>
          <a:p>
            <a:endParaRPr lang="en-US" dirty="0"/>
          </a:p>
        </p:txBody>
      </p:sp>
    </p:spTree>
    <p:extLst>
      <p:ext uri="{BB962C8B-B14F-4D97-AF65-F5344CB8AC3E}">
        <p14:creationId xmlns:p14="http://schemas.microsoft.com/office/powerpoint/2010/main" val="30671098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Organisational</a:t>
            </a:r>
            <a:r>
              <a:rPr lang="en-US" dirty="0" smtClean="0"/>
              <a:t> processes</a:t>
            </a:r>
            <a:endParaRPr lang="en-US" dirty="0"/>
          </a:p>
        </p:txBody>
      </p:sp>
      <p:sp>
        <p:nvSpPr>
          <p:cNvPr id="3" name="Content Placeholder 2"/>
          <p:cNvSpPr>
            <a:spLocks noGrp="1"/>
          </p:cNvSpPr>
          <p:nvPr>
            <p:ph idx="1"/>
          </p:nvPr>
        </p:nvSpPr>
        <p:spPr/>
        <p:txBody>
          <a:bodyPr/>
          <a:lstStyle/>
          <a:p>
            <a:r>
              <a:rPr lang="en-US" dirty="0" smtClean="0"/>
              <a:t>No established process and checks for updating and patching software</a:t>
            </a:r>
          </a:p>
          <a:p>
            <a:r>
              <a:rPr lang="en-US" dirty="0" smtClean="0"/>
              <a:t>Lack of security auditing</a:t>
            </a:r>
          </a:p>
          <a:p>
            <a:r>
              <a:rPr lang="en-US" dirty="0" smtClean="0"/>
              <a:t>Lack of systematic backup processes</a:t>
            </a:r>
          </a:p>
          <a:p>
            <a:endParaRPr lang="en-US" dirty="0" smtClean="0"/>
          </a:p>
          <a:p>
            <a:endParaRPr lang="en-US" dirty="0"/>
          </a:p>
        </p:txBody>
      </p:sp>
    </p:spTree>
    <p:extLst>
      <p:ext uri="{BB962C8B-B14F-4D97-AF65-F5344CB8AC3E}">
        <p14:creationId xmlns:p14="http://schemas.microsoft.com/office/powerpoint/2010/main" val="38487422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US" dirty="0" err="1" smtClean="0"/>
              <a:t>Cybersecurity</a:t>
            </a:r>
            <a:r>
              <a:rPr lang="en-US" dirty="0" smtClean="0"/>
              <a:t> is concerned with all </a:t>
            </a:r>
            <a:r>
              <a:rPr lang="en-US" dirty="0"/>
              <a:t>aspects of ensuring the protection of citizens, businesses and critical infrastructures from threats that arise from their use of computers and the internet</a:t>
            </a:r>
            <a:r>
              <a:rPr lang="en-US" dirty="0" smtClean="0"/>
              <a:t>.</a:t>
            </a:r>
          </a:p>
          <a:p>
            <a:r>
              <a:rPr lang="en-US" dirty="0" err="1"/>
              <a:t>Cybersecurity</a:t>
            </a:r>
            <a:r>
              <a:rPr lang="en-US" dirty="0"/>
              <a:t> is a </a:t>
            </a:r>
            <a:r>
              <a:rPr lang="en-US" dirty="0">
                <a:solidFill>
                  <a:srgbClr val="FF0000"/>
                </a:solidFill>
              </a:rPr>
              <a:t>socio-technical systems problem</a:t>
            </a:r>
          </a:p>
          <a:p>
            <a:r>
              <a:rPr lang="en-US" dirty="0" err="1" smtClean="0"/>
              <a:t>Cybersecurity</a:t>
            </a:r>
            <a:r>
              <a:rPr lang="en-US" dirty="0" smtClean="0"/>
              <a:t> covers cyber-fraud, cyber-spying, cyber-bullying, cyber-assault and cyber-warfare</a:t>
            </a:r>
          </a:p>
          <a:p>
            <a:r>
              <a:rPr lang="en-US" dirty="0" smtClean="0"/>
              <a:t>Cyber attacks are a major cost for business, government and individuals. But quantifying this cost </a:t>
            </a:r>
            <a:r>
              <a:rPr lang="en-US" smtClean="0"/>
              <a:t>is difficult.</a:t>
            </a:r>
            <a:endParaRPr lang="en-US" dirty="0" smtClean="0"/>
          </a:p>
          <a:p>
            <a:endParaRPr lang="en-US" dirty="0"/>
          </a:p>
          <a:p>
            <a:endParaRPr lang="en-US" dirty="0"/>
          </a:p>
        </p:txBody>
      </p:sp>
    </p:spTree>
    <p:extLst>
      <p:ext uri="{BB962C8B-B14F-4D97-AF65-F5344CB8AC3E}">
        <p14:creationId xmlns:p14="http://schemas.microsoft.com/office/powerpoint/2010/main" val="34870718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Part Two</a:t>
            </a:r>
            <a:endParaRPr lang="en-GB" dirty="0"/>
          </a:p>
        </p:txBody>
      </p:sp>
    </p:spTree>
    <p:extLst>
      <p:ext uri="{BB962C8B-B14F-4D97-AF65-F5344CB8AC3E}">
        <p14:creationId xmlns:p14="http://schemas.microsoft.com/office/powerpoint/2010/main" val="51261423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fontAlgn="auto" hangingPunct="1">
              <a:spcAft>
                <a:spcPts val="0"/>
              </a:spcAft>
              <a:defRPr/>
            </a:pPr>
            <a:r>
              <a:rPr lang="en-US" altLang="en-US" u="sng" dirty="0" smtClean="0"/>
              <a:t>Attacks Framework</a:t>
            </a:r>
          </a:p>
        </p:txBody>
      </p:sp>
      <p:sp>
        <p:nvSpPr>
          <p:cNvPr id="21507" name="Text Box 4"/>
          <p:cNvSpPr txBox="1">
            <a:spLocks noChangeArrowheads="1"/>
          </p:cNvSpPr>
          <p:nvPr/>
        </p:nvSpPr>
        <p:spPr bwMode="auto">
          <a:xfrm>
            <a:off x="3775075" y="1905000"/>
            <a:ext cx="1009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FontTx/>
              <a:buNone/>
            </a:pPr>
            <a:r>
              <a:rPr lang="en-US" altLang="en-US" sz="1800" b="1">
                <a:latin typeface="Arial" panose="020B0604020202020204" pitchFamily="34" charset="0"/>
              </a:rPr>
              <a:t>Attacks</a:t>
            </a:r>
          </a:p>
        </p:txBody>
      </p:sp>
      <p:sp>
        <p:nvSpPr>
          <p:cNvPr id="21508" name="Text Box 6"/>
          <p:cNvSpPr txBox="1">
            <a:spLocks noChangeArrowheads="1"/>
          </p:cNvSpPr>
          <p:nvPr/>
        </p:nvSpPr>
        <p:spPr bwMode="auto">
          <a:xfrm>
            <a:off x="361950" y="2478088"/>
            <a:ext cx="183515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Physical Access</a:t>
            </a:r>
          </a:p>
          <a:p>
            <a:pPr algn="ctr">
              <a:lnSpc>
                <a:spcPct val="100000"/>
              </a:lnSpc>
              <a:spcBef>
                <a:spcPct val="0"/>
              </a:spcBef>
              <a:buClrTx/>
              <a:buFontTx/>
              <a:buNone/>
            </a:pPr>
            <a:r>
              <a:rPr lang="en-US" altLang="en-US" sz="1800">
                <a:latin typeface="Arial" panose="020B0604020202020204" pitchFamily="34" charset="0"/>
              </a:rPr>
              <a:t>Attacks</a:t>
            </a:r>
          </a:p>
          <a:p>
            <a:pPr algn="ctr">
              <a:lnSpc>
                <a:spcPct val="100000"/>
              </a:lnSpc>
              <a:spcBef>
                <a:spcPct val="0"/>
              </a:spcBef>
              <a:buClrTx/>
              <a:buFontTx/>
              <a:buNone/>
            </a:pPr>
            <a:r>
              <a:rPr lang="en-US" altLang="en-US" sz="1800">
                <a:latin typeface="Arial" panose="020B0604020202020204" pitchFamily="34" charset="0"/>
              </a:rPr>
              <a:t>--</a:t>
            </a:r>
          </a:p>
          <a:p>
            <a:pPr algn="ctr">
              <a:lnSpc>
                <a:spcPct val="100000"/>
              </a:lnSpc>
              <a:spcBef>
                <a:spcPct val="0"/>
              </a:spcBef>
              <a:buClrTx/>
              <a:buFontTx/>
              <a:buNone/>
            </a:pPr>
            <a:r>
              <a:rPr lang="en-US" altLang="en-US" sz="1800">
                <a:latin typeface="Arial" panose="020B0604020202020204" pitchFamily="34" charset="0"/>
              </a:rPr>
              <a:t>Wiretapping</a:t>
            </a:r>
          </a:p>
          <a:p>
            <a:pPr algn="ctr">
              <a:lnSpc>
                <a:spcPct val="100000"/>
              </a:lnSpc>
              <a:spcBef>
                <a:spcPct val="0"/>
              </a:spcBef>
              <a:buClrTx/>
              <a:buFontTx/>
              <a:buNone/>
            </a:pPr>
            <a:r>
              <a:rPr lang="en-US" altLang="en-US" sz="1800">
                <a:latin typeface="Arial" panose="020B0604020202020204" pitchFamily="34" charset="0"/>
              </a:rPr>
              <a:t>Server Hacking</a:t>
            </a:r>
          </a:p>
          <a:p>
            <a:pPr algn="ctr">
              <a:lnSpc>
                <a:spcPct val="100000"/>
              </a:lnSpc>
              <a:spcBef>
                <a:spcPct val="0"/>
              </a:spcBef>
              <a:buClrTx/>
              <a:buFontTx/>
              <a:buNone/>
            </a:pPr>
            <a:r>
              <a:rPr lang="en-US" altLang="en-US" sz="1800">
                <a:latin typeface="Arial" panose="020B0604020202020204" pitchFamily="34" charset="0"/>
              </a:rPr>
              <a:t>Vandalism</a:t>
            </a:r>
          </a:p>
        </p:txBody>
      </p:sp>
      <p:sp>
        <p:nvSpPr>
          <p:cNvPr id="21509" name="Text Box 7"/>
          <p:cNvSpPr txBox="1">
            <a:spLocks noChangeArrowheads="1"/>
          </p:cNvSpPr>
          <p:nvPr/>
        </p:nvSpPr>
        <p:spPr bwMode="auto">
          <a:xfrm>
            <a:off x="2190750" y="3163888"/>
            <a:ext cx="21399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Dialog Attacks</a:t>
            </a:r>
          </a:p>
          <a:p>
            <a:pPr algn="ctr">
              <a:lnSpc>
                <a:spcPct val="100000"/>
              </a:lnSpc>
              <a:spcBef>
                <a:spcPct val="0"/>
              </a:spcBef>
              <a:buClrTx/>
              <a:buFontTx/>
              <a:buNone/>
            </a:pPr>
            <a:r>
              <a:rPr lang="en-US" altLang="en-US" sz="1800">
                <a:latin typeface="Arial" panose="020B0604020202020204" pitchFamily="34" charset="0"/>
              </a:rPr>
              <a:t>--</a:t>
            </a:r>
          </a:p>
          <a:p>
            <a:pPr algn="ctr">
              <a:lnSpc>
                <a:spcPct val="100000"/>
              </a:lnSpc>
              <a:spcBef>
                <a:spcPct val="0"/>
              </a:spcBef>
              <a:buClrTx/>
              <a:buFontTx/>
              <a:buNone/>
            </a:pPr>
            <a:r>
              <a:rPr lang="en-US" altLang="en-US" sz="1800">
                <a:latin typeface="Arial" panose="020B0604020202020204" pitchFamily="34" charset="0"/>
              </a:rPr>
              <a:t>Eavesdropping</a:t>
            </a:r>
          </a:p>
          <a:p>
            <a:pPr algn="ctr">
              <a:lnSpc>
                <a:spcPct val="100000"/>
              </a:lnSpc>
              <a:spcBef>
                <a:spcPct val="0"/>
              </a:spcBef>
              <a:buClrTx/>
              <a:buFontTx/>
              <a:buNone/>
            </a:pPr>
            <a:r>
              <a:rPr lang="en-US" altLang="en-US" sz="1800">
                <a:latin typeface="Arial" panose="020B0604020202020204" pitchFamily="34" charset="0"/>
              </a:rPr>
              <a:t>Impersonation</a:t>
            </a:r>
          </a:p>
          <a:p>
            <a:pPr algn="ctr">
              <a:lnSpc>
                <a:spcPct val="100000"/>
              </a:lnSpc>
              <a:spcBef>
                <a:spcPct val="0"/>
              </a:spcBef>
              <a:buClrTx/>
              <a:buFontTx/>
              <a:buNone/>
            </a:pPr>
            <a:r>
              <a:rPr lang="en-US" altLang="en-US" sz="1800">
                <a:latin typeface="Arial" panose="020B0604020202020204" pitchFamily="34" charset="0"/>
              </a:rPr>
              <a:t>Message Alteration</a:t>
            </a:r>
          </a:p>
        </p:txBody>
      </p:sp>
      <p:sp>
        <p:nvSpPr>
          <p:cNvPr id="21510" name="Text Box 8"/>
          <p:cNvSpPr txBox="1">
            <a:spLocks noChangeArrowheads="1"/>
          </p:cNvSpPr>
          <p:nvPr/>
        </p:nvSpPr>
        <p:spPr bwMode="auto">
          <a:xfrm>
            <a:off x="4933950" y="3773488"/>
            <a:ext cx="1352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Penetration</a:t>
            </a:r>
          </a:p>
          <a:p>
            <a:pPr algn="ctr">
              <a:lnSpc>
                <a:spcPct val="100000"/>
              </a:lnSpc>
              <a:spcBef>
                <a:spcPct val="0"/>
              </a:spcBef>
              <a:buClrTx/>
              <a:buFontTx/>
              <a:buNone/>
            </a:pPr>
            <a:r>
              <a:rPr lang="en-US" altLang="en-US" sz="1800">
                <a:latin typeface="Arial" panose="020B0604020202020204" pitchFamily="34" charset="0"/>
              </a:rPr>
              <a:t>Attacks</a:t>
            </a:r>
          </a:p>
        </p:txBody>
      </p:sp>
      <p:sp>
        <p:nvSpPr>
          <p:cNvPr id="21511" name="Text Box 9"/>
          <p:cNvSpPr txBox="1">
            <a:spLocks noChangeArrowheads="1"/>
          </p:cNvSpPr>
          <p:nvPr/>
        </p:nvSpPr>
        <p:spPr bwMode="auto">
          <a:xfrm>
            <a:off x="6457950" y="2460625"/>
            <a:ext cx="23812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Social Engineering</a:t>
            </a:r>
          </a:p>
          <a:p>
            <a:pPr algn="ctr">
              <a:lnSpc>
                <a:spcPct val="100000"/>
              </a:lnSpc>
              <a:spcBef>
                <a:spcPct val="0"/>
              </a:spcBef>
              <a:buClrTx/>
              <a:buFontTx/>
              <a:buNone/>
            </a:pPr>
            <a:r>
              <a:rPr lang="en-US" altLang="en-US" sz="1800">
                <a:latin typeface="Arial" panose="020B0604020202020204" pitchFamily="34" charset="0"/>
              </a:rPr>
              <a:t>--</a:t>
            </a:r>
          </a:p>
          <a:p>
            <a:pPr algn="ctr">
              <a:lnSpc>
                <a:spcPct val="100000"/>
              </a:lnSpc>
              <a:spcBef>
                <a:spcPct val="0"/>
              </a:spcBef>
              <a:buClrTx/>
              <a:buFontTx/>
              <a:buNone/>
            </a:pPr>
            <a:r>
              <a:rPr lang="en-US" altLang="en-US" sz="1800">
                <a:latin typeface="Arial" panose="020B0604020202020204" pitchFamily="34" charset="0"/>
              </a:rPr>
              <a:t>Opening Attachments</a:t>
            </a:r>
          </a:p>
          <a:p>
            <a:pPr algn="ctr">
              <a:lnSpc>
                <a:spcPct val="100000"/>
              </a:lnSpc>
              <a:spcBef>
                <a:spcPct val="0"/>
              </a:spcBef>
              <a:buClrTx/>
              <a:buFontTx/>
              <a:buNone/>
            </a:pPr>
            <a:r>
              <a:rPr lang="en-US" altLang="en-US" sz="1800">
                <a:latin typeface="Arial" panose="020B0604020202020204" pitchFamily="34" charset="0"/>
              </a:rPr>
              <a:t>Password Theft</a:t>
            </a:r>
          </a:p>
          <a:p>
            <a:pPr algn="ctr">
              <a:lnSpc>
                <a:spcPct val="100000"/>
              </a:lnSpc>
              <a:spcBef>
                <a:spcPct val="0"/>
              </a:spcBef>
              <a:buClrTx/>
              <a:buFontTx/>
              <a:buNone/>
            </a:pPr>
            <a:r>
              <a:rPr lang="en-US" altLang="en-US" sz="1800">
                <a:latin typeface="Arial" panose="020B0604020202020204" pitchFamily="34" charset="0"/>
              </a:rPr>
              <a:t>Information Theft</a:t>
            </a:r>
          </a:p>
        </p:txBody>
      </p:sp>
      <p:sp>
        <p:nvSpPr>
          <p:cNvPr id="21512" name="Line 10"/>
          <p:cNvSpPr>
            <a:spLocks noChangeShapeType="1"/>
          </p:cNvSpPr>
          <p:nvPr/>
        </p:nvSpPr>
        <p:spPr bwMode="auto">
          <a:xfrm flipH="1">
            <a:off x="1657350" y="2173288"/>
            <a:ext cx="2133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513" name="Line 11"/>
          <p:cNvSpPr>
            <a:spLocks noChangeShapeType="1"/>
          </p:cNvSpPr>
          <p:nvPr/>
        </p:nvSpPr>
        <p:spPr bwMode="auto">
          <a:xfrm flipH="1">
            <a:off x="3333750" y="2249488"/>
            <a:ext cx="6858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514" name="Line 12"/>
          <p:cNvSpPr>
            <a:spLocks noChangeShapeType="1"/>
          </p:cNvSpPr>
          <p:nvPr/>
        </p:nvSpPr>
        <p:spPr bwMode="auto">
          <a:xfrm>
            <a:off x="4781550" y="2097088"/>
            <a:ext cx="22098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515" name="Line 13"/>
          <p:cNvSpPr>
            <a:spLocks noChangeShapeType="1"/>
          </p:cNvSpPr>
          <p:nvPr/>
        </p:nvSpPr>
        <p:spPr bwMode="auto">
          <a:xfrm>
            <a:off x="4552950" y="2249488"/>
            <a:ext cx="914400" cy="1447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516" name="Text Box 14"/>
          <p:cNvSpPr txBox="1">
            <a:spLocks noChangeArrowheads="1"/>
          </p:cNvSpPr>
          <p:nvPr/>
        </p:nvSpPr>
        <p:spPr bwMode="auto">
          <a:xfrm>
            <a:off x="2952750" y="5068888"/>
            <a:ext cx="1136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Scanning</a:t>
            </a:r>
          </a:p>
          <a:p>
            <a:pPr algn="ctr">
              <a:lnSpc>
                <a:spcPct val="100000"/>
              </a:lnSpc>
              <a:spcBef>
                <a:spcPct val="0"/>
              </a:spcBef>
              <a:buClrTx/>
              <a:buFontTx/>
              <a:buNone/>
            </a:pPr>
            <a:r>
              <a:rPr lang="en-US" altLang="en-US" sz="1800">
                <a:latin typeface="Arial" panose="020B0604020202020204" pitchFamily="34" charset="0"/>
              </a:rPr>
              <a:t>(Probing)</a:t>
            </a:r>
          </a:p>
        </p:txBody>
      </p:sp>
      <p:sp>
        <p:nvSpPr>
          <p:cNvPr id="21517" name="Text Box 15"/>
          <p:cNvSpPr txBox="1">
            <a:spLocks noChangeArrowheads="1"/>
          </p:cNvSpPr>
          <p:nvPr/>
        </p:nvSpPr>
        <p:spPr bwMode="auto">
          <a:xfrm>
            <a:off x="4400550" y="5221288"/>
            <a:ext cx="1035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Break-in</a:t>
            </a:r>
          </a:p>
        </p:txBody>
      </p:sp>
      <p:sp>
        <p:nvSpPr>
          <p:cNvPr id="21518" name="Text Box 16"/>
          <p:cNvSpPr txBox="1">
            <a:spLocks noChangeArrowheads="1"/>
          </p:cNvSpPr>
          <p:nvPr/>
        </p:nvSpPr>
        <p:spPr bwMode="auto">
          <a:xfrm>
            <a:off x="5695950" y="4992688"/>
            <a:ext cx="10858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Denial of</a:t>
            </a:r>
          </a:p>
          <a:p>
            <a:pPr algn="ctr">
              <a:lnSpc>
                <a:spcPct val="100000"/>
              </a:lnSpc>
              <a:spcBef>
                <a:spcPct val="0"/>
              </a:spcBef>
              <a:buClrTx/>
              <a:buFontTx/>
              <a:buNone/>
            </a:pPr>
            <a:r>
              <a:rPr lang="en-US" altLang="en-US" sz="1800">
                <a:latin typeface="Arial" panose="020B0604020202020204" pitchFamily="34" charset="0"/>
              </a:rPr>
              <a:t>Service</a:t>
            </a:r>
          </a:p>
        </p:txBody>
      </p:sp>
      <p:sp>
        <p:nvSpPr>
          <p:cNvPr id="21519" name="Text Box 17"/>
          <p:cNvSpPr txBox="1">
            <a:spLocks noChangeArrowheads="1"/>
          </p:cNvSpPr>
          <p:nvPr/>
        </p:nvSpPr>
        <p:spPr bwMode="auto">
          <a:xfrm>
            <a:off x="7067550" y="4611688"/>
            <a:ext cx="10477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Malware</a:t>
            </a:r>
          </a:p>
          <a:p>
            <a:pPr algn="ctr">
              <a:lnSpc>
                <a:spcPct val="100000"/>
              </a:lnSpc>
              <a:spcBef>
                <a:spcPct val="0"/>
              </a:spcBef>
              <a:buClrTx/>
              <a:buFontTx/>
              <a:buNone/>
            </a:pPr>
            <a:r>
              <a:rPr lang="en-US" altLang="en-US" sz="1800">
                <a:latin typeface="Arial" panose="020B0604020202020204" pitchFamily="34" charset="0"/>
              </a:rPr>
              <a:t>--</a:t>
            </a:r>
          </a:p>
          <a:p>
            <a:pPr algn="ctr">
              <a:lnSpc>
                <a:spcPct val="100000"/>
              </a:lnSpc>
              <a:spcBef>
                <a:spcPct val="0"/>
              </a:spcBef>
              <a:buClrTx/>
              <a:buFontTx/>
              <a:buNone/>
            </a:pPr>
            <a:r>
              <a:rPr lang="en-US" altLang="en-US" sz="1800">
                <a:latin typeface="Arial" panose="020B0604020202020204" pitchFamily="34" charset="0"/>
              </a:rPr>
              <a:t>Viruses</a:t>
            </a:r>
          </a:p>
          <a:p>
            <a:pPr algn="ctr">
              <a:lnSpc>
                <a:spcPct val="100000"/>
              </a:lnSpc>
              <a:spcBef>
                <a:spcPct val="0"/>
              </a:spcBef>
              <a:buClrTx/>
              <a:buFontTx/>
              <a:buNone/>
            </a:pPr>
            <a:r>
              <a:rPr lang="en-US" altLang="en-US" sz="1800">
                <a:latin typeface="Arial" panose="020B0604020202020204" pitchFamily="34" charset="0"/>
              </a:rPr>
              <a:t>Worms</a:t>
            </a:r>
          </a:p>
        </p:txBody>
      </p:sp>
      <p:sp>
        <p:nvSpPr>
          <p:cNvPr id="21520" name="Line 18"/>
          <p:cNvSpPr>
            <a:spLocks noChangeShapeType="1"/>
          </p:cNvSpPr>
          <p:nvPr/>
        </p:nvSpPr>
        <p:spPr bwMode="auto">
          <a:xfrm>
            <a:off x="6153150" y="4230688"/>
            <a:ext cx="11430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521" name="Line 19"/>
          <p:cNvSpPr>
            <a:spLocks noChangeShapeType="1"/>
          </p:cNvSpPr>
          <p:nvPr/>
        </p:nvSpPr>
        <p:spPr bwMode="auto">
          <a:xfrm>
            <a:off x="5772150" y="4383088"/>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522" name="Line 20"/>
          <p:cNvSpPr>
            <a:spLocks noChangeShapeType="1"/>
          </p:cNvSpPr>
          <p:nvPr/>
        </p:nvSpPr>
        <p:spPr bwMode="auto">
          <a:xfrm flipH="1">
            <a:off x="5010150" y="4383088"/>
            <a:ext cx="457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523" name="Line 21"/>
          <p:cNvSpPr>
            <a:spLocks noChangeShapeType="1"/>
          </p:cNvSpPr>
          <p:nvPr/>
        </p:nvSpPr>
        <p:spPr bwMode="auto">
          <a:xfrm flipH="1">
            <a:off x="3790950" y="4383088"/>
            <a:ext cx="1371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Tree>
    <p:extLst>
      <p:ext uri="{BB962C8B-B14F-4D97-AF65-F5344CB8AC3E}">
        <p14:creationId xmlns:p14="http://schemas.microsoft.com/office/powerpoint/2010/main" val="9218677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fontAlgn="auto" hangingPunct="1">
              <a:spcAft>
                <a:spcPts val="0"/>
              </a:spcAft>
              <a:defRPr/>
            </a:pPr>
            <a:r>
              <a:rPr lang="en-US" altLang="en-US" dirty="0" smtClean="0"/>
              <a:t>Social Engineering Attacks</a:t>
            </a:r>
          </a:p>
        </p:txBody>
      </p:sp>
      <p:sp>
        <p:nvSpPr>
          <p:cNvPr id="6147" name="Rectangle 3"/>
          <p:cNvSpPr>
            <a:spLocks noGrp="1" noChangeArrowheads="1"/>
          </p:cNvSpPr>
          <p:nvPr>
            <p:ph idx="1"/>
          </p:nvPr>
        </p:nvSpPr>
        <p:spPr>
          <a:xfrm>
            <a:off x="685800" y="2366963"/>
            <a:ext cx="7772400" cy="3424237"/>
          </a:xfrm>
          <a:prstGeom prst="rect">
            <a:avLst/>
          </a:prstGeom>
        </p:spPr>
        <p:txBody>
          <a:bodyPr/>
          <a:lstStyle/>
          <a:p>
            <a:pPr eaLnBrk="1" fontAlgn="auto" hangingPunct="1">
              <a:spcAft>
                <a:spcPts val="0"/>
              </a:spcAft>
              <a:defRPr/>
            </a:pPr>
            <a:r>
              <a:rPr lang="en-US" altLang="en-US" smtClean="0"/>
              <a:t>Social Engineering</a:t>
            </a:r>
          </a:p>
          <a:p>
            <a:pPr lvl="1" eaLnBrk="1" fontAlgn="auto" hangingPunct="1">
              <a:spcAft>
                <a:spcPts val="0"/>
              </a:spcAft>
              <a:defRPr/>
            </a:pPr>
            <a:r>
              <a:rPr lang="en-US" altLang="en-US" smtClean="0"/>
              <a:t>Tricking an employee into giving out information or taking an action that reduces security or harms a system</a:t>
            </a:r>
          </a:p>
          <a:p>
            <a:pPr lvl="1" eaLnBrk="1" fontAlgn="auto" hangingPunct="1">
              <a:spcAft>
                <a:spcPts val="0"/>
              </a:spcAft>
              <a:defRPr/>
            </a:pPr>
            <a:r>
              <a:rPr lang="en-US" altLang="en-US" smtClean="0"/>
              <a:t>Opening an e-mail attachment that may contain a virus</a:t>
            </a:r>
          </a:p>
          <a:p>
            <a:pPr lvl="1" eaLnBrk="1" fontAlgn="auto" hangingPunct="1">
              <a:spcAft>
                <a:spcPts val="0"/>
              </a:spcAft>
              <a:defRPr/>
            </a:pPr>
            <a:r>
              <a:rPr lang="en-US" altLang="en-US" smtClean="0"/>
              <a:t>Asking for a password claiming to be someone with rights to know it</a:t>
            </a:r>
          </a:p>
          <a:p>
            <a:pPr lvl="1" eaLnBrk="1" fontAlgn="auto" hangingPunct="1">
              <a:spcAft>
                <a:spcPts val="0"/>
              </a:spcAft>
              <a:defRPr/>
            </a:pPr>
            <a:r>
              <a:rPr lang="en-US" altLang="en-US" smtClean="0"/>
              <a:t>Asking for a file to be sent to you</a:t>
            </a:r>
          </a:p>
        </p:txBody>
      </p:sp>
    </p:spTree>
    <p:extLst>
      <p:ext uri="{BB962C8B-B14F-4D97-AF65-F5344CB8AC3E}">
        <p14:creationId xmlns:p14="http://schemas.microsoft.com/office/powerpoint/2010/main" val="1719005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fontAlgn="auto" hangingPunct="1">
              <a:spcAft>
                <a:spcPts val="0"/>
              </a:spcAft>
              <a:defRPr/>
            </a:pPr>
            <a:r>
              <a:rPr lang="en-US" altLang="en-US" smtClean="0"/>
              <a:t>Eavesdropping on a Dialog</a:t>
            </a:r>
          </a:p>
        </p:txBody>
      </p:sp>
      <p:pic>
        <p:nvPicPr>
          <p:cNvPr id="23555" name="Picture 4" descr="MACPOWR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9963" y="2463800"/>
            <a:ext cx="1154112"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6" name="Picture 6" descr="FILSERV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9275" y="2387600"/>
            <a:ext cx="836613"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Line 8"/>
          <p:cNvSpPr>
            <a:spLocks noChangeShapeType="1"/>
          </p:cNvSpPr>
          <p:nvPr/>
        </p:nvSpPr>
        <p:spPr bwMode="auto">
          <a:xfrm flipH="1">
            <a:off x="2362200" y="2844800"/>
            <a:ext cx="42672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3558" name="Line 9"/>
          <p:cNvSpPr>
            <a:spLocks noChangeShapeType="1"/>
          </p:cNvSpPr>
          <p:nvPr/>
        </p:nvSpPr>
        <p:spPr bwMode="auto">
          <a:xfrm flipH="1">
            <a:off x="2362200" y="3302000"/>
            <a:ext cx="4267200" cy="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GB"/>
          </a:p>
        </p:txBody>
      </p:sp>
      <p:sp>
        <p:nvSpPr>
          <p:cNvPr id="23559" name="Rectangle 10"/>
          <p:cNvSpPr>
            <a:spLocks noChangeArrowheads="1"/>
          </p:cNvSpPr>
          <p:nvPr/>
        </p:nvSpPr>
        <p:spPr bwMode="auto">
          <a:xfrm>
            <a:off x="2590800" y="3149600"/>
            <a:ext cx="1143000" cy="304800"/>
          </a:xfrm>
          <a:prstGeom prst="rect">
            <a:avLst/>
          </a:prstGeom>
          <a:solidFill>
            <a:schemeClr val="accent2"/>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3560" name="Rectangle 11"/>
          <p:cNvSpPr>
            <a:spLocks noChangeArrowheads="1"/>
          </p:cNvSpPr>
          <p:nvPr/>
        </p:nvSpPr>
        <p:spPr bwMode="auto">
          <a:xfrm>
            <a:off x="3305175" y="4405313"/>
            <a:ext cx="1143000" cy="304800"/>
          </a:xfrm>
          <a:prstGeom prst="rect">
            <a:avLst/>
          </a:prstGeom>
          <a:solidFill>
            <a:schemeClr val="accent2"/>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3561" name="Rectangle 12"/>
          <p:cNvSpPr>
            <a:spLocks noChangeArrowheads="1"/>
          </p:cNvSpPr>
          <p:nvPr/>
        </p:nvSpPr>
        <p:spPr bwMode="auto">
          <a:xfrm>
            <a:off x="4572000" y="3149600"/>
            <a:ext cx="1143000" cy="304800"/>
          </a:xfrm>
          <a:prstGeom prst="rect">
            <a:avLst/>
          </a:prstGeom>
          <a:solidFill>
            <a:schemeClr val="bg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3562" name="Rectangle 13"/>
          <p:cNvSpPr>
            <a:spLocks noChangeArrowheads="1"/>
          </p:cNvSpPr>
          <p:nvPr/>
        </p:nvSpPr>
        <p:spPr bwMode="auto">
          <a:xfrm>
            <a:off x="5181600" y="2692400"/>
            <a:ext cx="1143000" cy="304800"/>
          </a:xfrm>
          <a:prstGeom prst="rect">
            <a:avLst/>
          </a:prstGeom>
          <a:solidFill>
            <a:schemeClr val="bg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3563" name="Rectangle 14"/>
          <p:cNvSpPr>
            <a:spLocks noChangeArrowheads="1"/>
          </p:cNvSpPr>
          <p:nvPr/>
        </p:nvSpPr>
        <p:spPr bwMode="auto">
          <a:xfrm>
            <a:off x="2971800" y="2692400"/>
            <a:ext cx="1143000" cy="304800"/>
          </a:xfrm>
          <a:prstGeom prst="rect">
            <a:avLst/>
          </a:prstGeom>
          <a:solidFill>
            <a:schemeClr val="bg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3564" name="Text Box 15"/>
          <p:cNvSpPr txBox="1">
            <a:spLocks noChangeArrowheads="1"/>
          </p:cNvSpPr>
          <p:nvPr/>
        </p:nvSpPr>
        <p:spPr bwMode="auto">
          <a:xfrm>
            <a:off x="971550" y="3733800"/>
            <a:ext cx="1149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Client PC</a:t>
            </a:r>
          </a:p>
          <a:p>
            <a:pPr algn="ctr">
              <a:lnSpc>
                <a:spcPct val="100000"/>
              </a:lnSpc>
              <a:spcBef>
                <a:spcPct val="0"/>
              </a:spcBef>
              <a:buClrTx/>
              <a:buFontTx/>
              <a:buNone/>
            </a:pPr>
            <a:r>
              <a:rPr lang="en-US" altLang="en-US" sz="1800">
                <a:latin typeface="Arial" panose="020B0604020202020204" pitchFamily="34" charset="0"/>
              </a:rPr>
              <a:t>Bob</a:t>
            </a:r>
          </a:p>
        </p:txBody>
      </p:sp>
      <p:sp>
        <p:nvSpPr>
          <p:cNvPr id="23565" name="Text Box 16"/>
          <p:cNvSpPr txBox="1">
            <a:spLocks noChangeArrowheads="1"/>
          </p:cNvSpPr>
          <p:nvPr/>
        </p:nvSpPr>
        <p:spPr bwMode="auto">
          <a:xfrm>
            <a:off x="6888163" y="3886200"/>
            <a:ext cx="857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Server</a:t>
            </a:r>
          </a:p>
          <a:p>
            <a:pPr algn="ctr">
              <a:lnSpc>
                <a:spcPct val="100000"/>
              </a:lnSpc>
              <a:spcBef>
                <a:spcPct val="0"/>
              </a:spcBef>
              <a:buClrTx/>
              <a:buFontTx/>
              <a:buNone/>
            </a:pPr>
            <a:r>
              <a:rPr lang="en-US" altLang="en-US" sz="1800">
                <a:latin typeface="Arial" panose="020B0604020202020204" pitchFamily="34" charset="0"/>
              </a:rPr>
              <a:t>Alice</a:t>
            </a:r>
          </a:p>
        </p:txBody>
      </p:sp>
      <p:sp>
        <p:nvSpPr>
          <p:cNvPr id="23566" name="Text Box 17"/>
          <p:cNvSpPr txBox="1">
            <a:spLocks noChangeArrowheads="1"/>
          </p:cNvSpPr>
          <p:nvPr/>
        </p:nvSpPr>
        <p:spPr bwMode="auto">
          <a:xfrm>
            <a:off x="4156075" y="1981200"/>
            <a:ext cx="831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Dialog</a:t>
            </a:r>
          </a:p>
        </p:txBody>
      </p:sp>
      <p:sp>
        <p:nvSpPr>
          <p:cNvPr id="23567" name="Line 18"/>
          <p:cNvSpPr>
            <a:spLocks noChangeShapeType="1"/>
          </p:cNvSpPr>
          <p:nvPr/>
        </p:nvSpPr>
        <p:spPr bwMode="auto">
          <a:xfrm>
            <a:off x="2971800" y="3530600"/>
            <a:ext cx="685800" cy="7985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3568" name="Text Box 19"/>
          <p:cNvSpPr txBox="1">
            <a:spLocks noChangeArrowheads="1"/>
          </p:cNvSpPr>
          <p:nvPr/>
        </p:nvSpPr>
        <p:spPr bwMode="auto">
          <a:xfrm>
            <a:off x="3867150" y="5508625"/>
            <a:ext cx="2686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Attacker (Eve) intercepts</a:t>
            </a:r>
          </a:p>
          <a:p>
            <a:pPr algn="ctr">
              <a:lnSpc>
                <a:spcPct val="100000"/>
              </a:lnSpc>
              <a:spcBef>
                <a:spcPct val="0"/>
              </a:spcBef>
              <a:buClrTx/>
              <a:buFontTx/>
              <a:buNone/>
            </a:pPr>
            <a:r>
              <a:rPr lang="en-US" altLang="en-US" sz="1800">
                <a:latin typeface="Arial" panose="020B0604020202020204" pitchFamily="34" charset="0"/>
              </a:rPr>
              <a:t>and reads messages</a:t>
            </a:r>
          </a:p>
        </p:txBody>
      </p:sp>
      <p:sp>
        <p:nvSpPr>
          <p:cNvPr id="23569" name="Text Box 20"/>
          <p:cNvSpPr txBox="1">
            <a:spLocks noChangeArrowheads="1"/>
          </p:cNvSpPr>
          <p:nvPr/>
        </p:nvSpPr>
        <p:spPr bwMode="auto">
          <a:xfrm>
            <a:off x="2924175" y="4746625"/>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Hello</a:t>
            </a:r>
          </a:p>
        </p:txBody>
      </p:sp>
      <p:sp>
        <p:nvSpPr>
          <p:cNvPr id="23570" name="Text Box 21"/>
          <p:cNvSpPr txBox="1">
            <a:spLocks noChangeArrowheads="1"/>
          </p:cNvSpPr>
          <p:nvPr/>
        </p:nvSpPr>
        <p:spPr bwMode="auto">
          <a:xfrm>
            <a:off x="3381375" y="3451225"/>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Hello</a:t>
            </a:r>
          </a:p>
        </p:txBody>
      </p:sp>
      <p:pic>
        <p:nvPicPr>
          <p:cNvPr id="23571" name="Picture 22" descr="MULTMED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4197350"/>
            <a:ext cx="1447800"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6203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fontAlgn="auto" hangingPunct="1">
              <a:spcAft>
                <a:spcPts val="0"/>
              </a:spcAft>
              <a:defRPr/>
            </a:pPr>
            <a:r>
              <a:rPr lang="en-US" altLang="en-US" smtClean="0"/>
              <a:t>Impersonation and Authentication</a:t>
            </a:r>
          </a:p>
        </p:txBody>
      </p:sp>
      <p:pic>
        <p:nvPicPr>
          <p:cNvPr id="24579" name="Picture 5" descr="FILSERV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1275" y="2387600"/>
            <a:ext cx="836613"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Line 7"/>
          <p:cNvSpPr>
            <a:spLocks noChangeShapeType="1"/>
          </p:cNvSpPr>
          <p:nvPr/>
        </p:nvSpPr>
        <p:spPr bwMode="auto">
          <a:xfrm>
            <a:off x="3124200" y="2844800"/>
            <a:ext cx="42672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4581" name="Line 8"/>
          <p:cNvSpPr>
            <a:spLocks noChangeShapeType="1"/>
          </p:cNvSpPr>
          <p:nvPr/>
        </p:nvSpPr>
        <p:spPr bwMode="auto">
          <a:xfrm>
            <a:off x="3124200" y="3302000"/>
            <a:ext cx="4267200" cy="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GB"/>
          </a:p>
        </p:txBody>
      </p:sp>
      <p:sp>
        <p:nvSpPr>
          <p:cNvPr id="24582" name="Rectangle 9"/>
          <p:cNvSpPr>
            <a:spLocks noChangeArrowheads="1"/>
          </p:cNvSpPr>
          <p:nvPr/>
        </p:nvSpPr>
        <p:spPr bwMode="auto">
          <a:xfrm>
            <a:off x="5486400" y="3149600"/>
            <a:ext cx="1143000" cy="304800"/>
          </a:xfrm>
          <a:prstGeom prst="rect">
            <a:avLst/>
          </a:prstGeom>
          <a:solidFill>
            <a:schemeClr val="accent2"/>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4583" name="Rectangle 12"/>
          <p:cNvSpPr>
            <a:spLocks noChangeArrowheads="1"/>
          </p:cNvSpPr>
          <p:nvPr/>
        </p:nvSpPr>
        <p:spPr bwMode="auto">
          <a:xfrm>
            <a:off x="3581400" y="2692400"/>
            <a:ext cx="1143000" cy="304800"/>
          </a:xfrm>
          <a:prstGeom prst="rect">
            <a:avLst/>
          </a:prstGeom>
          <a:solidFill>
            <a:schemeClr val="accent2"/>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grpSp>
        <p:nvGrpSpPr>
          <p:cNvPr id="24584" name="Group 21"/>
          <p:cNvGrpSpPr>
            <a:grpSpLocks/>
          </p:cNvGrpSpPr>
          <p:nvPr/>
        </p:nvGrpSpPr>
        <p:grpSpPr bwMode="auto">
          <a:xfrm>
            <a:off x="457200" y="2463800"/>
            <a:ext cx="1154113" cy="1987550"/>
            <a:chOff x="611" y="1552"/>
            <a:chExt cx="727" cy="1252"/>
          </a:xfrm>
        </p:grpSpPr>
        <p:pic>
          <p:nvPicPr>
            <p:cNvPr id="24590" name="Picture 4" descr="MACPOWR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 y="1552"/>
              <a:ext cx="727"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91" name="Text Box 14"/>
            <p:cNvSpPr txBox="1">
              <a:spLocks noChangeArrowheads="1"/>
            </p:cNvSpPr>
            <p:nvPr/>
          </p:nvSpPr>
          <p:spPr bwMode="auto">
            <a:xfrm>
              <a:off x="612" y="2400"/>
              <a:ext cx="72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Client PC</a:t>
              </a:r>
            </a:p>
            <a:p>
              <a:pPr algn="ctr">
                <a:lnSpc>
                  <a:spcPct val="100000"/>
                </a:lnSpc>
                <a:spcBef>
                  <a:spcPct val="0"/>
                </a:spcBef>
                <a:buClrTx/>
                <a:buFontTx/>
                <a:buNone/>
              </a:pPr>
              <a:r>
                <a:rPr lang="en-US" altLang="en-US" sz="1800">
                  <a:latin typeface="Arial" panose="020B0604020202020204" pitchFamily="34" charset="0"/>
                </a:rPr>
                <a:t>Bob</a:t>
              </a:r>
            </a:p>
          </p:txBody>
        </p:sp>
      </p:grpSp>
      <p:sp>
        <p:nvSpPr>
          <p:cNvPr id="24585" name="Text Box 15"/>
          <p:cNvSpPr txBox="1">
            <a:spLocks noChangeArrowheads="1"/>
          </p:cNvSpPr>
          <p:nvPr/>
        </p:nvSpPr>
        <p:spPr bwMode="auto">
          <a:xfrm>
            <a:off x="7650163" y="3911600"/>
            <a:ext cx="857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Server</a:t>
            </a:r>
          </a:p>
          <a:p>
            <a:pPr algn="ctr">
              <a:lnSpc>
                <a:spcPct val="100000"/>
              </a:lnSpc>
              <a:spcBef>
                <a:spcPct val="0"/>
              </a:spcBef>
              <a:buClrTx/>
              <a:buFontTx/>
              <a:buNone/>
            </a:pPr>
            <a:r>
              <a:rPr lang="en-US" altLang="en-US" sz="1800">
                <a:latin typeface="Arial" panose="020B0604020202020204" pitchFamily="34" charset="0"/>
              </a:rPr>
              <a:t>Alice</a:t>
            </a:r>
          </a:p>
        </p:txBody>
      </p:sp>
      <p:sp>
        <p:nvSpPr>
          <p:cNvPr id="24586" name="Text Box 18"/>
          <p:cNvSpPr txBox="1">
            <a:spLocks noChangeArrowheads="1"/>
          </p:cNvSpPr>
          <p:nvPr/>
        </p:nvSpPr>
        <p:spPr bwMode="auto">
          <a:xfrm>
            <a:off x="1862138" y="3810000"/>
            <a:ext cx="1022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Attacker</a:t>
            </a:r>
          </a:p>
          <a:p>
            <a:pPr algn="ctr">
              <a:lnSpc>
                <a:spcPct val="100000"/>
              </a:lnSpc>
              <a:spcBef>
                <a:spcPct val="0"/>
              </a:spcBef>
              <a:buClrTx/>
              <a:buFontTx/>
              <a:buNone/>
            </a:pPr>
            <a:r>
              <a:rPr lang="en-US" altLang="en-US" sz="1800">
                <a:latin typeface="Arial" panose="020B0604020202020204" pitchFamily="34" charset="0"/>
              </a:rPr>
              <a:t>(Eve)</a:t>
            </a:r>
          </a:p>
        </p:txBody>
      </p:sp>
      <p:sp>
        <p:nvSpPr>
          <p:cNvPr id="24587" name="Text Box 23"/>
          <p:cNvSpPr txBox="1">
            <a:spLocks noChangeArrowheads="1"/>
          </p:cNvSpPr>
          <p:nvPr/>
        </p:nvSpPr>
        <p:spPr bwMode="auto">
          <a:xfrm>
            <a:off x="3657600" y="2300288"/>
            <a:ext cx="958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I’m Bob</a:t>
            </a:r>
          </a:p>
        </p:txBody>
      </p:sp>
      <p:sp>
        <p:nvSpPr>
          <p:cNvPr id="24588" name="Text Box 24"/>
          <p:cNvSpPr txBox="1">
            <a:spLocks noChangeArrowheads="1"/>
          </p:cNvSpPr>
          <p:nvPr/>
        </p:nvSpPr>
        <p:spPr bwMode="auto">
          <a:xfrm>
            <a:off x="4876800" y="3429000"/>
            <a:ext cx="2508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Prove it!</a:t>
            </a:r>
          </a:p>
          <a:p>
            <a:pPr algn="ctr">
              <a:lnSpc>
                <a:spcPct val="100000"/>
              </a:lnSpc>
              <a:spcBef>
                <a:spcPct val="0"/>
              </a:spcBef>
              <a:buClrTx/>
              <a:buFontTx/>
              <a:buNone/>
            </a:pPr>
            <a:r>
              <a:rPr lang="en-US" altLang="en-US" sz="1800">
                <a:latin typeface="Arial" panose="020B0604020202020204" pitchFamily="34" charset="0"/>
              </a:rPr>
              <a:t>(Authenticate Yourself)</a:t>
            </a:r>
          </a:p>
        </p:txBody>
      </p:sp>
      <p:pic>
        <p:nvPicPr>
          <p:cNvPr id="24589" name="Picture 25" descr="MULTMED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2513013"/>
            <a:ext cx="1371600" cy="122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23846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Line 26"/>
          <p:cNvSpPr>
            <a:spLocks noChangeShapeType="1"/>
          </p:cNvSpPr>
          <p:nvPr/>
        </p:nvSpPr>
        <p:spPr bwMode="auto">
          <a:xfrm>
            <a:off x="1905000" y="3200400"/>
            <a:ext cx="55626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10243" name="Rectangle 4"/>
          <p:cNvSpPr>
            <a:spLocks noGrp="1" noChangeArrowheads="1"/>
          </p:cNvSpPr>
          <p:nvPr>
            <p:ph type="title"/>
          </p:nvPr>
        </p:nvSpPr>
        <p:spPr/>
        <p:txBody>
          <a:bodyPr/>
          <a:lstStyle/>
          <a:p>
            <a:pPr eaLnBrk="1" fontAlgn="auto" hangingPunct="1">
              <a:spcAft>
                <a:spcPts val="0"/>
              </a:spcAft>
              <a:defRPr/>
            </a:pPr>
            <a:r>
              <a:rPr lang="en-US" altLang="en-US" smtClean="0"/>
              <a:t>Message Alteration</a:t>
            </a:r>
          </a:p>
        </p:txBody>
      </p:sp>
      <p:sp>
        <p:nvSpPr>
          <p:cNvPr id="25604" name="Rectangle 10"/>
          <p:cNvSpPr>
            <a:spLocks noChangeArrowheads="1"/>
          </p:cNvSpPr>
          <p:nvPr/>
        </p:nvSpPr>
        <p:spPr bwMode="auto">
          <a:xfrm>
            <a:off x="6019800" y="3048000"/>
            <a:ext cx="1143000" cy="304800"/>
          </a:xfrm>
          <a:prstGeom prst="rect">
            <a:avLst/>
          </a:prstGeom>
          <a:solidFill>
            <a:schemeClr val="accent2"/>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grpSp>
        <p:nvGrpSpPr>
          <p:cNvPr id="25605" name="Group 22"/>
          <p:cNvGrpSpPr>
            <a:grpSpLocks/>
          </p:cNvGrpSpPr>
          <p:nvPr/>
        </p:nvGrpSpPr>
        <p:grpSpPr bwMode="auto">
          <a:xfrm>
            <a:off x="457200" y="2311400"/>
            <a:ext cx="1162050" cy="1911350"/>
            <a:chOff x="612" y="1552"/>
            <a:chExt cx="732" cy="1204"/>
          </a:xfrm>
        </p:grpSpPr>
        <p:pic>
          <p:nvPicPr>
            <p:cNvPr id="25623" name="Picture 5" descr="MACPOWR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 y="1552"/>
              <a:ext cx="727"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24" name="Text Box 15"/>
            <p:cNvSpPr txBox="1">
              <a:spLocks noChangeArrowheads="1"/>
            </p:cNvSpPr>
            <p:nvPr/>
          </p:nvSpPr>
          <p:spPr bwMode="auto">
            <a:xfrm>
              <a:off x="612" y="2352"/>
              <a:ext cx="72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Client PC</a:t>
              </a:r>
            </a:p>
            <a:p>
              <a:pPr algn="ctr">
                <a:lnSpc>
                  <a:spcPct val="100000"/>
                </a:lnSpc>
                <a:spcBef>
                  <a:spcPct val="0"/>
                </a:spcBef>
                <a:buClrTx/>
                <a:buFontTx/>
                <a:buNone/>
              </a:pPr>
              <a:r>
                <a:rPr lang="en-US" altLang="en-US" sz="1800">
                  <a:latin typeface="Arial" panose="020B0604020202020204" pitchFamily="34" charset="0"/>
                </a:rPr>
                <a:t>Bob</a:t>
              </a:r>
            </a:p>
          </p:txBody>
        </p:sp>
      </p:grpSp>
      <p:pic>
        <p:nvPicPr>
          <p:cNvPr id="25606" name="Picture 6" descr="FILSERV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4463" y="2235200"/>
            <a:ext cx="836612"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7" name="Text Box 16"/>
          <p:cNvSpPr txBox="1">
            <a:spLocks noChangeArrowheads="1"/>
          </p:cNvSpPr>
          <p:nvPr/>
        </p:nvSpPr>
        <p:spPr bwMode="auto">
          <a:xfrm>
            <a:off x="7753350" y="3657600"/>
            <a:ext cx="857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Server</a:t>
            </a:r>
          </a:p>
          <a:p>
            <a:pPr algn="ctr">
              <a:lnSpc>
                <a:spcPct val="100000"/>
              </a:lnSpc>
              <a:spcBef>
                <a:spcPct val="0"/>
              </a:spcBef>
              <a:buClrTx/>
              <a:buFontTx/>
              <a:buNone/>
            </a:pPr>
            <a:r>
              <a:rPr lang="en-US" altLang="en-US" sz="1800">
                <a:latin typeface="Arial" panose="020B0604020202020204" pitchFamily="34" charset="0"/>
              </a:rPr>
              <a:t>Alice</a:t>
            </a:r>
          </a:p>
        </p:txBody>
      </p:sp>
      <p:sp>
        <p:nvSpPr>
          <p:cNvPr id="25608" name="Text Box 17"/>
          <p:cNvSpPr txBox="1">
            <a:spLocks noChangeArrowheads="1"/>
          </p:cNvSpPr>
          <p:nvPr/>
        </p:nvSpPr>
        <p:spPr bwMode="auto">
          <a:xfrm>
            <a:off x="4156075" y="1828800"/>
            <a:ext cx="831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Dialog</a:t>
            </a:r>
          </a:p>
        </p:txBody>
      </p:sp>
      <p:sp>
        <p:nvSpPr>
          <p:cNvPr id="25609" name="Text Box 19"/>
          <p:cNvSpPr txBox="1">
            <a:spLocks noChangeArrowheads="1"/>
          </p:cNvSpPr>
          <p:nvPr/>
        </p:nvSpPr>
        <p:spPr bwMode="auto">
          <a:xfrm>
            <a:off x="3343275" y="5356225"/>
            <a:ext cx="2686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Attacker (Eve) intercepts</a:t>
            </a:r>
          </a:p>
          <a:p>
            <a:pPr algn="ctr">
              <a:lnSpc>
                <a:spcPct val="100000"/>
              </a:lnSpc>
              <a:spcBef>
                <a:spcPct val="0"/>
              </a:spcBef>
              <a:buClrTx/>
              <a:buFontTx/>
              <a:buNone/>
            </a:pPr>
            <a:r>
              <a:rPr lang="en-US" altLang="en-US" sz="1800">
                <a:latin typeface="Arial" panose="020B0604020202020204" pitchFamily="34" charset="0"/>
              </a:rPr>
              <a:t>and alters messages</a:t>
            </a:r>
          </a:p>
        </p:txBody>
      </p:sp>
      <p:pic>
        <p:nvPicPr>
          <p:cNvPr id="25610" name="Picture 23" descr="MULTMED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4044950"/>
            <a:ext cx="1447800"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1" name="Line 25"/>
          <p:cNvSpPr>
            <a:spLocks noChangeShapeType="1"/>
          </p:cNvSpPr>
          <p:nvPr/>
        </p:nvSpPr>
        <p:spPr bwMode="auto">
          <a:xfrm>
            <a:off x="1905000" y="2819400"/>
            <a:ext cx="5562600" cy="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GB"/>
          </a:p>
        </p:txBody>
      </p:sp>
      <p:sp>
        <p:nvSpPr>
          <p:cNvPr id="25612" name="Rectangle 14"/>
          <p:cNvSpPr>
            <a:spLocks noChangeArrowheads="1"/>
          </p:cNvSpPr>
          <p:nvPr/>
        </p:nvSpPr>
        <p:spPr bwMode="auto">
          <a:xfrm>
            <a:off x="3124200" y="2667000"/>
            <a:ext cx="1143000" cy="304800"/>
          </a:xfrm>
          <a:prstGeom prst="rect">
            <a:avLst/>
          </a:prstGeom>
          <a:solidFill>
            <a:schemeClr val="bg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5613" name="Rectangle 13"/>
          <p:cNvSpPr>
            <a:spLocks noChangeArrowheads="1"/>
          </p:cNvSpPr>
          <p:nvPr/>
        </p:nvSpPr>
        <p:spPr bwMode="auto">
          <a:xfrm>
            <a:off x="5257800" y="2667000"/>
            <a:ext cx="1143000" cy="304800"/>
          </a:xfrm>
          <a:prstGeom prst="rect">
            <a:avLst/>
          </a:prstGeom>
          <a:solidFill>
            <a:schemeClr val="bg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5614" name="Rectangle 27"/>
          <p:cNvSpPr>
            <a:spLocks noChangeArrowheads="1"/>
          </p:cNvSpPr>
          <p:nvPr/>
        </p:nvSpPr>
        <p:spPr bwMode="auto">
          <a:xfrm>
            <a:off x="5715000" y="4343400"/>
            <a:ext cx="1143000" cy="304800"/>
          </a:xfrm>
          <a:prstGeom prst="rect">
            <a:avLst/>
          </a:prstGeom>
          <a:solidFill>
            <a:schemeClr val="accent2"/>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5615" name="Rectangle 28"/>
          <p:cNvSpPr>
            <a:spLocks noChangeArrowheads="1"/>
          </p:cNvSpPr>
          <p:nvPr/>
        </p:nvSpPr>
        <p:spPr bwMode="auto">
          <a:xfrm>
            <a:off x="2438400" y="3124200"/>
            <a:ext cx="1143000" cy="304800"/>
          </a:xfrm>
          <a:prstGeom prst="rect">
            <a:avLst/>
          </a:prstGeom>
          <a:solidFill>
            <a:schemeClr val="accent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5616" name="Rectangle 29"/>
          <p:cNvSpPr>
            <a:spLocks noChangeArrowheads="1"/>
          </p:cNvSpPr>
          <p:nvPr/>
        </p:nvSpPr>
        <p:spPr bwMode="auto">
          <a:xfrm>
            <a:off x="2590800" y="4267200"/>
            <a:ext cx="1143000" cy="304800"/>
          </a:xfrm>
          <a:prstGeom prst="rect">
            <a:avLst/>
          </a:prstGeom>
          <a:solidFill>
            <a:schemeClr val="accent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5617" name="Line 30"/>
          <p:cNvSpPr>
            <a:spLocks noChangeShapeType="1"/>
          </p:cNvSpPr>
          <p:nvPr/>
        </p:nvSpPr>
        <p:spPr bwMode="auto">
          <a:xfrm>
            <a:off x="2743200" y="3505200"/>
            <a:ext cx="4572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5618" name="Line 31"/>
          <p:cNvSpPr>
            <a:spLocks noChangeShapeType="1"/>
          </p:cNvSpPr>
          <p:nvPr/>
        </p:nvSpPr>
        <p:spPr bwMode="auto">
          <a:xfrm flipV="1">
            <a:off x="6324600" y="3429000"/>
            <a:ext cx="45720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5619" name="Text Box 32"/>
          <p:cNvSpPr txBox="1">
            <a:spLocks noChangeArrowheads="1"/>
          </p:cNvSpPr>
          <p:nvPr/>
        </p:nvSpPr>
        <p:spPr bwMode="auto">
          <a:xfrm>
            <a:off x="3124200" y="3397250"/>
            <a:ext cx="12065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dirty="0">
                <a:latin typeface="Arial" panose="020B0604020202020204" pitchFamily="34" charset="0"/>
              </a:rPr>
              <a:t>Balance =</a:t>
            </a:r>
          </a:p>
          <a:p>
            <a:pPr algn="ctr">
              <a:lnSpc>
                <a:spcPct val="100000"/>
              </a:lnSpc>
              <a:spcBef>
                <a:spcPct val="0"/>
              </a:spcBef>
              <a:buClrTx/>
              <a:buFontTx/>
              <a:buNone/>
            </a:pPr>
            <a:r>
              <a:rPr lang="en-US" altLang="en-US" sz="1800" dirty="0" smtClean="0">
                <a:latin typeface="Arial" panose="020B0604020202020204" pitchFamily="34" charset="0"/>
              </a:rPr>
              <a:t>£1</a:t>
            </a:r>
            <a:endParaRPr lang="en-US" altLang="en-US" sz="1800" dirty="0">
              <a:latin typeface="Arial" panose="020B0604020202020204" pitchFamily="34" charset="0"/>
            </a:endParaRPr>
          </a:p>
        </p:txBody>
      </p:sp>
      <p:sp>
        <p:nvSpPr>
          <p:cNvPr id="25620" name="Text Box 33"/>
          <p:cNvSpPr txBox="1">
            <a:spLocks noChangeArrowheads="1"/>
          </p:cNvSpPr>
          <p:nvPr/>
        </p:nvSpPr>
        <p:spPr bwMode="auto">
          <a:xfrm>
            <a:off x="1917700" y="4572000"/>
            <a:ext cx="12065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dirty="0">
                <a:latin typeface="Arial" panose="020B0604020202020204" pitchFamily="34" charset="0"/>
              </a:rPr>
              <a:t>Balance =</a:t>
            </a:r>
          </a:p>
          <a:p>
            <a:pPr algn="ctr">
              <a:lnSpc>
                <a:spcPct val="100000"/>
              </a:lnSpc>
              <a:spcBef>
                <a:spcPct val="0"/>
              </a:spcBef>
              <a:buClrTx/>
              <a:buFontTx/>
              <a:buNone/>
            </a:pPr>
            <a:r>
              <a:rPr lang="en-US" altLang="en-US" sz="1800" dirty="0" smtClean="0">
                <a:latin typeface="Arial" panose="020B0604020202020204" pitchFamily="34" charset="0"/>
              </a:rPr>
              <a:t>£1</a:t>
            </a:r>
            <a:endParaRPr lang="en-US" altLang="en-US" sz="1800" dirty="0">
              <a:latin typeface="Arial" panose="020B0604020202020204" pitchFamily="34" charset="0"/>
            </a:endParaRPr>
          </a:p>
        </p:txBody>
      </p:sp>
      <p:sp>
        <p:nvSpPr>
          <p:cNvPr id="25621" name="Text Box 34"/>
          <p:cNvSpPr txBox="1">
            <a:spLocks noChangeArrowheads="1"/>
          </p:cNvSpPr>
          <p:nvPr/>
        </p:nvSpPr>
        <p:spPr bwMode="auto">
          <a:xfrm>
            <a:off x="6036186" y="4760913"/>
            <a:ext cx="133882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dirty="0">
                <a:latin typeface="Arial" panose="020B0604020202020204" pitchFamily="34" charset="0"/>
              </a:rPr>
              <a:t>Balance =</a:t>
            </a:r>
          </a:p>
          <a:p>
            <a:pPr algn="ctr">
              <a:lnSpc>
                <a:spcPct val="100000"/>
              </a:lnSpc>
              <a:spcBef>
                <a:spcPct val="0"/>
              </a:spcBef>
              <a:buClrTx/>
              <a:buFontTx/>
              <a:buNone/>
            </a:pPr>
            <a:r>
              <a:rPr lang="en-US" altLang="en-US" sz="1800" dirty="0">
                <a:latin typeface="Arial" panose="020B0604020202020204" pitchFamily="34" charset="0"/>
              </a:rPr>
              <a:t>£</a:t>
            </a:r>
            <a:r>
              <a:rPr lang="en-US" altLang="en-US" sz="1800" dirty="0" smtClean="0">
                <a:latin typeface="Arial" panose="020B0604020202020204" pitchFamily="34" charset="0"/>
              </a:rPr>
              <a:t>1,000,000</a:t>
            </a:r>
            <a:endParaRPr lang="en-US" altLang="en-US" sz="1800" dirty="0">
              <a:latin typeface="Arial" panose="020B0604020202020204" pitchFamily="34" charset="0"/>
            </a:endParaRPr>
          </a:p>
        </p:txBody>
      </p:sp>
      <p:sp>
        <p:nvSpPr>
          <p:cNvPr id="25622" name="Text Box 35"/>
          <p:cNvSpPr txBox="1">
            <a:spLocks noChangeArrowheads="1"/>
          </p:cNvSpPr>
          <p:nvPr/>
        </p:nvSpPr>
        <p:spPr bwMode="auto">
          <a:xfrm>
            <a:off x="5220211" y="3321050"/>
            <a:ext cx="133882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dirty="0">
                <a:latin typeface="Arial" panose="020B0604020202020204" pitchFamily="34" charset="0"/>
              </a:rPr>
              <a:t>Balance =</a:t>
            </a:r>
          </a:p>
          <a:p>
            <a:pPr algn="ctr">
              <a:lnSpc>
                <a:spcPct val="100000"/>
              </a:lnSpc>
              <a:spcBef>
                <a:spcPct val="0"/>
              </a:spcBef>
              <a:buClrTx/>
              <a:buFontTx/>
              <a:buNone/>
            </a:pPr>
            <a:r>
              <a:rPr lang="en-US" altLang="en-US" sz="1800" dirty="0" smtClean="0">
                <a:latin typeface="Arial" panose="020B0604020202020204" pitchFamily="34" charset="0"/>
              </a:rPr>
              <a:t>£1,000,000</a:t>
            </a:r>
            <a:endParaRPr lang="en-US" altLang="en-US" sz="1800" dirty="0">
              <a:latin typeface="Arial" panose="020B0604020202020204" pitchFamily="34" charset="0"/>
            </a:endParaRPr>
          </a:p>
        </p:txBody>
      </p:sp>
    </p:spTree>
    <p:extLst>
      <p:ext uri="{BB962C8B-B14F-4D97-AF65-F5344CB8AC3E}">
        <p14:creationId xmlns:p14="http://schemas.microsoft.com/office/powerpoint/2010/main" val="40550257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fontAlgn="auto" hangingPunct="1">
              <a:spcAft>
                <a:spcPts val="0"/>
              </a:spcAft>
              <a:defRPr/>
            </a:pPr>
            <a:r>
              <a:rPr lang="en-US" altLang="en-US" smtClean="0"/>
              <a:t>Scanning (Probing) Attacks</a:t>
            </a:r>
          </a:p>
        </p:txBody>
      </p:sp>
      <p:sp>
        <p:nvSpPr>
          <p:cNvPr id="26627" name="Line 4"/>
          <p:cNvSpPr>
            <a:spLocks noChangeShapeType="1"/>
          </p:cNvSpPr>
          <p:nvPr/>
        </p:nvSpPr>
        <p:spPr bwMode="auto">
          <a:xfrm>
            <a:off x="4476750" y="3367088"/>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628" name="Rectangle 5"/>
          <p:cNvSpPr>
            <a:spLocks noChangeArrowheads="1"/>
          </p:cNvSpPr>
          <p:nvPr/>
        </p:nvSpPr>
        <p:spPr bwMode="auto">
          <a:xfrm>
            <a:off x="438150" y="1905000"/>
            <a:ext cx="4038600" cy="3276600"/>
          </a:xfrm>
          <a:prstGeom prst="rect">
            <a:avLst/>
          </a:prstGeom>
          <a:solidFill>
            <a:schemeClr val="bg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pic>
        <p:nvPicPr>
          <p:cNvPr id="26629" name="Picture 6" descr="PD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5950" y="2819400"/>
            <a:ext cx="16764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630" name="Group 7"/>
          <p:cNvGrpSpPr>
            <a:grpSpLocks/>
          </p:cNvGrpSpPr>
          <p:nvPr/>
        </p:nvGrpSpPr>
        <p:grpSpPr bwMode="auto">
          <a:xfrm>
            <a:off x="6610350" y="2819400"/>
            <a:ext cx="838200" cy="304800"/>
            <a:chOff x="3456" y="3312"/>
            <a:chExt cx="528" cy="192"/>
          </a:xfrm>
        </p:grpSpPr>
        <p:sp>
          <p:nvSpPr>
            <p:cNvPr id="26653" name="Rectangle 8"/>
            <p:cNvSpPr>
              <a:spLocks noChangeArrowheads="1"/>
            </p:cNvSpPr>
            <p:nvPr/>
          </p:nvSpPr>
          <p:spPr bwMode="auto">
            <a:xfrm>
              <a:off x="3648" y="3312"/>
              <a:ext cx="336" cy="192"/>
            </a:xfrm>
            <a:prstGeom prst="rect">
              <a:avLst/>
            </a:prstGeom>
            <a:solidFill>
              <a:schemeClr val="accent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6654" name="Line 9"/>
            <p:cNvSpPr>
              <a:spLocks noChangeShapeType="1"/>
            </p:cNvSpPr>
            <p:nvPr/>
          </p:nvSpPr>
          <p:spPr bwMode="auto">
            <a:xfrm flipH="1">
              <a:off x="3456" y="3408"/>
              <a:ext cx="1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sp>
        <p:nvSpPr>
          <p:cNvPr id="26631" name="Text Box 10"/>
          <p:cNvSpPr txBox="1">
            <a:spLocks noChangeArrowheads="1"/>
          </p:cNvSpPr>
          <p:nvPr/>
        </p:nvSpPr>
        <p:spPr bwMode="auto">
          <a:xfrm>
            <a:off x="5543550" y="2133600"/>
            <a:ext cx="3219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Probe Packets to</a:t>
            </a:r>
          </a:p>
          <a:p>
            <a:pPr algn="ctr">
              <a:lnSpc>
                <a:spcPct val="100000"/>
              </a:lnSpc>
              <a:spcBef>
                <a:spcPct val="0"/>
              </a:spcBef>
              <a:buClrTx/>
              <a:buFontTx/>
              <a:buNone/>
            </a:pPr>
            <a:r>
              <a:rPr lang="en-US" altLang="en-US" sz="1800">
                <a:latin typeface="Arial" panose="020B0604020202020204" pitchFamily="34" charset="0"/>
              </a:rPr>
              <a:t>172.16.99.1, 172.16.99.2, etc.</a:t>
            </a:r>
          </a:p>
        </p:txBody>
      </p:sp>
      <p:sp>
        <p:nvSpPr>
          <p:cNvPr id="26632" name="Text Box 11"/>
          <p:cNvSpPr txBox="1">
            <a:spLocks noChangeArrowheads="1"/>
          </p:cNvSpPr>
          <p:nvPr/>
        </p:nvSpPr>
        <p:spPr bwMode="auto">
          <a:xfrm>
            <a:off x="6032500" y="3124200"/>
            <a:ext cx="958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Internet</a:t>
            </a:r>
          </a:p>
        </p:txBody>
      </p:sp>
      <p:sp>
        <p:nvSpPr>
          <p:cNvPr id="26633" name="Text Box 12"/>
          <p:cNvSpPr txBox="1">
            <a:spLocks noChangeArrowheads="1"/>
          </p:cNvSpPr>
          <p:nvPr/>
        </p:nvSpPr>
        <p:spPr bwMode="auto">
          <a:xfrm>
            <a:off x="7623175" y="3748088"/>
            <a:ext cx="1022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Attacker</a:t>
            </a:r>
          </a:p>
        </p:txBody>
      </p:sp>
      <p:sp>
        <p:nvSpPr>
          <p:cNvPr id="26634" name="Text Box 18"/>
          <p:cNvSpPr txBox="1">
            <a:spLocks noChangeArrowheads="1"/>
          </p:cNvSpPr>
          <p:nvPr/>
        </p:nvSpPr>
        <p:spPr bwMode="auto">
          <a:xfrm>
            <a:off x="1371600" y="5334000"/>
            <a:ext cx="2101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FontTx/>
              <a:buNone/>
            </a:pPr>
            <a:r>
              <a:rPr lang="en-US" altLang="en-US" sz="1800">
                <a:latin typeface="Arial" panose="020B0604020202020204" pitchFamily="34" charset="0"/>
              </a:rPr>
              <a:t>Corporate Network</a:t>
            </a:r>
          </a:p>
        </p:txBody>
      </p:sp>
      <p:grpSp>
        <p:nvGrpSpPr>
          <p:cNvPr id="26635" name="Group 20"/>
          <p:cNvGrpSpPr>
            <a:grpSpLocks/>
          </p:cNvGrpSpPr>
          <p:nvPr/>
        </p:nvGrpSpPr>
        <p:grpSpPr bwMode="auto">
          <a:xfrm>
            <a:off x="1657350" y="2971800"/>
            <a:ext cx="838200" cy="304800"/>
            <a:chOff x="1536" y="1872"/>
            <a:chExt cx="528" cy="192"/>
          </a:xfrm>
        </p:grpSpPr>
        <p:sp>
          <p:nvSpPr>
            <p:cNvPr id="26651" name="Rectangle 21"/>
            <p:cNvSpPr>
              <a:spLocks noChangeArrowheads="1"/>
            </p:cNvSpPr>
            <p:nvPr/>
          </p:nvSpPr>
          <p:spPr bwMode="auto">
            <a:xfrm>
              <a:off x="1728" y="1872"/>
              <a:ext cx="336" cy="192"/>
            </a:xfrm>
            <a:prstGeom prst="rect">
              <a:avLst/>
            </a:prstGeom>
            <a:solidFill>
              <a:schemeClr val="accent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6652" name="Line 22"/>
            <p:cNvSpPr>
              <a:spLocks noChangeShapeType="1"/>
            </p:cNvSpPr>
            <p:nvPr/>
          </p:nvSpPr>
          <p:spPr bwMode="auto">
            <a:xfrm flipH="1">
              <a:off x="1536" y="1968"/>
              <a:ext cx="1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sp>
        <p:nvSpPr>
          <p:cNvPr id="26636" name="Line 24"/>
          <p:cNvSpPr>
            <a:spLocks noChangeShapeType="1"/>
          </p:cNvSpPr>
          <p:nvPr/>
        </p:nvSpPr>
        <p:spPr bwMode="auto">
          <a:xfrm flipH="1" flipV="1">
            <a:off x="1428750" y="2514600"/>
            <a:ext cx="30480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637" name="Line 25"/>
          <p:cNvSpPr>
            <a:spLocks noChangeShapeType="1"/>
          </p:cNvSpPr>
          <p:nvPr/>
        </p:nvSpPr>
        <p:spPr bwMode="auto">
          <a:xfrm flipH="1">
            <a:off x="1676400" y="3352800"/>
            <a:ext cx="2800350" cy="955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638" name="Line 30"/>
          <p:cNvSpPr>
            <a:spLocks noChangeShapeType="1"/>
          </p:cNvSpPr>
          <p:nvPr/>
        </p:nvSpPr>
        <p:spPr bwMode="auto">
          <a:xfrm>
            <a:off x="7372350" y="3367088"/>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pic>
        <p:nvPicPr>
          <p:cNvPr id="26639" name="Picture 31" descr="MULTMED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0950" y="2833688"/>
            <a:ext cx="1066800" cy="95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40" name="Picture 13" descr="MACPOWR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038" y="1981200"/>
            <a:ext cx="950912"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41" name="Text Box 14"/>
          <p:cNvSpPr txBox="1">
            <a:spLocks noChangeArrowheads="1"/>
          </p:cNvSpPr>
          <p:nvPr/>
        </p:nvSpPr>
        <p:spPr bwMode="auto">
          <a:xfrm>
            <a:off x="419100" y="2971800"/>
            <a:ext cx="1390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Host</a:t>
            </a:r>
          </a:p>
          <a:p>
            <a:pPr algn="ctr">
              <a:lnSpc>
                <a:spcPct val="100000"/>
              </a:lnSpc>
              <a:spcBef>
                <a:spcPct val="0"/>
              </a:spcBef>
              <a:buClrTx/>
              <a:buFontTx/>
              <a:buNone/>
            </a:pPr>
            <a:r>
              <a:rPr lang="en-US" altLang="en-US" sz="1800">
                <a:latin typeface="Arial" panose="020B0604020202020204" pitchFamily="34" charset="0"/>
              </a:rPr>
              <a:t>172.16.99.1</a:t>
            </a:r>
          </a:p>
        </p:txBody>
      </p:sp>
      <p:sp>
        <p:nvSpPr>
          <p:cNvPr id="26642" name="Text Box 17"/>
          <p:cNvSpPr txBox="1">
            <a:spLocks noChangeArrowheads="1"/>
          </p:cNvSpPr>
          <p:nvPr/>
        </p:nvSpPr>
        <p:spPr bwMode="auto">
          <a:xfrm>
            <a:off x="533400" y="4191000"/>
            <a:ext cx="1390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No Host</a:t>
            </a:r>
          </a:p>
          <a:p>
            <a:pPr algn="ctr">
              <a:lnSpc>
                <a:spcPct val="100000"/>
              </a:lnSpc>
              <a:spcBef>
                <a:spcPct val="0"/>
              </a:spcBef>
              <a:buClrTx/>
              <a:buFontTx/>
              <a:buNone/>
            </a:pPr>
            <a:r>
              <a:rPr lang="en-US" altLang="en-US" sz="1800">
                <a:latin typeface="Arial" panose="020B0604020202020204" pitchFamily="34" charset="0"/>
              </a:rPr>
              <a:t>172.16.99.2</a:t>
            </a:r>
          </a:p>
        </p:txBody>
      </p:sp>
      <p:grpSp>
        <p:nvGrpSpPr>
          <p:cNvPr id="26643" name="Group 33"/>
          <p:cNvGrpSpPr>
            <a:grpSpLocks/>
          </p:cNvGrpSpPr>
          <p:nvPr/>
        </p:nvGrpSpPr>
        <p:grpSpPr bwMode="auto">
          <a:xfrm>
            <a:off x="1905000" y="3962400"/>
            <a:ext cx="838200" cy="304800"/>
            <a:chOff x="1536" y="1872"/>
            <a:chExt cx="528" cy="192"/>
          </a:xfrm>
        </p:grpSpPr>
        <p:sp>
          <p:nvSpPr>
            <p:cNvPr id="26649" name="Rectangle 34"/>
            <p:cNvSpPr>
              <a:spLocks noChangeArrowheads="1"/>
            </p:cNvSpPr>
            <p:nvPr/>
          </p:nvSpPr>
          <p:spPr bwMode="auto">
            <a:xfrm>
              <a:off x="1728" y="1872"/>
              <a:ext cx="336" cy="192"/>
            </a:xfrm>
            <a:prstGeom prst="rect">
              <a:avLst/>
            </a:prstGeom>
            <a:solidFill>
              <a:schemeClr val="accent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6650" name="Line 35"/>
            <p:cNvSpPr>
              <a:spLocks noChangeShapeType="1"/>
            </p:cNvSpPr>
            <p:nvPr/>
          </p:nvSpPr>
          <p:spPr bwMode="auto">
            <a:xfrm flipH="1">
              <a:off x="1536" y="1968"/>
              <a:ext cx="1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sp>
        <p:nvSpPr>
          <p:cNvPr id="26644" name="Rectangle 39"/>
          <p:cNvSpPr>
            <a:spLocks noChangeArrowheads="1"/>
          </p:cNvSpPr>
          <p:nvPr/>
        </p:nvSpPr>
        <p:spPr bwMode="auto">
          <a:xfrm>
            <a:off x="2190750" y="2209800"/>
            <a:ext cx="533400" cy="304800"/>
          </a:xfrm>
          <a:prstGeom prst="rect">
            <a:avLst/>
          </a:prstGeom>
          <a:solidFill>
            <a:schemeClr val="accent2"/>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6645" name="Line 40"/>
          <p:cNvSpPr>
            <a:spLocks noChangeShapeType="1"/>
          </p:cNvSpPr>
          <p:nvPr/>
        </p:nvSpPr>
        <p:spPr bwMode="auto">
          <a:xfrm flipH="1">
            <a:off x="2724150" y="2362200"/>
            <a:ext cx="304800" cy="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GB"/>
          </a:p>
        </p:txBody>
      </p:sp>
      <p:sp>
        <p:nvSpPr>
          <p:cNvPr id="26646" name="Text Box 41"/>
          <p:cNvSpPr txBox="1">
            <a:spLocks noChangeArrowheads="1"/>
          </p:cNvSpPr>
          <p:nvPr/>
        </p:nvSpPr>
        <p:spPr bwMode="auto">
          <a:xfrm>
            <a:off x="2362200" y="4419600"/>
            <a:ext cx="1123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No Reply</a:t>
            </a:r>
          </a:p>
        </p:txBody>
      </p:sp>
      <p:sp>
        <p:nvSpPr>
          <p:cNvPr id="26647" name="Text Box 42"/>
          <p:cNvSpPr txBox="1">
            <a:spLocks noChangeArrowheads="1"/>
          </p:cNvSpPr>
          <p:nvPr/>
        </p:nvSpPr>
        <p:spPr bwMode="auto">
          <a:xfrm>
            <a:off x="2952750" y="2057400"/>
            <a:ext cx="1390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Reply from</a:t>
            </a:r>
            <a:br>
              <a:rPr lang="en-US" altLang="en-US" sz="1800">
                <a:latin typeface="Arial" panose="020B0604020202020204" pitchFamily="34" charset="0"/>
              </a:rPr>
            </a:br>
            <a:r>
              <a:rPr lang="en-US" altLang="en-US" sz="1800">
                <a:latin typeface="Arial" panose="020B0604020202020204" pitchFamily="34" charset="0"/>
              </a:rPr>
              <a:t>172.16.99.1</a:t>
            </a:r>
          </a:p>
        </p:txBody>
      </p:sp>
      <p:sp>
        <p:nvSpPr>
          <p:cNvPr id="26648" name="Text Box 43"/>
          <p:cNvSpPr txBox="1">
            <a:spLocks noChangeArrowheads="1"/>
          </p:cNvSpPr>
          <p:nvPr/>
        </p:nvSpPr>
        <p:spPr bwMode="auto">
          <a:xfrm>
            <a:off x="5334000" y="4343400"/>
            <a:ext cx="33528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15000"/>
              </a:spcBef>
              <a:buClrTx/>
              <a:buFontTx/>
              <a:buNone/>
            </a:pPr>
            <a:r>
              <a:rPr lang="en-US" altLang="en-US" sz="1800">
                <a:latin typeface="Arial" panose="020B0604020202020204" pitchFamily="34" charset="0"/>
              </a:rPr>
              <a:t>Results</a:t>
            </a:r>
          </a:p>
          <a:p>
            <a:pPr>
              <a:lnSpc>
                <a:spcPct val="100000"/>
              </a:lnSpc>
              <a:spcBef>
                <a:spcPct val="15000"/>
              </a:spcBef>
              <a:buClrTx/>
              <a:buFontTx/>
              <a:buNone/>
            </a:pPr>
            <a:r>
              <a:rPr lang="en-US" altLang="en-US" sz="1800">
                <a:latin typeface="Arial" panose="020B0604020202020204" pitchFamily="34" charset="0"/>
              </a:rPr>
              <a:t>172.16.99.1 is reachable</a:t>
            </a:r>
          </a:p>
          <a:p>
            <a:pPr>
              <a:lnSpc>
                <a:spcPct val="100000"/>
              </a:lnSpc>
              <a:spcBef>
                <a:spcPct val="15000"/>
              </a:spcBef>
              <a:buClrTx/>
              <a:buFontTx/>
              <a:buNone/>
            </a:pPr>
            <a:r>
              <a:rPr lang="en-US" altLang="en-US" sz="1800">
                <a:latin typeface="Arial" panose="020B0604020202020204" pitchFamily="34" charset="0"/>
              </a:rPr>
              <a:t>172.16.99.2 is not reachable</a:t>
            </a:r>
          </a:p>
          <a:p>
            <a:pPr>
              <a:lnSpc>
                <a:spcPct val="100000"/>
              </a:lnSpc>
              <a:spcBef>
                <a:spcPct val="15000"/>
              </a:spcBef>
              <a:buClrTx/>
              <a:buFontTx/>
              <a:buNone/>
            </a:pPr>
            <a:r>
              <a:rPr lang="en-US" altLang="en-US" sz="1800">
                <a:latin typeface="Arial" panose="020B0604020202020204" pitchFamily="34" charset="0"/>
              </a:rPr>
              <a:t>…</a:t>
            </a:r>
          </a:p>
        </p:txBody>
      </p:sp>
    </p:spTree>
    <p:extLst>
      <p:ext uri="{BB962C8B-B14F-4D97-AF65-F5344CB8AC3E}">
        <p14:creationId xmlns:p14="http://schemas.microsoft.com/office/powerpoint/2010/main" val="3659334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fontAlgn="auto" hangingPunct="1">
              <a:spcAft>
                <a:spcPts val="0"/>
              </a:spcAft>
              <a:defRPr/>
            </a:pPr>
            <a:r>
              <a:rPr lang="en-US" altLang="en-US" smtClean="0"/>
              <a:t>Denial-of-Service (DoS) Flooding Attack</a:t>
            </a:r>
          </a:p>
        </p:txBody>
      </p:sp>
      <p:pic>
        <p:nvPicPr>
          <p:cNvPr id="27651" name="Picture 4" descr="MULTMED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6600" y="2493963"/>
            <a:ext cx="1447800" cy="129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2" name="Picture 5" descr="FILSERV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362200"/>
            <a:ext cx="7937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Line 6"/>
          <p:cNvSpPr>
            <a:spLocks noChangeShapeType="1"/>
          </p:cNvSpPr>
          <p:nvPr/>
        </p:nvSpPr>
        <p:spPr bwMode="auto">
          <a:xfrm flipH="1">
            <a:off x="1981200" y="3276600"/>
            <a:ext cx="49530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7654" name="Rectangle 7"/>
          <p:cNvSpPr>
            <a:spLocks noChangeArrowheads="1"/>
          </p:cNvSpPr>
          <p:nvPr/>
        </p:nvSpPr>
        <p:spPr bwMode="auto">
          <a:xfrm>
            <a:off x="3581400" y="3124200"/>
            <a:ext cx="838200" cy="304800"/>
          </a:xfrm>
          <a:prstGeom prst="rect">
            <a:avLst/>
          </a:prstGeom>
          <a:solidFill>
            <a:schemeClr val="accent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7655" name="Text Box 8"/>
          <p:cNvSpPr txBox="1">
            <a:spLocks noChangeArrowheads="1"/>
          </p:cNvSpPr>
          <p:nvPr/>
        </p:nvSpPr>
        <p:spPr bwMode="auto">
          <a:xfrm>
            <a:off x="3549650" y="2605088"/>
            <a:ext cx="180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 Message Flood</a:t>
            </a:r>
          </a:p>
        </p:txBody>
      </p:sp>
      <p:sp>
        <p:nvSpPr>
          <p:cNvPr id="27656" name="Text Box 9"/>
          <p:cNvSpPr txBox="1">
            <a:spLocks noChangeArrowheads="1"/>
          </p:cNvSpPr>
          <p:nvPr/>
        </p:nvSpPr>
        <p:spPr bwMode="auto">
          <a:xfrm>
            <a:off x="381000" y="3733800"/>
            <a:ext cx="17462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 Server</a:t>
            </a:r>
          </a:p>
          <a:p>
            <a:pPr algn="ctr">
              <a:lnSpc>
                <a:spcPct val="100000"/>
              </a:lnSpc>
              <a:spcBef>
                <a:spcPct val="0"/>
              </a:spcBef>
              <a:buClrTx/>
              <a:buFontTx/>
              <a:buNone/>
            </a:pPr>
            <a:r>
              <a:rPr lang="en-US" altLang="en-US" sz="1800">
                <a:latin typeface="Arial" panose="020B0604020202020204" pitchFamily="34" charset="0"/>
              </a:rPr>
              <a:t>Overloaded By</a:t>
            </a:r>
          </a:p>
          <a:p>
            <a:pPr algn="ctr">
              <a:lnSpc>
                <a:spcPct val="100000"/>
              </a:lnSpc>
              <a:spcBef>
                <a:spcPct val="0"/>
              </a:spcBef>
              <a:buClrTx/>
              <a:buFontTx/>
              <a:buNone/>
            </a:pPr>
            <a:r>
              <a:rPr lang="en-US" altLang="en-US" sz="1800">
                <a:latin typeface="Arial" panose="020B0604020202020204" pitchFamily="34" charset="0"/>
              </a:rPr>
              <a:t>Message Flood</a:t>
            </a:r>
          </a:p>
        </p:txBody>
      </p:sp>
      <p:sp>
        <p:nvSpPr>
          <p:cNvPr id="27657" name="Text Box 10"/>
          <p:cNvSpPr txBox="1">
            <a:spLocks noChangeArrowheads="1"/>
          </p:cNvSpPr>
          <p:nvPr/>
        </p:nvSpPr>
        <p:spPr bwMode="auto">
          <a:xfrm>
            <a:off x="7391400" y="3886200"/>
            <a:ext cx="1022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Attacker</a:t>
            </a:r>
          </a:p>
        </p:txBody>
      </p:sp>
      <p:sp>
        <p:nvSpPr>
          <p:cNvPr id="27658" name="Rectangle 11"/>
          <p:cNvSpPr>
            <a:spLocks noChangeArrowheads="1"/>
          </p:cNvSpPr>
          <p:nvPr/>
        </p:nvSpPr>
        <p:spPr bwMode="auto">
          <a:xfrm>
            <a:off x="2514600" y="3124200"/>
            <a:ext cx="838200" cy="304800"/>
          </a:xfrm>
          <a:prstGeom prst="rect">
            <a:avLst/>
          </a:prstGeom>
          <a:solidFill>
            <a:schemeClr val="accent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7659" name="Rectangle 12"/>
          <p:cNvSpPr>
            <a:spLocks noChangeArrowheads="1"/>
          </p:cNvSpPr>
          <p:nvPr/>
        </p:nvSpPr>
        <p:spPr bwMode="auto">
          <a:xfrm>
            <a:off x="4648200" y="3124200"/>
            <a:ext cx="838200" cy="304800"/>
          </a:xfrm>
          <a:prstGeom prst="rect">
            <a:avLst/>
          </a:prstGeom>
          <a:solidFill>
            <a:schemeClr val="accent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7660" name="Rectangle 13"/>
          <p:cNvSpPr>
            <a:spLocks noChangeArrowheads="1"/>
          </p:cNvSpPr>
          <p:nvPr/>
        </p:nvSpPr>
        <p:spPr bwMode="auto">
          <a:xfrm>
            <a:off x="5715000" y="3124200"/>
            <a:ext cx="838200" cy="304800"/>
          </a:xfrm>
          <a:prstGeom prst="rect">
            <a:avLst/>
          </a:prstGeom>
          <a:solidFill>
            <a:schemeClr val="accent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Tree>
    <p:extLst>
      <p:ext uri="{BB962C8B-B14F-4D97-AF65-F5344CB8AC3E}">
        <p14:creationId xmlns:p14="http://schemas.microsoft.com/office/powerpoint/2010/main" val="20550963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Line 2"/>
          <p:cNvSpPr>
            <a:spLocks noChangeShapeType="1"/>
          </p:cNvSpPr>
          <p:nvPr/>
        </p:nvSpPr>
        <p:spPr bwMode="auto">
          <a:xfrm>
            <a:off x="4419600" y="3367088"/>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3315" name="Rectangle 3"/>
          <p:cNvSpPr>
            <a:spLocks noGrp="1" noChangeArrowheads="1"/>
          </p:cNvSpPr>
          <p:nvPr>
            <p:ph type="title"/>
          </p:nvPr>
        </p:nvSpPr>
        <p:spPr/>
        <p:txBody>
          <a:bodyPr/>
          <a:lstStyle/>
          <a:p>
            <a:pPr eaLnBrk="1" fontAlgn="auto" hangingPunct="1">
              <a:spcAft>
                <a:spcPts val="0"/>
              </a:spcAft>
              <a:defRPr/>
            </a:pPr>
            <a:r>
              <a:rPr lang="en-US" altLang="en-US" dirty="0" smtClean="0"/>
              <a:t>Network Penetration Attacks</a:t>
            </a:r>
          </a:p>
        </p:txBody>
      </p:sp>
      <p:sp>
        <p:nvSpPr>
          <p:cNvPr id="28676" name="Rectangle 4"/>
          <p:cNvSpPr>
            <a:spLocks noChangeArrowheads="1"/>
          </p:cNvSpPr>
          <p:nvPr/>
        </p:nvSpPr>
        <p:spPr bwMode="auto">
          <a:xfrm>
            <a:off x="381000" y="1905000"/>
            <a:ext cx="4038600" cy="4419600"/>
          </a:xfrm>
          <a:prstGeom prst="rect">
            <a:avLst/>
          </a:prstGeom>
          <a:solidFill>
            <a:schemeClr val="bg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pic>
        <p:nvPicPr>
          <p:cNvPr id="28677" name="Picture 5" descr="PD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2986088"/>
            <a:ext cx="16764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8678" name="Group 6"/>
          <p:cNvGrpSpPr>
            <a:grpSpLocks/>
          </p:cNvGrpSpPr>
          <p:nvPr/>
        </p:nvGrpSpPr>
        <p:grpSpPr bwMode="auto">
          <a:xfrm>
            <a:off x="6553200" y="2909888"/>
            <a:ext cx="838200" cy="304800"/>
            <a:chOff x="3456" y="3312"/>
            <a:chExt cx="528" cy="192"/>
          </a:xfrm>
        </p:grpSpPr>
        <p:sp>
          <p:nvSpPr>
            <p:cNvPr id="28706" name="Rectangle 7"/>
            <p:cNvSpPr>
              <a:spLocks noChangeArrowheads="1"/>
            </p:cNvSpPr>
            <p:nvPr/>
          </p:nvSpPr>
          <p:spPr bwMode="auto">
            <a:xfrm>
              <a:off x="3648" y="3312"/>
              <a:ext cx="336" cy="192"/>
            </a:xfrm>
            <a:prstGeom prst="rect">
              <a:avLst/>
            </a:prstGeom>
            <a:solidFill>
              <a:schemeClr val="accent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8707" name="Line 8"/>
            <p:cNvSpPr>
              <a:spLocks noChangeShapeType="1"/>
            </p:cNvSpPr>
            <p:nvPr/>
          </p:nvSpPr>
          <p:spPr bwMode="auto">
            <a:xfrm flipH="1">
              <a:off x="3456" y="3408"/>
              <a:ext cx="1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sp>
        <p:nvSpPr>
          <p:cNvPr id="28679" name="Text Box 9"/>
          <p:cNvSpPr txBox="1">
            <a:spLocks noChangeArrowheads="1"/>
          </p:cNvSpPr>
          <p:nvPr/>
        </p:nvSpPr>
        <p:spPr bwMode="auto">
          <a:xfrm>
            <a:off x="6737350" y="2224088"/>
            <a:ext cx="882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Attack</a:t>
            </a:r>
          </a:p>
          <a:p>
            <a:pPr algn="ctr">
              <a:lnSpc>
                <a:spcPct val="100000"/>
              </a:lnSpc>
              <a:spcBef>
                <a:spcPct val="0"/>
              </a:spcBef>
              <a:buClrTx/>
              <a:buFontTx/>
              <a:buNone/>
            </a:pPr>
            <a:r>
              <a:rPr lang="en-US" altLang="en-US" sz="1800">
                <a:latin typeface="Arial" panose="020B0604020202020204" pitchFamily="34" charset="0"/>
              </a:rPr>
              <a:t>Packet</a:t>
            </a:r>
          </a:p>
        </p:txBody>
      </p:sp>
      <p:sp>
        <p:nvSpPr>
          <p:cNvPr id="28680" name="Text Box 10"/>
          <p:cNvSpPr txBox="1">
            <a:spLocks noChangeArrowheads="1"/>
          </p:cNvSpPr>
          <p:nvPr/>
        </p:nvSpPr>
        <p:spPr bwMode="auto">
          <a:xfrm>
            <a:off x="5975350" y="3290888"/>
            <a:ext cx="958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Internet</a:t>
            </a:r>
          </a:p>
        </p:txBody>
      </p:sp>
      <p:sp>
        <p:nvSpPr>
          <p:cNvPr id="28681" name="Text Box 11"/>
          <p:cNvSpPr txBox="1">
            <a:spLocks noChangeArrowheads="1"/>
          </p:cNvSpPr>
          <p:nvPr/>
        </p:nvSpPr>
        <p:spPr bwMode="auto">
          <a:xfrm>
            <a:off x="7566025" y="3748088"/>
            <a:ext cx="1022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Attacker</a:t>
            </a:r>
          </a:p>
        </p:txBody>
      </p:sp>
      <p:pic>
        <p:nvPicPr>
          <p:cNvPr id="28682" name="Picture 12" descr="MACPOWR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538" y="1981200"/>
            <a:ext cx="950912"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3" name="Text Box 13"/>
          <p:cNvSpPr txBox="1">
            <a:spLocks noChangeArrowheads="1"/>
          </p:cNvSpPr>
          <p:nvPr/>
        </p:nvSpPr>
        <p:spPr bwMode="auto">
          <a:xfrm>
            <a:off x="457200" y="2971800"/>
            <a:ext cx="1187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Hardened</a:t>
            </a:r>
          </a:p>
          <a:p>
            <a:pPr algn="ctr">
              <a:lnSpc>
                <a:spcPct val="100000"/>
              </a:lnSpc>
              <a:spcBef>
                <a:spcPct val="0"/>
              </a:spcBef>
              <a:buClrTx/>
              <a:buFontTx/>
              <a:buNone/>
            </a:pPr>
            <a:r>
              <a:rPr lang="en-US" altLang="en-US" sz="1800">
                <a:latin typeface="Arial" panose="020B0604020202020204" pitchFamily="34" charset="0"/>
              </a:rPr>
              <a:t>Client PC</a:t>
            </a:r>
          </a:p>
        </p:txBody>
      </p:sp>
      <p:grpSp>
        <p:nvGrpSpPr>
          <p:cNvPr id="28684" name="Group 14"/>
          <p:cNvGrpSpPr>
            <a:grpSpLocks/>
          </p:cNvGrpSpPr>
          <p:nvPr/>
        </p:nvGrpSpPr>
        <p:grpSpPr bwMode="auto">
          <a:xfrm>
            <a:off x="381000" y="4144963"/>
            <a:ext cx="1187450" cy="1722437"/>
            <a:chOff x="336" y="2832"/>
            <a:chExt cx="748" cy="1085"/>
          </a:xfrm>
        </p:grpSpPr>
        <p:pic>
          <p:nvPicPr>
            <p:cNvPr id="28704" name="Picture 15" descr="FILSERVI"/>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 y="2832"/>
              <a:ext cx="416"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05" name="Text Box 16"/>
            <p:cNvSpPr txBox="1">
              <a:spLocks noChangeArrowheads="1"/>
            </p:cNvSpPr>
            <p:nvPr/>
          </p:nvSpPr>
          <p:spPr bwMode="auto">
            <a:xfrm>
              <a:off x="336" y="3513"/>
              <a:ext cx="74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Hardened</a:t>
              </a:r>
            </a:p>
            <a:p>
              <a:pPr algn="ctr">
                <a:lnSpc>
                  <a:spcPct val="100000"/>
                </a:lnSpc>
                <a:spcBef>
                  <a:spcPct val="0"/>
                </a:spcBef>
                <a:buClrTx/>
                <a:buFontTx/>
                <a:buNone/>
              </a:pPr>
              <a:r>
                <a:rPr lang="en-US" altLang="en-US" sz="1800">
                  <a:latin typeface="Arial" panose="020B0604020202020204" pitchFamily="34" charset="0"/>
                </a:rPr>
                <a:t>Server</a:t>
              </a:r>
            </a:p>
          </p:txBody>
        </p:sp>
      </p:grpSp>
      <p:sp>
        <p:nvSpPr>
          <p:cNvPr id="28685" name="Text Box 17"/>
          <p:cNvSpPr txBox="1">
            <a:spLocks noChangeArrowheads="1"/>
          </p:cNvSpPr>
          <p:nvPr/>
        </p:nvSpPr>
        <p:spPr bwMode="auto">
          <a:xfrm>
            <a:off x="4429125" y="5484813"/>
            <a:ext cx="120015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nSpc>
                <a:spcPct val="100000"/>
              </a:lnSpc>
              <a:spcBef>
                <a:spcPct val="0"/>
              </a:spcBef>
              <a:buClrTx/>
              <a:buFontTx/>
              <a:buNone/>
            </a:pPr>
            <a:r>
              <a:rPr lang="en-US" altLang="en-US" sz="1800">
                <a:latin typeface="Arial" panose="020B0604020202020204" pitchFamily="34" charset="0"/>
              </a:rPr>
              <a:t>Internal</a:t>
            </a:r>
          </a:p>
          <a:p>
            <a:pPr>
              <a:lnSpc>
                <a:spcPct val="100000"/>
              </a:lnSpc>
              <a:spcBef>
                <a:spcPct val="0"/>
              </a:spcBef>
              <a:buClrTx/>
              <a:buFontTx/>
              <a:buNone/>
            </a:pPr>
            <a:r>
              <a:rPr lang="en-US" altLang="en-US" sz="1800">
                <a:latin typeface="Arial" panose="020B0604020202020204" pitchFamily="34" charset="0"/>
              </a:rPr>
              <a:t>Corporate</a:t>
            </a:r>
          </a:p>
          <a:p>
            <a:pPr>
              <a:lnSpc>
                <a:spcPct val="100000"/>
              </a:lnSpc>
              <a:spcBef>
                <a:spcPct val="0"/>
              </a:spcBef>
              <a:buClrTx/>
              <a:buFontTx/>
              <a:buNone/>
            </a:pPr>
            <a:r>
              <a:rPr lang="en-US" altLang="en-US" sz="1800">
                <a:latin typeface="Arial" panose="020B0604020202020204" pitchFamily="34" charset="0"/>
              </a:rPr>
              <a:t>Network</a:t>
            </a:r>
          </a:p>
        </p:txBody>
      </p:sp>
      <p:grpSp>
        <p:nvGrpSpPr>
          <p:cNvPr id="28686" name="Group 18"/>
          <p:cNvGrpSpPr>
            <a:grpSpLocks/>
          </p:cNvGrpSpPr>
          <p:nvPr/>
        </p:nvGrpSpPr>
        <p:grpSpPr bwMode="auto">
          <a:xfrm>
            <a:off x="2209800" y="2133600"/>
            <a:ext cx="1708150" cy="685800"/>
            <a:chOff x="1392" y="1632"/>
            <a:chExt cx="1076" cy="432"/>
          </a:xfrm>
        </p:grpSpPr>
        <p:grpSp>
          <p:nvGrpSpPr>
            <p:cNvPr id="28700" name="Group 19"/>
            <p:cNvGrpSpPr>
              <a:grpSpLocks/>
            </p:cNvGrpSpPr>
            <p:nvPr/>
          </p:nvGrpSpPr>
          <p:grpSpPr bwMode="auto">
            <a:xfrm>
              <a:off x="1666" y="1872"/>
              <a:ext cx="528" cy="192"/>
              <a:chOff x="1536" y="1872"/>
              <a:chExt cx="528" cy="192"/>
            </a:xfrm>
          </p:grpSpPr>
          <p:sp>
            <p:nvSpPr>
              <p:cNvPr id="28702" name="Rectangle 20"/>
              <p:cNvSpPr>
                <a:spLocks noChangeArrowheads="1"/>
              </p:cNvSpPr>
              <p:nvPr/>
            </p:nvSpPr>
            <p:spPr bwMode="auto">
              <a:xfrm>
                <a:off x="1728" y="1872"/>
                <a:ext cx="336" cy="192"/>
              </a:xfrm>
              <a:prstGeom prst="rect">
                <a:avLst/>
              </a:prstGeom>
              <a:solidFill>
                <a:schemeClr val="accent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8703" name="Line 21"/>
              <p:cNvSpPr>
                <a:spLocks noChangeShapeType="1"/>
              </p:cNvSpPr>
              <p:nvPr/>
            </p:nvSpPr>
            <p:spPr bwMode="auto">
              <a:xfrm flipH="1">
                <a:off x="1536" y="1968"/>
                <a:ext cx="1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sp>
          <p:nvSpPr>
            <p:cNvPr id="28701" name="Text Box 22"/>
            <p:cNvSpPr txBox="1">
              <a:spLocks noChangeArrowheads="1"/>
            </p:cNvSpPr>
            <p:nvPr/>
          </p:nvSpPr>
          <p:spPr bwMode="auto">
            <a:xfrm>
              <a:off x="1392" y="1632"/>
              <a:ext cx="10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Passed Packet</a:t>
              </a:r>
            </a:p>
          </p:txBody>
        </p:sp>
      </p:grpSp>
      <p:sp>
        <p:nvSpPr>
          <p:cNvPr id="28687" name="Line 23"/>
          <p:cNvSpPr>
            <a:spLocks noChangeShapeType="1"/>
          </p:cNvSpPr>
          <p:nvPr/>
        </p:nvSpPr>
        <p:spPr bwMode="auto">
          <a:xfrm flipH="1" flipV="1">
            <a:off x="1371600" y="2514600"/>
            <a:ext cx="30480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8688" name="Line 24"/>
          <p:cNvSpPr>
            <a:spLocks noChangeShapeType="1"/>
          </p:cNvSpPr>
          <p:nvPr/>
        </p:nvSpPr>
        <p:spPr bwMode="auto">
          <a:xfrm flipH="1">
            <a:off x="1295400" y="3429000"/>
            <a:ext cx="31242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nvGrpSpPr>
          <p:cNvPr id="28689" name="Group 25"/>
          <p:cNvGrpSpPr>
            <a:grpSpLocks/>
          </p:cNvGrpSpPr>
          <p:nvPr/>
        </p:nvGrpSpPr>
        <p:grpSpPr bwMode="auto">
          <a:xfrm>
            <a:off x="2590800" y="4159250"/>
            <a:ext cx="1060450" cy="946150"/>
            <a:chOff x="2016" y="2812"/>
            <a:chExt cx="668" cy="596"/>
          </a:xfrm>
        </p:grpSpPr>
        <p:sp>
          <p:nvSpPr>
            <p:cNvPr id="28698" name="Rectangle 26"/>
            <p:cNvSpPr>
              <a:spLocks noChangeArrowheads="1"/>
            </p:cNvSpPr>
            <p:nvPr/>
          </p:nvSpPr>
          <p:spPr bwMode="auto">
            <a:xfrm>
              <a:off x="2182" y="2812"/>
              <a:ext cx="336" cy="192"/>
            </a:xfrm>
            <a:prstGeom prst="rect">
              <a:avLst/>
            </a:prstGeom>
            <a:solidFill>
              <a:schemeClr val="accent1"/>
            </a:solidFill>
            <a:ln w="9525">
              <a:solidFill>
                <a:schemeClr val="tx1"/>
              </a:solidFill>
              <a:miter lim="800000"/>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endParaRPr lang="en-GB" altLang="en-US" sz="1800">
                <a:latin typeface="Arial" panose="020B0604020202020204" pitchFamily="34" charset="0"/>
              </a:endParaRPr>
            </a:p>
          </p:txBody>
        </p:sp>
        <p:sp>
          <p:nvSpPr>
            <p:cNvPr id="28699" name="Text Box 27"/>
            <p:cNvSpPr txBox="1">
              <a:spLocks noChangeArrowheads="1"/>
            </p:cNvSpPr>
            <p:nvPr/>
          </p:nvSpPr>
          <p:spPr bwMode="auto">
            <a:xfrm>
              <a:off x="2016" y="3004"/>
              <a:ext cx="6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Dropped</a:t>
              </a:r>
            </a:p>
            <a:p>
              <a:pPr algn="ctr">
                <a:lnSpc>
                  <a:spcPct val="100000"/>
                </a:lnSpc>
                <a:spcBef>
                  <a:spcPct val="0"/>
                </a:spcBef>
                <a:buClrTx/>
                <a:buFontTx/>
                <a:buNone/>
              </a:pPr>
              <a:r>
                <a:rPr lang="en-US" altLang="en-US" sz="1800">
                  <a:latin typeface="Arial" panose="020B0604020202020204" pitchFamily="34" charset="0"/>
                </a:rPr>
                <a:t>Packet</a:t>
              </a:r>
            </a:p>
          </p:txBody>
        </p:sp>
      </p:grpSp>
      <p:sp>
        <p:nvSpPr>
          <p:cNvPr id="28690" name="Line 28"/>
          <p:cNvSpPr>
            <a:spLocks noChangeShapeType="1"/>
          </p:cNvSpPr>
          <p:nvPr/>
        </p:nvSpPr>
        <p:spPr bwMode="auto">
          <a:xfrm>
            <a:off x="3124200" y="3657600"/>
            <a:ext cx="0" cy="4254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8691" name="Line 29"/>
          <p:cNvSpPr>
            <a:spLocks noChangeShapeType="1"/>
          </p:cNvSpPr>
          <p:nvPr/>
        </p:nvSpPr>
        <p:spPr bwMode="auto">
          <a:xfrm>
            <a:off x="7315200" y="3367088"/>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pic>
        <p:nvPicPr>
          <p:cNvPr id="28692" name="Picture 30" descr="MULTMEDI"/>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3800" y="2833688"/>
            <a:ext cx="1066800" cy="95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93" name="Line 31"/>
          <p:cNvSpPr>
            <a:spLocks noChangeShapeType="1"/>
          </p:cNvSpPr>
          <p:nvPr/>
        </p:nvSpPr>
        <p:spPr bwMode="auto">
          <a:xfrm>
            <a:off x="3124200" y="36576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aphicFrame>
        <p:nvGraphicFramePr>
          <p:cNvPr id="28694" name="Object 32"/>
          <p:cNvGraphicFramePr>
            <a:graphicFrameLocks noChangeAspect="1"/>
          </p:cNvGraphicFramePr>
          <p:nvPr/>
        </p:nvGraphicFramePr>
        <p:xfrm>
          <a:off x="3810000" y="2590800"/>
          <a:ext cx="1173163" cy="1524000"/>
        </p:xfrm>
        <a:graphic>
          <a:graphicData uri="http://schemas.openxmlformats.org/presentationml/2006/ole">
            <mc:AlternateContent xmlns:mc="http://schemas.openxmlformats.org/markup-compatibility/2006">
              <mc:Choice xmlns:v="urn:schemas-microsoft-com:vml" Requires="v">
                <p:oleObj spid="_x0000_s1026" name="VISIO" r:id="rId7" imgW="1045464" imgH="1353312" progId="Visio.Drawing.6">
                  <p:embed/>
                </p:oleObj>
              </mc:Choice>
              <mc:Fallback>
                <p:oleObj name="VISIO" r:id="rId7" imgW="1045464" imgH="1353312"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0" y="2590800"/>
                        <a:ext cx="1173163"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95" name="Text Box 33"/>
          <p:cNvSpPr txBox="1">
            <a:spLocks noChangeArrowheads="1"/>
          </p:cNvSpPr>
          <p:nvPr/>
        </p:nvSpPr>
        <p:spPr bwMode="auto">
          <a:xfrm>
            <a:off x="4648200" y="2406650"/>
            <a:ext cx="971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Internet</a:t>
            </a:r>
          </a:p>
          <a:p>
            <a:pPr algn="ctr">
              <a:lnSpc>
                <a:spcPct val="100000"/>
              </a:lnSpc>
              <a:spcBef>
                <a:spcPct val="0"/>
              </a:spcBef>
              <a:buClrTx/>
              <a:buFontTx/>
              <a:buNone/>
            </a:pPr>
            <a:r>
              <a:rPr lang="en-US" altLang="en-US" sz="1800">
                <a:latin typeface="Arial" panose="020B0604020202020204" pitchFamily="34" charset="0"/>
              </a:rPr>
              <a:t>Firewall</a:t>
            </a:r>
          </a:p>
        </p:txBody>
      </p:sp>
      <p:pic>
        <p:nvPicPr>
          <p:cNvPr id="28696" name="Picture 34" descr="DATWAREI"/>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67000" y="5105400"/>
            <a:ext cx="91281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97" name="Text Box 35"/>
          <p:cNvSpPr txBox="1">
            <a:spLocks noChangeArrowheads="1"/>
          </p:cNvSpPr>
          <p:nvPr/>
        </p:nvSpPr>
        <p:spPr bwMode="auto">
          <a:xfrm>
            <a:off x="2590800" y="5715000"/>
            <a:ext cx="996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algn="ctr">
              <a:lnSpc>
                <a:spcPct val="100000"/>
              </a:lnSpc>
              <a:spcBef>
                <a:spcPct val="0"/>
              </a:spcBef>
              <a:buClrTx/>
              <a:buFontTx/>
              <a:buNone/>
            </a:pPr>
            <a:r>
              <a:rPr lang="en-US" altLang="en-US" sz="1800">
                <a:latin typeface="Arial" panose="020B0604020202020204" pitchFamily="34" charset="0"/>
              </a:rPr>
              <a:t>Log File</a:t>
            </a:r>
          </a:p>
        </p:txBody>
      </p:sp>
    </p:spTree>
    <p:extLst>
      <p:ext uri="{BB962C8B-B14F-4D97-AF65-F5344CB8AC3E}">
        <p14:creationId xmlns:p14="http://schemas.microsoft.com/office/powerpoint/2010/main" val="34930971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47864" y="1340768"/>
            <a:ext cx="1976760" cy="523220"/>
          </a:xfrm>
          <a:prstGeom prst="rect">
            <a:avLst/>
          </a:prstGeom>
        </p:spPr>
        <p:txBody>
          <a:bodyPr wrap="none">
            <a:spAutoFit/>
          </a:bodyPr>
          <a:lstStyle/>
          <a:p>
            <a:r>
              <a:rPr lang="en-US" altLang="en-US" dirty="0" smtClean="0"/>
              <a:t>Part Three </a:t>
            </a:r>
            <a:endParaRPr lang="en-GB" dirty="0"/>
          </a:p>
        </p:txBody>
      </p:sp>
    </p:spTree>
    <p:extLst>
      <p:ext uri="{BB962C8B-B14F-4D97-AF65-F5344CB8AC3E}">
        <p14:creationId xmlns:p14="http://schemas.microsoft.com/office/powerpoint/2010/main" val="392620639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398463" y="609600"/>
            <a:ext cx="8077200" cy="1600200"/>
          </a:xfrm>
        </p:spPr>
        <p:txBody>
          <a:bodyPr/>
          <a:lstStyle/>
          <a:p>
            <a:pPr algn="ctr"/>
            <a:r>
              <a:rPr lang="en-US" altLang="en-US" sz="3200" u="sng" dirty="0" smtClean="0"/>
              <a:t>Challenges</a:t>
            </a:r>
          </a:p>
        </p:txBody>
      </p:sp>
      <p:sp>
        <p:nvSpPr>
          <p:cNvPr id="4099" name="Content Placeholder 2"/>
          <p:cNvSpPr>
            <a:spLocks noGrp="1"/>
          </p:cNvSpPr>
          <p:nvPr>
            <p:ph idx="1"/>
          </p:nvPr>
        </p:nvSpPr>
        <p:spPr>
          <a:xfrm>
            <a:off x="533400" y="2819400"/>
            <a:ext cx="8077200" cy="4572000"/>
          </a:xfrm>
        </p:spPr>
        <p:txBody>
          <a:bodyPr/>
          <a:lstStyle/>
          <a:p>
            <a:r>
              <a:rPr lang="en-US" altLang="en-US" dirty="0" smtClean="0"/>
              <a:t>No single simple solution to protecting the It Infrastructure </a:t>
            </a:r>
          </a:p>
          <a:p>
            <a:r>
              <a:rPr lang="en-US" altLang="en-US" dirty="0" smtClean="0"/>
              <a:t>Different types of attacks </a:t>
            </a:r>
          </a:p>
          <a:p>
            <a:r>
              <a:rPr lang="en-US" altLang="en-US" dirty="0" smtClean="0"/>
              <a:t>Difficulties in defending against these attacks</a:t>
            </a:r>
          </a:p>
        </p:txBody>
      </p:sp>
      <p:sp>
        <p:nvSpPr>
          <p:cNvPr id="4100" name="Slide Number Placeholder 4"/>
          <p:cNvSpPr>
            <a:spLocks noGrp="1"/>
          </p:cNvSpPr>
          <p:nvPr>
            <p:ph type="sldNum" sz="quarter" idx="4294967295"/>
          </p:nvPr>
        </p:nvSpPr>
        <p:spPr>
          <a:xfrm>
            <a:off x="6457950" y="6356351"/>
            <a:ext cx="20574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8BE2EF9-AFD8-4EA8-8A8F-4D7EFAFB6E7D}" type="slidenum">
              <a:rPr lang="en-US" altLang="en-US" sz="1400" smtClean="0"/>
              <a:pPr>
                <a:spcBef>
                  <a:spcPct val="0"/>
                </a:spcBef>
                <a:buFontTx/>
                <a:buNone/>
              </a:pPr>
              <a:t>37</a:t>
            </a:fld>
            <a:endParaRPr lang="en-US" altLang="en-US" sz="1400" smtClean="0"/>
          </a:p>
        </p:txBody>
      </p:sp>
    </p:spTree>
    <p:extLst>
      <p:ext uri="{BB962C8B-B14F-4D97-AF65-F5344CB8AC3E}">
        <p14:creationId xmlns:p14="http://schemas.microsoft.com/office/powerpoint/2010/main" val="490913855"/>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en-US" smtClean="0"/>
              <a:t>Today’s Security Attacks</a:t>
            </a:r>
          </a:p>
        </p:txBody>
      </p:sp>
      <p:sp>
        <p:nvSpPr>
          <p:cNvPr id="5123" name="Content Placeholder 2"/>
          <p:cNvSpPr>
            <a:spLocks noGrp="1"/>
          </p:cNvSpPr>
          <p:nvPr>
            <p:ph idx="1"/>
          </p:nvPr>
        </p:nvSpPr>
        <p:spPr/>
        <p:txBody>
          <a:bodyPr/>
          <a:lstStyle/>
          <a:p>
            <a:r>
              <a:rPr lang="en-US" altLang="en-US" dirty="0" smtClean="0"/>
              <a:t>Refer to your own list!</a:t>
            </a:r>
          </a:p>
        </p:txBody>
      </p:sp>
      <p:sp>
        <p:nvSpPr>
          <p:cNvPr id="5124" name="Slide Number Placeholder 4"/>
          <p:cNvSpPr>
            <a:spLocks noGrp="1"/>
          </p:cNvSpPr>
          <p:nvPr>
            <p:ph type="sldNum" sz="quarter" idx="4294967295"/>
          </p:nvPr>
        </p:nvSpPr>
        <p:spPr>
          <a:xfrm>
            <a:off x="6457950" y="6356351"/>
            <a:ext cx="20574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A05F91E-4EA9-4C29-83ED-F97D6AA9B33C}" type="slidenum">
              <a:rPr lang="en-US" altLang="en-US" sz="1400" smtClean="0"/>
              <a:pPr>
                <a:spcBef>
                  <a:spcPct val="0"/>
                </a:spcBef>
                <a:buFontTx/>
                <a:buNone/>
              </a:pPr>
              <a:t>38</a:t>
            </a:fld>
            <a:endParaRPr lang="en-US" altLang="en-US" sz="1400" smtClean="0"/>
          </a:p>
        </p:txBody>
      </p:sp>
    </p:spTree>
    <p:extLst>
      <p:ext uri="{BB962C8B-B14F-4D97-AF65-F5344CB8AC3E}">
        <p14:creationId xmlns:p14="http://schemas.microsoft.com/office/powerpoint/2010/main" val="462242580"/>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ltLang="en-US" smtClean="0"/>
              <a:t>Difficulties in Defending Against Attacks</a:t>
            </a:r>
          </a:p>
        </p:txBody>
      </p:sp>
      <p:sp>
        <p:nvSpPr>
          <p:cNvPr id="7171" name="Content Placeholder 2"/>
          <p:cNvSpPr>
            <a:spLocks noGrp="1"/>
          </p:cNvSpPr>
          <p:nvPr>
            <p:ph idx="1"/>
          </p:nvPr>
        </p:nvSpPr>
        <p:spPr/>
        <p:txBody>
          <a:bodyPr/>
          <a:lstStyle/>
          <a:p>
            <a:r>
              <a:rPr lang="en-US" altLang="en-US" smtClean="0"/>
              <a:t>Speed of attacks</a:t>
            </a:r>
          </a:p>
          <a:p>
            <a:r>
              <a:rPr lang="en-US" altLang="en-US" smtClean="0"/>
              <a:t>Greater sophistication of attacks</a:t>
            </a:r>
          </a:p>
          <a:p>
            <a:r>
              <a:rPr lang="en-US" altLang="en-US" smtClean="0"/>
              <a:t>Simplicity of attack tools</a:t>
            </a:r>
          </a:p>
          <a:p>
            <a:r>
              <a:rPr lang="en-US" altLang="en-US" smtClean="0"/>
              <a:t>Quicker detection of vulnerabilities</a:t>
            </a:r>
          </a:p>
          <a:p>
            <a:pPr lvl="1"/>
            <a:r>
              <a:rPr lang="en-US" altLang="en-US" b="1" smtClean="0"/>
              <a:t>Zero day attack</a:t>
            </a:r>
          </a:p>
          <a:p>
            <a:r>
              <a:rPr lang="en-US" altLang="en-US" smtClean="0"/>
              <a:t>Delays in patching products</a:t>
            </a:r>
          </a:p>
          <a:p>
            <a:r>
              <a:rPr lang="en-US" altLang="en-US" smtClean="0"/>
              <a:t>Distributed attacks</a:t>
            </a:r>
          </a:p>
          <a:p>
            <a:r>
              <a:rPr lang="en-US" altLang="en-US" smtClean="0"/>
              <a:t>User confusion</a:t>
            </a:r>
          </a:p>
        </p:txBody>
      </p:sp>
      <p:sp>
        <p:nvSpPr>
          <p:cNvPr id="7172" name="Slide Number Placeholder 4"/>
          <p:cNvSpPr>
            <a:spLocks noGrp="1"/>
          </p:cNvSpPr>
          <p:nvPr>
            <p:ph type="sldNum" sz="quarter" idx="4294967295"/>
          </p:nvPr>
        </p:nvSpPr>
        <p:spPr>
          <a:xfrm>
            <a:off x="6457950" y="6356351"/>
            <a:ext cx="20574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3C98283-79A5-4046-88E4-636D52433345}" type="slidenum">
              <a:rPr lang="en-US" altLang="en-US" sz="1400" smtClean="0"/>
              <a:pPr>
                <a:spcBef>
                  <a:spcPct val="0"/>
                </a:spcBef>
                <a:buFontTx/>
                <a:buNone/>
              </a:pPr>
              <a:t>39</a:t>
            </a:fld>
            <a:endParaRPr lang="en-US" altLang="en-US" sz="1400" smtClean="0"/>
          </a:p>
        </p:txBody>
      </p:sp>
    </p:spTree>
    <p:extLst>
      <p:ext uri="{BB962C8B-B14F-4D97-AF65-F5344CB8AC3E}">
        <p14:creationId xmlns:p14="http://schemas.microsoft.com/office/powerpoint/2010/main" val="1594518599"/>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smtClean="0"/>
              <a:t>Who Are the Attackers?</a:t>
            </a:r>
          </a:p>
        </p:txBody>
      </p:sp>
      <p:sp>
        <p:nvSpPr>
          <p:cNvPr id="12291" name="Content Placeholder 2"/>
          <p:cNvSpPr>
            <a:spLocks noGrp="1"/>
          </p:cNvSpPr>
          <p:nvPr>
            <p:ph idx="1"/>
          </p:nvPr>
        </p:nvSpPr>
        <p:spPr/>
        <p:txBody>
          <a:bodyPr/>
          <a:lstStyle/>
          <a:p>
            <a:r>
              <a:rPr lang="en-US" altLang="en-US" dirty="0" smtClean="0"/>
              <a:t>Divided into several categories</a:t>
            </a:r>
          </a:p>
          <a:p>
            <a:pPr lvl="1"/>
            <a:r>
              <a:rPr lang="en-US" altLang="en-US" dirty="0" smtClean="0"/>
              <a:t>Hackers</a:t>
            </a:r>
          </a:p>
          <a:p>
            <a:pPr lvl="1"/>
            <a:r>
              <a:rPr lang="en-US" altLang="en-US" dirty="0" smtClean="0"/>
              <a:t>Spies</a:t>
            </a:r>
          </a:p>
          <a:p>
            <a:pPr lvl="1"/>
            <a:r>
              <a:rPr lang="en-US" altLang="en-US" dirty="0" smtClean="0"/>
              <a:t>Employees</a:t>
            </a:r>
          </a:p>
          <a:p>
            <a:pPr lvl="1"/>
            <a:r>
              <a:rPr lang="en-US" altLang="en-US" dirty="0" smtClean="0"/>
              <a:t>Cyber criminals</a:t>
            </a:r>
          </a:p>
          <a:p>
            <a:pPr lvl="1"/>
            <a:r>
              <a:rPr lang="en-US" altLang="en-US" dirty="0" smtClean="0"/>
              <a:t>Cyber terrorists</a:t>
            </a:r>
          </a:p>
        </p:txBody>
      </p:sp>
      <p:sp>
        <p:nvSpPr>
          <p:cNvPr id="12292" name="Slide Number Placeholder 4"/>
          <p:cNvSpPr>
            <a:spLocks noGrp="1"/>
          </p:cNvSpPr>
          <p:nvPr>
            <p:ph type="sldNum" sz="quarter" idx="4294967295"/>
          </p:nvPr>
        </p:nvSpPr>
        <p:spPr>
          <a:xfrm>
            <a:off x="6457950" y="6356351"/>
            <a:ext cx="20574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1B41AB1-8E7D-42F9-A381-8C8C85AD6F63}" type="slidenum">
              <a:rPr lang="en-US" altLang="en-US" sz="1400" smtClean="0"/>
              <a:pPr>
                <a:spcBef>
                  <a:spcPct val="0"/>
                </a:spcBef>
                <a:buFontTx/>
                <a:buNone/>
              </a:pPr>
              <a:t>40</a:t>
            </a:fld>
            <a:endParaRPr lang="en-US" altLang="en-US" sz="1400" smtClean="0"/>
          </a:p>
        </p:txBody>
      </p:sp>
    </p:spTree>
    <p:extLst>
      <p:ext uri="{BB962C8B-B14F-4D97-AF65-F5344CB8AC3E}">
        <p14:creationId xmlns:p14="http://schemas.microsoft.com/office/powerpoint/2010/main" val="94278155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dirty="0" smtClean="0"/>
              <a:t>Hackers</a:t>
            </a:r>
          </a:p>
        </p:txBody>
      </p:sp>
      <p:sp>
        <p:nvSpPr>
          <p:cNvPr id="13315" name="Content Placeholder 2"/>
          <p:cNvSpPr>
            <a:spLocks noGrp="1"/>
          </p:cNvSpPr>
          <p:nvPr>
            <p:ph idx="1"/>
          </p:nvPr>
        </p:nvSpPr>
        <p:spPr/>
        <p:txBody>
          <a:bodyPr/>
          <a:lstStyle/>
          <a:p>
            <a:r>
              <a:rPr lang="en-US" altLang="en-US" dirty="0" smtClean="0"/>
              <a:t>Debated definition of </a:t>
            </a:r>
            <a:r>
              <a:rPr lang="en-US" altLang="en-US" b="1" dirty="0" smtClean="0"/>
              <a:t>hacker</a:t>
            </a:r>
          </a:p>
          <a:p>
            <a:pPr lvl="1"/>
            <a:r>
              <a:rPr lang="en-US" altLang="en-US" dirty="0" smtClean="0"/>
              <a:t>Identify anyone who illegally breaks into or attempts to break into a computer system</a:t>
            </a:r>
          </a:p>
          <a:p>
            <a:pPr lvl="2"/>
            <a:r>
              <a:rPr lang="en-US" altLang="en-US" dirty="0" smtClean="0"/>
              <a:t>Usually, with advanced computing skills</a:t>
            </a:r>
          </a:p>
        </p:txBody>
      </p:sp>
      <p:sp>
        <p:nvSpPr>
          <p:cNvPr id="13316" name="Slide Number Placeholder 4"/>
          <p:cNvSpPr>
            <a:spLocks noGrp="1"/>
          </p:cNvSpPr>
          <p:nvPr>
            <p:ph type="sldNum" sz="quarter" idx="4294967295"/>
          </p:nvPr>
        </p:nvSpPr>
        <p:spPr>
          <a:xfrm>
            <a:off x="6457950" y="6356351"/>
            <a:ext cx="20574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627CD80-CB20-4411-AE51-3F9503B6A4B2}" type="slidenum">
              <a:rPr lang="en-US" altLang="en-US" sz="1400" smtClean="0"/>
              <a:pPr>
                <a:spcBef>
                  <a:spcPct val="0"/>
                </a:spcBef>
                <a:buFontTx/>
                <a:buNone/>
              </a:pPr>
              <a:t>41</a:t>
            </a:fld>
            <a:endParaRPr lang="en-US" altLang="en-US" sz="1400" smtClean="0"/>
          </a:p>
        </p:txBody>
      </p:sp>
    </p:spTree>
    <p:extLst>
      <p:ext uri="{BB962C8B-B14F-4D97-AF65-F5344CB8AC3E}">
        <p14:creationId xmlns:p14="http://schemas.microsoft.com/office/powerpoint/2010/main" val="2595873552"/>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ltLang="en-US" smtClean="0"/>
              <a:t>Spies</a:t>
            </a:r>
          </a:p>
        </p:txBody>
      </p:sp>
      <p:sp>
        <p:nvSpPr>
          <p:cNvPr id="15363" name="Content Placeholder 2"/>
          <p:cNvSpPr>
            <a:spLocks noGrp="1"/>
          </p:cNvSpPr>
          <p:nvPr>
            <p:ph idx="1"/>
          </p:nvPr>
        </p:nvSpPr>
        <p:spPr/>
        <p:txBody>
          <a:bodyPr/>
          <a:lstStyle/>
          <a:p>
            <a:r>
              <a:rPr lang="en-US" altLang="en-US" smtClean="0"/>
              <a:t>Person who has been hired to break into a computer and steal information</a:t>
            </a:r>
          </a:p>
          <a:p>
            <a:r>
              <a:rPr lang="en-US" altLang="en-US" smtClean="0"/>
              <a:t>Do not randomly search for unsecured computers</a:t>
            </a:r>
          </a:p>
          <a:p>
            <a:r>
              <a:rPr lang="en-US" altLang="en-US" smtClean="0"/>
              <a:t>Hired to attack a specific computer or system</a:t>
            </a:r>
          </a:p>
          <a:p>
            <a:r>
              <a:rPr lang="en-US" altLang="en-US" smtClean="0"/>
              <a:t>Goal </a:t>
            </a:r>
          </a:p>
          <a:p>
            <a:pPr lvl="1"/>
            <a:r>
              <a:rPr lang="en-US" altLang="en-US" smtClean="0"/>
              <a:t>Break into computer or system </a:t>
            </a:r>
          </a:p>
          <a:p>
            <a:pPr lvl="1"/>
            <a:r>
              <a:rPr lang="en-US" altLang="en-US" smtClean="0"/>
              <a:t>Take the information without drawing any attention to their actions</a:t>
            </a:r>
          </a:p>
        </p:txBody>
      </p:sp>
      <p:sp>
        <p:nvSpPr>
          <p:cNvPr id="15364" name="Slide Number Placeholder 4"/>
          <p:cNvSpPr>
            <a:spLocks noGrp="1"/>
          </p:cNvSpPr>
          <p:nvPr>
            <p:ph type="sldNum" sz="quarter" idx="4294967295"/>
          </p:nvPr>
        </p:nvSpPr>
        <p:spPr>
          <a:xfrm>
            <a:off x="6457950" y="6356351"/>
            <a:ext cx="20574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BA5D64B-F5DA-418A-95E3-1A34897D8808}" type="slidenum">
              <a:rPr lang="en-US" altLang="en-US" sz="1400" smtClean="0"/>
              <a:pPr>
                <a:spcBef>
                  <a:spcPct val="0"/>
                </a:spcBef>
                <a:buFontTx/>
                <a:buNone/>
              </a:pPr>
              <a:t>42</a:t>
            </a:fld>
            <a:endParaRPr lang="en-US" altLang="en-US" sz="1400" smtClean="0"/>
          </a:p>
        </p:txBody>
      </p:sp>
    </p:spTree>
    <p:extLst>
      <p:ext uri="{BB962C8B-B14F-4D97-AF65-F5344CB8AC3E}">
        <p14:creationId xmlns:p14="http://schemas.microsoft.com/office/powerpoint/2010/main" val="3529260548"/>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smtClean="0"/>
              <a:t>Employees</a:t>
            </a:r>
          </a:p>
        </p:txBody>
      </p:sp>
      <p:sp>
        <p:nvSpPr>
          <p:cNvPr id="16387" name="Content Placeholder 2"/>
          <p:cNvSpPr>
            <a:spLocks noGrp="1"/>
          </p:cNvSpPr>
          <p:nvPr>
            <p:ph idx="1"/>
          </p:nvPr>
        </p:nvSpPr>
        <p:spPr/>
        <p:txBody>
          <a:bodyPr/>
          <a:lstStyle/>
          <a:p>
            <a:r>
              <a:rPr lang="en-US" altLang="en-US" smtClean="0"/>
              <a:t>Reasons for attacks by employees</a:t>
            </a:r>
          </a:p>
          <a:p>
            <a:pPr lvl="1"/>
            <a:r>
              <a:rPr lang="en-US" altLang="en-US" smtClean="0"/>
              <a:t>Show company weakness in security</a:t>
            </a:r>
          </a:p>
          <a:p>
            <a:pPr lvl="1"/>
            <a:r>
              <a:rPr lang="en-US" altLang="en-US" smtClean="0"/>
              <a:t>Retaliation</a:t>
            </a:r>
          </a:p>
          <a:p>
            <a:pPr lvl="1"/>
            <a:r>
              <a:rPr lang="en-US" altLang="en-US" smtClean="0"/>
              <a:t>Money</a:t>
            </a:r>
          </a:p>
          <a:p>
            <a:pPr lvl="1"/>
            <a:r>
              <a:rPr lang="en-US" altLang="en-US" smtClean="0"/>
              <a:t>Blackmail</a:t>
            </a:r>
          </a:p>
          <a:p>
            <a:pPr lvl="1"/>
            <a:r>
              <a:rPr lang="en-US" altLang="en-US" smtClean="0"/>
              <a:t>Carelessness</a:t>
            </a:r>
          </a:p>
          <a:p>
            <a:endParaRPr lang="en-US" altLang="en-US" smtClean="0"/>
          </a:p>
        </p:txBody>
      </p:sp>
      <p:sp>
        <p:nvSpPr>
          <p:cNvPr id="16388" name="Slide Number Placeholder 4"/>
          <p:cNvSpPr>
            <a:spLocks noGrp="1"/>
          </p:cNvSpPr>
          <p:nvPr>
            <p:ph type="sldNum" sz="quarter" idx="4294967295"/>
          </p:nvPr>
        </p:nvSpPr>
        <p:spPr>
          <a:xfrm>
            <a:off x="6457950" y="6356351"/>
            <a:ext cx="20574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5524E8A-49E5-4776-97BE-3AA9C6A55DB0}" type="slidenum">
              <a:rPr lang="en-US" altLang="en-US" sz="1400" smtClean="0"/>
              <a:pPr>
                <a:spcBef>
                  <a:spcPct val="0"/>
                </a:spcBef>
                <a:buFontTx/>
                <a:buNone/>
              </a:pPr>
              <a:t>43</a:t>
            </a:fld>
            <a:endParaRPr lang="en-US" altLang="en-US" sz="1400" smtClean="0"/>
          </a:p>
        </p:txBody>
      </p:sp>
    </p:spTree>
    <p:extLst>
      <p:ext uri="{BB962C8B-B14F-4D97-AF65-F5344CB8AC3E}">
        <p14:creationId xmlns:p14="http://schemas.microsoft.com/office/powerpoint/2010/main" val="3617012025"/>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ltLang="en-US" smtClean="0"/>
              <a:t>Cybercriminals</a:t>
            </a:r>
          </a:p>
        </p:txBody>
      </p:sp>
      <p:sp>
        <p:nvSpPr>
          <p:cNvPr id="17411" name="Content Placeholder 2"/>
          <p:cNvSpPr>
            <a:spLocks noGrp="1"/>
          </p:cNvSpPr>
          <p:nvPr>
            <p:ph idx="1"/>
          </p:nvPr>
        </p:nvSpPr>
        <p:spPr/>
        <p:txBody>
          <a:bodyPr/>
          <a:lstStyle/>
          <a:p>
            <a:r>
              <a:rPr lang="en-US" altLang="en-US" dirty="0" smtClean="0"/>
              <a:t>Network of attackers, identity thieves, and financial fraudsters</a:t>
            </a:r>
          </a:p>
          <a:p>
            <a:r>
              <a:rPr lang="en-US" altLang="en-US" dirty="0" smtClean="0"/>
              <a:t>Motivated by money</a:t>
            </a:r>
          </a:p>
          <a:p>
            <a:r>
              <a:rPr lang="en-US" altLang="en-US" dirty="0" smtClean="0"/>
              <a:t>Financial cybercrime categories</a:t>
            </a:r>
          </a:p>
          <a:p>
            <a:pPr lvl="1"/>
            <a:r>
              <a:rPr lang="en-US" altLang="en-US" dirty="0" smtClean="0"/>
              <a:t>Stolen financial data</a:t>
            </a:r>
          </a:p>
          <a:p>
            <a:pPr lvl="1"/>
            <a:r>
              <a:rPr lang="en-US" altLang="en-US" dirty="0" smtClean="0"/>
              <a:t>Spam email to sell counterfeits, etc.</a:t>
            </a:r>
          </a:p>
          <a:p>
            <a:pPr lvl="2">
              <a:buFontTx/>
              <a:buNone/>
            </a:pPr>
            <a:endParaRPr lang="en-US" altLang="en-US" dirty="0" smtClean="0"/>
          </a:p>
        </p:txBody>
      </p:sp>
      <p:sp>
        <p:nvSpPr>
          <p:cNvPr id="17412" name="Slide Number Placeholder 4"/>
          <p:cNvSpPr>
            <a:spLocks noGrp="1"/>
          </p:cNvSpPr>
          <p:nvPr>
            <p:ph type="sldNum" sz="quarter" idx="4294967295"/>
          </p:nvPr>
        </p:nvSpPr>
        <p:spPr>
          <a:xfrm>
            <a:off x="6457950" y="6356351"/>
            <a:ext cx="20574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E8E88E9-CFDC-4E0F-BB7F-C5515AB108F5}" type="slidenum">
              <a:rPr lang="en-US" altLang="en-US" sz="1400" smtClean="0"/>
              <a:pPr>
                <a:spcBef>
                  <a:spcPct val="0"/>
                </a:spcBef>
                <a:buFontTx/>
                <a:buNone/>
              </a:pPr>
              <a:t>44</a:t>
            </a:fld>
            <a:endParaRPr lang="en-US" altLang="en-US" sz="1400" smtClean="0"/>
          </a:p>
        </p:txBody>
      </p:sp>
    </p:spTree>
    <p:extLst>
      <p:ext uri="{BB962C8B-B14F-4D97-AF65-F5344CB8AC3E}">
        <p14:creationId xmlns:p14="http://schemas.microsoft.com/office/powerpoint/2010/main" val="3146807972"/>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mtClean="0"/>
              <a:t>Cyberterrorists</a:t>
            </a:r>
          </a:p>
        </p:txBody>
      </p:sp>
      <p:sp>
        <p:nvSpPr>
          <p:cNvPr id="18435" name="Content Placeholder 2"/>
          <p:cNvSpPr>
            <a:spLocks noGrp="1"/>
          </p:cNvSpPr>
          <p:nvPr>
            <p:ph idx="1"/>
          </p:nvPr>
        </p:nvSpPr>
        <p:spPr/>
        <p:txBody>
          <a:bodyPr/>
          <a:lstStyle/>
          <a:p>
            <a:r>
              <a:rPr lang="en-US" altLang="en-US" smtClean="0"/>
              <a:t>Motivated by ideology</a:t>
            </a:r>
          </a:p>
        </p:txBody>
      </p:sp>
      <p:sp>
        <p:nvSpPr>
          <p:cNvPr id="18436" name="Slide Number Placeholder 4"/>
          <p:cNvSpPr>
            <a:spLocks noGrp="1"/>
          </p:cNvSpPr>
          <p:nvPr>
            <p:ph type="sldNum" sz="quarter" idx="4294967295"/>
          </p:nvPr>
        </p:nvSpPr>
        <p:spPr>
          <a:xfrm>
            <a:off x="6457950" y="6356351"/>
            <a:ext cx="20574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A15EC01-CE73-4562-9CBE-3562F5A3C597}" type="slidenum">
              <a:rPr lang="en-US" altLang="en-US" sz="1400" smtClean="0"/>
              <a:pPr>
                <a:spcBef>
                  <a:spcPct val="0"/>
                </a:spcBef>
                <a:buFontTx/>
                <a:buNone/>
              </a:pPr>
              <a:t>45</a:t>
            </a:fld>
            <a:endParaRPr lang="en-US" altLang="en-US" sz="1400" smtClean="0"/>
          </a:p>
        </p:txBody>
      </p:sp>
    </p:spTree>
    <p:extLst>
      <p:ext uri="{BB962C8B-B14F-4D97-AF65-F5344CB8AC3E}">
        <p14:creationId xmlns:p14="http://schemas.microsoft.com/office/powerpoint/2010/main" val="2740053592"/>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smtClean="0"/>
              <a:t>Attacks and Defences</a:t>
            </a:r>
          </a:p>
        </p:txBody>
      </p:sp>
      <p:sp>
        <p:nvSpPr>
          <p:cNvPr id="19459" name="Content Placeholder 2"/>
          <p:cNvSpPr>
            <a:spLocks noGrp="1"/>
          </p:cNvSpPr>
          <p:nvPr>
            <p:ph idx="1"/>
          </p:nvPr>
        </p:nvSpPr>
        <p:spPr/>
        <p:txBody>
          <a:bodyPr/>
          <a:lstStyle/>
          <a:p>
            <a:r>
              <a:rPr lang="en-US" altLang="en-US" smtClean="0"/>
              <a:t>Same basic steps are used in most attacks</a:t>
            </a:r>
          </a:p>
          <a:p>
            <a:r>
              <a:rPr lang="en-US" altLang="en-US" smtClean="0"/>
              <a:t>Protecting computers against these steps</a:t>
            </a:r>
          </a:p>
          <a:p>
            <a:pPr lvl="1"/>
            <a:r>
              <a:rPr lang="en-US" altLang="en-US" smtClean="0"/>
              <a:t>Calls for five fundamental security principles</a:t>
            </a:r>
          </a:p>
        </p:txBody>
      </p:sp>
      <p:sp>
        <p:nvSpPr>
          <p:cNvPr id="19460" name="Slide Number Placeholder 4"/>
          <p:cNvSpPr>
            <a:spLocks noGrp="1"/>
          </p:cNvSpPr>
          <p:nvPr>
            <p:ph type="sldNum" sz="quarter" idx="4294967295"/>
          </p:nvPr>
        </p:nvSpPr>
        <p:spPr>
          <a:xfrm>
            <a:off x="6457950" y="6356351"/>
            <a:ext cx="20574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F37A074-F2DB-4B0F-9445-E8A79542C7A8}" type="slidenum">
              <a:rPr lang="en-US" altLang="en-US" sz="1400" smtClean="0"/>
              <a:pPr>
                <a:spcBef>
                  <a:spcPct val="0"/>
                </a:spcBef>
                <a:buFontTx/>
                <a:buNone/>
              </a:pPr>
              <a:t>46</a:t>
            </a:fld>
            <a:endParaRPr lang="en-US" altLang="en-US" sz="1400" smtClean="0"/>
          </a:p>
        </p:txBody>
      </p:sp>
    </p:spTree>
    <p:extLst>
      <p:ext uri="{BB962C8B-B14F-4D97-AF65-F5344CB8AC3E}">
        <p14:creationId xmlns:p14="http://schemas.microsoft.com/office/powerpoint/2010/main" val="858483053"/>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u="sng" dirty="0" smtClean="0"/>
              <a:t>Steps of an Attack</a:t>
            </a:r>
          </a:p>
        </p:txBody>
      </p:sp>
      <p:sp>
        <p:nvSpPr>
          <p:cNvPr id="20483" name="Content Placeholder 2"/>
          <p:cNvSpPr>
            <a:spLocks noGrp="1"/>
          </p:cNvSpPr>
          <p:nvPr>
            <p:ph idx="1"/>
          </p:nvPr>
        </p:nvSpPr>
        <p:spPr/>
        <p:txBody>
          <a:bodyPr/>
          <a:lstStyle/>
          <a:p>
            <a:r>
              <a:rPr lang="en-US" altLang="en-US" smtClean="0"/>
              <a:t>Probe for information</a:t>
            </a:r>
          </a:p>
          <a:p>
            <a:r>
              <a:rPr lang="en-US" altLang="en-US" smtClean="0"/>
              <a:t>Penetrate any defences</a:t>
            </a:r>
          </a:p>
          <a:p>
            <a:r>
              <a:rPr lang="en-US" altLang="en-US" smtClean="0"/>
              <a:t>Modify security settings</a:t>
            </a:r>
          </a:p>
          <a:p>
            <a:r>
              <a:rPr lang="en-US" altLang="en-US" smtClean="0"/>
              <a:t>Circulate to other systems</a:t>
            </a:r>
          </a:p>
          <a:p>
            <a:r>
              <a:rPr lang="en-US" altLang="en-US" smtClean="0"/>
              <a:t>Paralyse networks and devices</a:t>
            </a:r>
          </a:p>
        </p:txBody>
      </p:sp>
      <p:sp>
        <p:nvSpPr>
          <p:cNvPr id="20484" name="Slide Number Placeholder 4"/>
          <p:cNvSpPr>
            <a:spLocks noGrp="1"/>
          </p:cNvSpPr>
          <p:nvPr>
            <p:ph type="sldNum" sz="quarter" idx="4294967295"/>
          </p:nvPr>
        </p:nvSpPr>
        <p:spPr>
          <a:xfrm>
            <a:off x="6457950" y="6356351"/>
            <a:ext cx="20574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735E23B-2B73-45A1-B095-A7E2179A835E}" type="slidenum">
              <a:rPr lang="en-US" altLang="en-US" sz="1400" smtClean="0"/>
              <a:pPr>
                <a:spcBef>
                  <a:spcPct val="0"/>
                </a:spcBef>
                <a:buFontTx/>
                <a:buNone/>
              </a:pPr>
              <a:t>47</a:t>
            </a:fld>
            <a:endParaRPr lang="en-US" altLang="en-US" sz="1400" smtClean="0"/>
          </a:p>
        </p:txBody>
      </p:sp>
    </p:spTree>
    <p:extLst>
      <p:ext uri="{BB962C8B-B14F-4D97-AF65-F5344CB8AC3E}">
        <p14:creationId xmlns:p14="http://schemas.microsoft.com/office/powerpoint/2010/main" val="2338001067"/>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u="sng" dirty="0" err="1" smtClean="0"/>
              <a:t>Defences</a:t>
            </a:r>
            <a:r>
              <a:rPr lang="en-US" altLang="en-US" u="sng" dirty="0" smtClean="0"/>
              <a:t> Against Attacks</a:t>
            </a:r>
          </a:p>
        </p:txBody>
      </p:sp>
      <p:sp>
        <p:nvSpPr>
          <p:cNvPr id="21507" name="Content Placeholder 2"/>
          <p:cNvSpPr>
            <a:spLocks noGrp="1"/>
          </p:cNvSpPr>
          <p:nvPr>
            <p:ph idx="1"/>
          </p:nvPr>
        </p:nvSpPr>
        <p:spPr/>
        <p:txBody>
          <a:bodyPr/>
          <a:lstStyle/>
          <a:p>
            <a:r>
              <a:rPr lang="en-US" altLang="en-US" smtClean="0"/>
              <a:t>Layering</a:t>
            </a:r>
          </a:p>
          <a:p>
            <a:pPr lvl="1"/>
            <a:r>
              <a:rPr lang="en-US" altLang="en-US" smtClean="0"/>
              <a:t>If one layer is penetrated, several more layers must still be breached</a:t>
            </a:r>
          </a:p>
          <a:p>
            <a:pPr lvl="1"/>
            <a:r>
              <a:rPr lang="en-US" altLang="en-US" smtClean="0"/>
              <a:t>Each layer is often more difficult or complicated than the previous</a:t>
            </a:r>
          </a:p>
          <a:p>
            <a:pPr lvl="1"/>
            <a:r>
              <a:rPr lang="en-US" altLang="en-US" smtClean="0"/>
              <a:t>Useful in resisting a variety of attacks</a:t>
            </a:r>
          </a:p>
          <a:p>
            <a:r>
              <a:rPr lang="en-US" altLang="en-US" smtClean="0"/>
              <a:t>Limiting</a:t>
            </a:r>
          </a:p>
          <a:p>
            <a:pPr lvl="1"/>
            <a:r>
              <a:rPr lang="en-US" altLang="en-US" smtClean="0"/>
              <a:t>Limiting access to information reduces the threat against it</a:t>
            </a:r>
          </a:p>
          <a:p>
            <a:pPr lvl="1"/>
            <a:r>
              <a:rPr lang="en-US" altLang="en-US" smtClean="0"/>
              <a:t>Technology-based and procedural methods</a:t>
            </a:r>
          </a:p>
        </p:txBody>
      </p:sp>
      <p:sp>
        <p:nvSpPr>
          <p:cNvPr id="21508" name="Slide Number Placeholder 4"/>
          <p:cNvSpPr>
            <a:spLocks noGrp="1"/>
          </p:cNvSpPr>
          <p:nvPr>
            <p:ph type="sldNum" sz="quarter" idx="4294967295"/>
          </p:nvPr>
        </p:nvSpPr>
        <p:spPr>
          <a:xfrm>
            <a:off x="6457950" y="6356351"/>
            <a:ext cx="20574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4885B12-ED32-4969-B0FB-13D7E031DA8E}" type="slidenum">
              <a:rPr lang="en-US" altLang="en-US" sz="1400" smtClean="0"/>
              <a:pPr>
                <a:spcBef>
                  <a:spcPct val="0"/>
                </a:spcBef>
                <a:buFontTx/>
                <a:buNone/>
              </a:pPr>
              <a:t>48</a:t>
            </a:fld>
            <a:endParaRPr lang="en-US" altLang="en-US" sz="1400" smtClean="0"/>
          </a:p>
        </p:txBody>
      </p:sp>
    </p:spTree>
    <p:extLst>
      <p:ext uri="{BB962C8B-B14F-4D97-AF65-F5344CB8AC3E}">
        <p14:creationId xmlns:p14="http://schemas.microsoft.com/office/powerpoint/2010/main" val="1891558818"/>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smtClean="0"/>
              <a:t>Defences Against Attacks (cont’d.)</a:t>
            </a:r>
          </a:p>
        </p:txBody>
      </p:sp>
      <p:sp>
        <p:nvSpPr>
          <p:cNvPr id="22531" name="Content Placeholder 2"/>
          <p:cNvSpPr>
            <a:spLocks noGrp="1"/>
          </p:cNvSpPr>
          <p:nvPr>
            <p:ph idx="1"/>
          </p:nvPr>
        </p:nvSpPr>
        <p:spPr/>
        <p:txBody>
          <a:bodyPr/>
          <a:lstStyle/>
          <a:p>
            <a:r>
              <a:rPr lang="en-US" altLang="en-US" smtClean="0"/>
              <a:t>Diversity</a:t>
            </a:r>
          </a:p>
          <a:p>
            <a:pPr lvl="1"/>
            <a:r>
              <a:rPr lang="en-US" altLang="en-US" smtClean="0"/>
              <a:t>Important that security layers are diverse</a:t>
            </a:r>
          </a:p>
          <a:p>
            <a:pPr lvl="1"/>
            <a:r>
              <a:rPr lang="en-US" altLang="en-US" smtClean="0"/>
              <a:t>Breaching one security layer does not compromise the whole system</a:t>
            </a:r>
          </a:p>
          <a:p>
            <a:r>
              <a:rPr lang="en-US" altLang="en-US" smtClean="0"/>
              <a:t>Obscurity</a:t>
            </a:r>
          </a:p>
          <a:p>
            <a:pPr lvl="1"/>
            <a:r>
              <a:rPr lang="en-US" altLang="en-US" smtClean="0"/>
              <a:t>Avoiding clear patterns of behavior make attacks from the outside much more difficult</a:t>
            </a:r>
          </a:p>
          <a:p>
            <a:r>
              <a:rPr lang="en-US" altLang="en-US" smtClean="0"/>
              <a:t>Simplicity</a:t>
            </a:r>
          </a:p>
          <a:p>
            <a:pPr lvl="1"/>
            <a:r>
              <a:rPr lang="en-US" altLang="en-US" smtClean="0"/>
              <a:t>Complex security systems can be hard to understand, troubleshoot, and feel secure about</a:t>
            </a:r>
          </a:p>
          <a:p>
            <a:pPr lvl="1"/>
            <a:endParaRPr lang="en-US" altLang="en-US" smtClean="0"/>
          </a:p>
        </p:txBody>
      </p:sp>
      <p:sp>
        <p:nvSpPr>
          <p:cNvPr id="22532" name="Slide Number Placeholder 4"/>
          <p:cNvSpPr>
            <a:spLocks noGrp="1"/>
          </p:cNvSpPr>
          <p:nvPr>
            <p:ph type="sldNum" sz="quarter" idx="4294967295"/>
          </p:nvPr>
        </p:nvSpPr>
        <p:spPr>
          <a:xfrm>
            <a:off x="6457950" y="6356351"/>
            <a:ext cx="20574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B119F97-3BA1-49AA-9035-E1B4CACCCBE9}" type="slidenum">
              <a:rPr lang="en-US" altLang="en-US" sz="1400" smtClean="0"/>
              <a:pPr>
                <a:spcBef>
                  <a:spcPct val="0"/>
                </a:spcBef>
                <a:buFontTx/>
                <a:buNone/>
              </a:pPr>
              <a:t>49</a:t>
            </a:fld>
            <a:endParaRPr lang="en-US" altLang="en-US" sz="1400" dirty="0" smtClean="0"/>
          </a:p>
        </p:txBody>
      </p:sp>
    </p:spTree>
    <p:extLst>
      <p:ext uri="{BB962C8B-B14F-4D97-AF65-F5344CB8AC3E}">
        <p14:creationId xmlns:p14="http://schemas.microsoft.com/office/powerpoint/2010/main" val="2767079757"/>
      </p:ext>
    </p:extLst>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tAndrews">
  <a:themeElements>
    <a:clrScheme name="">
      <a:dk1>
        <a:srgbClr val="808080"/>
      </a:dk1>
      <a:lt1>
        <a:srgbClr val="FFFFFF"/>
      </a:lt1>
      <a:dk2>
        <a:srgbClr val="000000"/>
      </a:dk2>
      <a:lt2>
        <a:srgbClr val="000000"/>
      </a:lt2>
      <a:accent1>
        <a:srgbClr val="CCFFCC"/>
      </a:accent1>
      <a:accent2>
        <a:srgbClr val="333399"/>
      </a:accent2>
      <a:accent3>
        <a:srgbClr val="AAAAAA"/>
      </a:accent3>
      <a:accent4>
        <a:srgbClr val="DADADA"/>
      </a:accent4>
      <a:accent5>
        <a:srgbClr val="E2FFE2"/>
      </a:accent5>
      <a:accent6>
        <a:srgbClr val="2D2D8A"/>
      </a:accent6>
      <a:hlink>
        <a:srgbClr val="009999"/>
      </a:hlink>
      <a:folHlink>
        <a:srgbClr val="99CC00"/>
      </a:folHlink>
    </a:clrScheme>
    <a:fontScheme name="Office Theme">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a:noFill/>
        </a:ln>
        <a:effectLst/>
        <a:extLst>
          <a:ext uri="{91240B29-F687-4f45-9708-019B960494DF}">
            <a14:hiddenLine xmlns="" xmlns:a14="http://schemas.microsoft.com/office/drawing/2010/main" w="25400" cap="flat" cmpd="sng" algn="ctr">
              <a:solidFill>
                <a:srgbClr val="000000"/>
              </a:solidFill>
              <a:prstDash val="solid"/>
              <a:round/>
              <a:headEnd type="none" w="med" len="med"/>
              <a:tailEnd type="none" w="med" len="me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a:noFill/>
        </a:ln>
        <a:effectLst/>
        <a:extLst>
          <a:ext uri="{91240B29-F687-4f45-9708-019B960494DF}">
            <a14:hiddenLine xmlns="" xmlns:a14="http://schemas.microsoft.com/office/drawing/2010/main" w="25400" cap="flat" cmpd="sng" algn="ctr">
              <a:solidFill>
                <a:srgbClr val="000000"/>
              </a:solidFill>
              <a:prstDash val="solid"/>
              <a:round/>
              <a:headEnd type="none" w="med" len="med"/>
              <a:tailEnd type="none" w="med" len="me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TM04033923[[fn=Depth]]</Template>
  <TotalTime>5106</TotalTime>
  <Pages>0</Pages>
  <Words>1334</Words>
  <Characters>0</Characters>
  <Application>Microsoft Office PowerPoint</Application>
  <PresentationFormat>On-screen Show (4:3)</PresentationFormat>
  <Lines>0</Lines>
  <Paragraphs>317</Paragraphs>
  <Slides>49</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5" baseType="lpstr">
      <vt:lpstr>ＭＳ Ｐゴシック</vt:lpstr>
      <vt:lpstr>Arial</vt:lpstr>
      <vt:lpstr>Gill Sans</vt:lpstr>
      <vt:lpstr>ヒラギノ角ゴ ProN W3</vt:lpstr>
      <vt:lpstr>StAndrews</vt:lpstr>
      <vt:lpstr>VISIO</vt:lpstr>
      <vt:lpstr>CyberSecurity </vt:lpstr>
      <vt:lpstr>Part One</vt:lpstr>
      <vt:lpstr>What is cybersecurity</vt:lpstr>
      <vt:lpstr>Scope of cybersecurity</vt:lpstr>
      <vt:lpstr>A systems problem</vt:lpstr>
      <vt:lpstr>Malicious and accidental damage </vt:lpstr>
      <vt:lpstr>Insider and external attacks</vt:lpstr>
      <vt:lpstr>Classes of cyber attack</vt:lpstr>
      <vt:lpstr>Classes of cyber attack</vt:lpstr>
      <vt:lpstr>Cyber-fraud</vt:lpstr>
      <vt:lpstr>PowerPoint Presentation</vt:lpstr>
      <vt:lpstr>Cyber-spying</vt:lpstr>
      <vt:lpstr>Cyber-spying</vt:lpstr>
      <vt:lpstr>Cyber-bullying</vt:lpstr>
      <vt:lpstr>Cyber Stalking</vt:lpstr>
      <vt:lpstr>Cyber-assault</vt:lpstr>
      <vt:lpstr>Cyber warfare attacks</vt:lpstr>
      <vt:lpstr>The scale of the problem</vt:lpstr>
      <vt:lpstr>Why has this problem arisen</vt:lpstr>
      <vt:lpstr>Internet vulnerabilities</vt:lpstr>
      <vt:lpstr>Internet vulnerability examples</vt:lpstr>
      <vt:lpstr>Risk classification</vt:lpstr>
      <vt:lpstr>Actions of people</vt:lpstr>
      <vt:lpstr>Hardware and software</vt:lpstr>
      <vt:lpstr>Organisational processes</vt:lpstr>
      <vt:lpstr>Key points</vt:lpstr>
      <vt:lpstr>Part Two</vt:lpstr>
      <vt:lpstr>Attacks Framework</vt:lpstr>
      <vt:lpstr>Social Engineering Attacks</vt:lpstr>
      <vt:lpstr>Eavesdropping on a Dialog</vt:lpstr>
      <vt:lpstr>Impersonation and Authentication</vt:lpstr>
      <vt:lpstr>Message Alteration</vt:lpstr>
      <vt:lpstr>Scanning (Probing) Attacks</vt:lpstr>
      <vt:lpstr>Denial-of-Service (DoS) Flooding Attack</vt:lpstr>
      <vt:lpstr>Network Penetration Attacks</vt:lpstr>
      <vt:lpstr>PowerPoint Presentation</vt:lpstr>
      <vt:lpstr>Challenges</vt:lpstr>
      <vt:lpstr>Today’s Security Attacks</vt:lpstr>
      <vt:lpstr>Difficulties in Defending Against Attacks</vt:lpstr>
      <vt:lpstr>Who Are the Attackers?</vt:lpstr>
      <vt:lpstr>Hackers</vt:lpstr>
      <vt:lpstr>Spies</vt:lpstr>
      <vt:lpstr>Employees</vt:lpstr>
      <vt:lpstr>Cybercriminals</vt:lpstr>
      <vt:lpstr>Cyberterrorists</vt:lpstr>
      <vt:lpstr>Attacks and Defences</vt:lpstr>
      <vt:lpstr>Steps of an Attack</vt:lpstr>
      <vt:lpstr>Defences Against Attacks</vt:lpstr>
      <vt:lpstr>Defences Against Attacks (cont’d.)</vt:lpstr>
    </vt:vector>
  </TitlesOfParts>
  <Company>Ian Sommerville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here</dc:title>
  <dc:subject/>
  <dc:creator>Ian Sommerville</dc:creator>
  <cp:keywords/>
  <dc:description/>
  <cp:lastModifiedBy>Amir</cp:lastModifiedBy>
  <cp:revision>27</cp:revision>
  <cp:lastPrinted>2008-03-06T09:17:35Z</cp:lastPrinted>
  <dcterms:created xsi:type="dcterms:W3CDTF">2008-03-13T09:35:20Z</dcterms:created>
  <dcterms:modified xsi:type="dcterms:W3CDTF">2017-10-02T14:42:25Z</dcterms:modified>
</cp:coreProperties>
</file>