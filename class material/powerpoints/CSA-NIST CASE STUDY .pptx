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256" r:id="rId2"/>
    <p:sldId id="326" r:id="rId3"/>
    <p:sldId id="346" r:id="rId4"/>
    <p:sldId id="347" r:id="rId5"/>
    <p:sldId id="348" r:id="rId6"/>
    <p:sldId id="349" r:id="rId7"/>
    <p:sldId id="350" r:id="rId8"/>
    <p:sldId id="351" r:id="rId9"/>
    <p:sldId id="352" r:id="rId10"/>
    <p:sldId id="353" r:id="rId11"/>
    <p:sldId id="354" r:id="rId12"/>
    <p:sldId id="355" r:id="rId13"/>
    <p:sldId id="356" r:id="rId14"/>
    <p:sldId id="357" r:id="rId15"/>
    <p:sldId id="358" r:id="rId16"/>
    <p:sldId id="359" r:id="rId17"/>
    <p:sldId id="360" r:id="rId18"/>
    <p:sldId id="361"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7" d="100"/>
          <a:sy n="47" d="100"/>
        </p:scale>
        <p:origin x="1474" y="2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901431D-19B0-4115-96BC-42F1841FB80B}" type="datetime1">
              <a:rPr lang="en-US" smtClean="0"/>
              <a:t>2/20/2026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7C659A9-B627-4A93-AB03-D8D3E231F830}" type="slidenum">
              <a:rPr lang="en-US" smtClean="0"/>
              <a:t>‹#›</a:t>
            </a:fld>
            <a:endParaRPr lang="en-US"/>
          </a:p>
        </p:txBody>
      </p:sp>
    </p:spTree>
    <p:extLst>
      <p:ext uri="{BB962C8B-B14F-4D97-AF65-F5344CB8AC3E}">
        <p14:creationId xmlns:p14="http://schemas.microsoft.com/office/powerpoint/2010/main" val="222435730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75ECD-153B-4DF6-886B-7086D1541E62}" type="datetime1">
              <a:rPr lang="en-US" smtClean="0"/>
              <a:t>2/20/2026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32D632-18E0-4EC7-ACCF-D86DBE415FAF}" type="slidenum">
              <a:rPr lang="en-US" smtClean="0"/>
              <a:t>‹#›</a:t>
            </a:fld>
            <a:endParaRPr lang="en-US"/>
          </a:p>
        </p:txBody>
      </p:sp>
    </p:spTree>
    <p:extLst>
      <p:ext uri="{BB962C8B-B14F-4D97-AF65-F5344CB8AC3E}">
        <p14:creationId xmlns:p14="http://schemas.microsoft.com/office/powerpoint/2010/main" val="112165137"/>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3D0EB13-87B1-4357-9064-128A011212B3}" type="datetime1">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B063E0-1639-4315-B594-904872C16F49}" type="datetime1">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0EC66B-BC68-4A44-83A0-331AAC0745D1}" type="datetime1">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3A2B98-824D-40F2-96EB-05445F2F59A7}" type="datetime1">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D081EC-1622-41C9-8CA1-1EDD4B074BDF}" type="datetime1">
              <a:rPr lang="en-US" smtClean="0"/>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3E9A63-B66C-437F-A3BC-ACFBC0CC1A05}" type="datetime1">
              <a:rPr lang="en-US" smtClean="0"/>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7E66D1-DC48-491F-A5EF-CA4E99944BDF}" type="datetime1">
              <a:rPr lang="en-US" smtClean="0"/>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57D3071-1DF5-43E6-A132-9844F9E2A529}" type="datetime1">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CD4C08-1871-4978-8161-6E55E3933DDF}" type="datetime1">
              <a:rPr lang="en-US" smtClean="0"/>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B84AD7-2CD7-4BF1-9889-4FB1D4211333}" type="datetime1">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DCEC04-86A5-4D64-9758-2CFEAC225331}" type="datetime1">
              <a:rPr lang="en-US" smtClean="0"/>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24C3B-1C83-48BC-AAF6-51A17E28F410}" type="datetime1">
              <a:rPr lang="en-US" smtClean="0"/>
              <a:t>2/20/2026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7117" y="157482"/>
            <a:ext cx="10993120" cy="1143000"/>
          </a:xfrm>
        </p:spPr>
        <p:txBody>
          <a:bodyPr>
            <a:normAutofit/>
          </a:bodyPr>
          <a:lstStyle/>
          <a:p>
            <a:pPr>
              <a:defRPr sz="4200" b="1">
                <a:solidFill>
                  <a:srgbClr val="460078"/>
                </a:solidFill>
              </a:defRPr>
            </a:pPr>
            <a:r>
              <a:rPr lang="en-US" dirty="0"/>
              <a:t>CYBER SECURITY</a:t>
            </a:r>
            <a:endParaRPr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6" name="Title 1"/>
          <p:cNvSpPr txBox="1">
            <a:spLocks/>
          </p:cNvSpPr>
          <p:nvPr/>
        </p:nvSpPr>
        <p:spPr>
          <a:xfrm>
            <a:off x="345440" y="5029201"/>
            <a:ext cx="8323527" cy="153415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defRPr sz="4200" b="1">
                <a:solidFill>
                  <a:srgbClr val="460078"/>
                </a:solidFill>
              </a:defRPr>
            </a:pPr>
            <a:r>
              <a:rPr lang="en-US" sz="3200" dirty="0"/>
              <a:t>NIST Security Framework CASE STUDY</a:t>
            </a:r>
          </a:p>
          <a:p>
            <a:pPr>
              <a:defRPr sz="4200" b="1">
                <a:solidFill>
                  <a:srgbClr val="460078"/>
                </a:solidFill>
              </a:defRPr>
            </a:pPr>
            <a:r>
              <a:rPr lang="en-US" sz="3000" b="1" dirty="0" err="1">
                <a:solidFill>
                  <a:srgbClr val="460078"/>
                </a:solidFill>
              </a:rPr>
              <a:t>Er</a:t>
            </a:r>
            <a:r>
              <a:rPr lang="en-US" sz="3000" b="1" dirty="0">
                <a:solidFill>
                  <a:srgbClr val="460078"/>
                </a:solidFill>
              </a:rPr>
              <a:t>. Prakash Chandra Adhikari</a:t>
            </a:r>
          </a:p>
        </p:txBody>
      </p:sp>
      <p:sp>
        <p:nvSpPr>
          <p:cNvPr id="7" name="Date Placeholder 6"/>
          <p:cNvSpPr>
            <a:spLocks noGrp="1"/>
          </p:cNvSpPr>
          <p:nvPr>
            <p:ph type="dt" sz="half" idx="10"/>
          </p:nvPr>
        </p:nvSpPr>
        <p:spPr/>
        <p:txBody>
          <a:bodyPr/>
          <a:lstStyle/>
          <a:p>
            <a:fld id="{8238D382-49DB-4807-A586-175A2D7637E3}" type="datetime1">
              <a:rPr lang="en-US" smtClean="0"/>
              <a:t>2/20/2026</a:t>
            </a:fld>
            <a:endParaRPr lang="en-US"/>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2034538" y="1200943"/>
            <a:ext cx="5505214" cy="36701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b="1" dirty="0"/>
              <a:t>SCENARIO OVERVIEW</a:t>
            </a:r>
          </a:p>
          <a:p>
            <a:r>
              <a:rPr lang="en-US" sz="2800" b="1" dirty="0"/>
              <a:t>Organization:</a:t>
            </a:r>
            <a:r>
              <a:rPr lang="en-US" sz="2800" dirty="0"/>
              <a:t> B-Class Financial Institution</a:t>
            </a:r>
            <a:br>
              <a:rPr lang="en-US" sz="2800" dirty="0"/>
            </a:br>
            <a:r>
              <a:rPr lang="en-US" sz="2800" b="1" dirty="0"/>
              <a:t>Attack Type:</a:t>
            </a:r>
            <a:r>
              <a:rPr lang="en-US" sz="2800" dirty="0"/>
              <a:t> Ransomware via phishing → lateral movement → backup compromise</a:t>
            </a:r>
            <a:br>
              <a:rPr lang="en-US" sz="2800" dirty="0"/>
            </a:br>
            <a:r>
              <a:rPr lang="en-US" sz="2800" b="1" dirty="0"/>
              <a:t>Impact:</a:t>
            </a:r>
            <a:endParaRPr lang="en-US" sz="2800" dirty="0"/>
          </a:p>
          <a:p>
            <a:r>
              <a:rPr lang="en-US" sz="2800" dirty="0"/>
              <a:t>Core systems encrypted</a:t>
            </a:r>
          </a:p>
          <a:p>
            <a:r>
              <a:rPr lang="en-US" sz="2800" dirty="0"/>
              <a:t>Services down for several days</a:t>
            </a:r>
          </a:p>
          <a:p>
            <a:r>
              <a:rPr lang="en-US" sz="2800" dirty="0"/>
              <a:t>Regulatory scrutiny</a:t>
            </a:r>
          </a:p>
          <a:p>
            <a:r>
              <a:rPr lang="en-US" sz="2800" dirty="0"/>
              <a:t>Reputation damage</a:t>
            </a:r>
          </a:p>
          <a:p>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2367572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660088" y="1329379"/>
            <a:ext cx="8123584" cy="4799276"/>
          </a:xfrm>
        </p:spPr>
        <p:txBody>
          <a:bodyPr>
            <a:normAutofit lnSpcReduction="10000"/>
          </a:bodyPr>
          <a:lstStyle/>
          <a:p>
            <a:pPr marL="0" indent="0">
              <a:buNone/>
            </a:pPr>
            <a:r>
              <a:rPr lang="en-US" sz="2800" b="1" dirty="0"/>
              <a:t> BEFORE RANSOMWARE</a:t>
            </a:r>
          </a:p>
          <a:p>
            <a:pPr marL="0" indent="0">
              <a:buNone/>
            </a:pPr>
            <a:r>
              <a:rPr lang="en-US" sz="2800" b="1" dirty="0"/>
              <a:t>(Weak / Partial CSF Adoption)</a:t>
            </a:r>
          </a:p>
          <a:p>
            <a:pPr marL="0" indent="0">
              <a:buNone/>
            </a:pPr>
            <a:r>
              <a:rPr lang="en-US" sz="2800" b="1" dirty="0"/>
              <a:t>GOVERN</a:t>
            </a:r>
          </a:p>
          <a:p>
            <a:r>
              <a:rPr lang="en-US" sz="2800" dirty="0"/>
              <a:t>No board-level cyber oversight</a:t>
            </a:r>
          </a:p>
          <a:p>
            <a:r>
              <a:rPr lang="en-US" sz="2800" dirty="0"/>
              <a:t>Cybersecurity seen as “IT problem”</a:t>
            </a:r>
          </a:p>
          <a:p>
            <a:r>
              <a:rPr lang="en-US" sz="2800" dirty="0"/>
              <a:t>No ransomware decision authority</a:t>
            </a:r>
          </a:p>
          <a:p>
            <a:pPr marL="0" indent="0">
              <a:buNone/>
            </a:pPr>
            <a:r>
              <a:rPr lang="en-US" sz="2800" b="1" dirty="0"/>
              <a:t>IDENTIFY</a:t>
            </a:r>
          </a:p>
          <a:p>
            <a:r>
              <a:rPr lang="en-US" sz="2800" dirty="0"/>
              <a:t>Incomplete asset inventory</a:t>
            </a:r>
          </a:p>
          <a:p>
            <a:r>
              <a:rPr lang="en-US" sz="2800" dirty="0"/>
              <a:t>No data classification</a:t>
            </a:r>
          </a:p>
          <a:p>
            <a:r>
              <a:rPr lang="en-US" sz="2800" dirty="0"/>
              <a:t>No clear crown-jewel systems</a:t>
            </a:r>
          </a:p>
          <a:p>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3091301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b="1" dirty="0"/>
              <a:t>PROTECT</a:t>
            </a:r>
          </a:p>
          <a:p>
            <a:r>
              <a:rPr lang="en-US" sz="2800" dirty="0"/>
              <a:t>Weak password policy</a:t>
            </a:r>
          </a:p>
          <a:p>
            <a:r>
              <a:rPr lang="en-US" sz="2800" dirty="0"/>
              <a:t>MFA not enforced</a:t>
            </a:r>
          </a:p>
          <a:p>
            <a:r>
              <a:rPr lang="en-US" sz="2800" dirty="0"/>
              <a:t>Backups online and accessible</a:t>
            </a:r>
          </a:p>
          <a:p>
            <a:r>
              <a:rPr lang="en-US" sz="2800" dirty="0"/>
              <a:t>Limited staff awareness</a:t>
            </a:r>
          </a:p>
          <a:p>
            <a:pPr marL="0" indent="0">
              <a:buNone/>
            </a:pPr>
            <a:r>
              <a:rPr lang="en-US" sz="2800" b="1" dirty="0"/>
              <a:t>DETECT</a:t>
            </a:r>
          </a:p>
          <a:p>
            <a:r>
              <a:rPr lang="en-US" sz="2800" dirty="0"/>
              <a:t>Logs not centrally monitored</a:t>
            </a:r>
          </a:p>
          <a:p>
            <a:r>
              <a:rPr lang="en-US" sz="2800" dirty="0"/>
              <a:t>Alerts ignored or delayed</a:t>
            </a:r>
          </a:p>
          <a:p>
            <a:r>
              <a:rPr lang="en-US" sz="2800" dirty="0"/>
              <a:t>No defined detection thresholds</a:t>
            </a:r>
          </a:p>
          <a:p>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3711996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b="1" dirty="0"/>
              <a:t>RESPOND</a:t>
            </a:r>
          </a:p>
          <a:p>
            <a:r>
              <a:rPr lang="en-US" sz="2800" dirty="0"/>
              <a:t>No tested Incident Response Plan</a:t>
            </a:r>
          </a:p>
          <a:p>
            <a:r>
              <a:rPr lang="en-US" sz="2800" dirty="0"/>
              <a:t>Confusion about who should act</a:t>
            </a:r>
          </a:p>
          <a:p>
            <a:r>
              <a:rPr lang="en-US" sz="2800" dirty="0"/>
              <a:t>Late regulator notification</a:t>
            </a:r>
          </a:p>
          <a:p>
            <a:pPr marL="0" indent="0">
              <a:buNone/>
            </a:pPr>
            <a:r>
              <a:rPr lang="en-US" sz="2800" b="1" dirty="0"/>
              <a:t>RECOVER</a:t>
            </a:r>
          </a:p>
          <a:p>
            <a:r>
              <a:rPr lang="en-US" sz="2800" dirty="0"/>
              <a:t>Backups also encrypted</a:t>
            </a:r>
          </a:p>
          <a:p>
            <a:r>
              <a:rPr lang="en-US" sz="2800" dirty="0"/>
              <a:t>Recovery took weeks</a:t>
            </a:r>
          </a:p>
          <a:p>
            <a:r>
              <a:rPr lang="en-US" sz="2800" dirty="0"/>
              <a:t>No structured lessons learned</a:t>
            </a:r>
          </a:p>
          <a:p>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1479648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dirty="0"/>
              <a:t>📉 </a:t>
            </a:r>
            <a:r>
              <a:rPr lang="en-US" sz="2800" b="1" dirty="0"/>
              <a:t>Result:</a:t>
            </a:r>
            <a:endParaRPr lang="en-US" sz="2800" dirty="0"/>
          </a:p>
          <a:p>
            <a:r>
              <a:rPr lang="en-US" sz="2800" dirty="0"/>
              <a:t>Long downtime</a:t>
            </a:r>
          </a:p>
          <a:p>
            <a:r>
              <a:rPr lang="en-US" sz="2800" dirty="0"/>
              <a:t>High financial loss</a:t>
            </a:r>
          </a:p>
          <a:p>
            <a:r>
              <a:rPr lang="en-US" sz="2800" dirty="0"/>
              <a:t>Regulatory penalties</a:t>
            </a:r>
          </a:p>
          <a:p>
            <a:r>
              <a:rPr lang="en-US" sz="2800" dirty="0"/>
              <a:t>Loss of customer trust</a:t>
            </a:r>
          </a:p>
          <a:p>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1707360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10000"/>
          </a:bodyPr>
          <a:lstStyle/>
          <a:p>
            <a:pPr marL="0" indent="0">
              <a:buNone/>
            </a:pPr>
            <a:r>
              <a:rPr lang="en-US" sz="2800" dirty="0"/>
              <a:t>Case Study: Implementation of NIST CSF After a Ransomware Attack</a:t>
            </a:r>
          </a:p>
          <a:p>
            <a:pPr marL="0" indent="0">
              <a:buNone/>
            </a:pPr>
            <a:r>
              <a:rPr lang="en-US" sz="2800" b="1" dirty="0"/>
              <a:t>Introduction / Case Background</a:t>
            </a:r>
          </a:p>
          <a:p>
            <a:pPr marL="0" indent="0" algn="just">
              <a:buNone/>
            </a:pPr>
            <a:r>
              <a:rPr lang="en-US" sz="2800" dirty="0"/>
              <a:t>A </a:t>
            </a:r>
            <a:r>
              <a:rPr lang="en-US" sz="2800" b="1" dirty="0"/>
              <a:t>B-Class financial institution</a:t>
            </a:r>
            <a:r>
              <a:rPr lang="en-US" sz="2800" dirty="0"/>
              <a:t> experienced a </a:t>
            </a:r>
            <a:r>
              <a:rPr lang="en-US" sz="2800" b="1" dirty="0"/>
              <a:t>ransomware attack</a:t>
            </a:r>
            <a:r>
              <a:rPr lang="en-US" sz="2800" dirty="0"/>
              <a:t> that resulted in the encryption of critical systems, service disruption, and potential compromise of customer data. The incident exposed weaknesses in governance, security controls, detection capabilities, and recovery preparedness. To address the incident and prevent recurrence, the organization decided to implement the </a:t>
            </a:r>
            <a:r>
              <a:rPr lang="en-US" sz="2800" b="1" dirty="0"/>
              <a:t>NIST Cybersecurity Framework (CSF) 2.0</a:t>
            </a:r>
            <a:r>
              <a:rPr lang="en-US" sz="2800" dirty="0"/>
              <a:t>, which provides a </a:t>
            </a:r>
            <a:r>
              <a:rPr lang="en-US" sz="2800" b="1" dirty="0"/>
              <a:t>risk-based, lifecycle-oriented approach</a:t>
            </a:r>
            <a:r>
              <a:rPr lang="en-US" sz="2800" dirty="0"/>
              <a:t> to cybersecurity</a:t>
            </a:r>
          </a:p>
          <a:p>
            <a:pPr marL="0" indent="0" algn="just">
              <a:buNone/>
            </a:pPr>
            <a:endParaRPr lang="en-US" sz="2800" b="1" dirty="0"/>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3794209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b="1" dirty="0"/>
              <a:t>Objective of Applying NIST CSF</a:t>
            </a:r>
          </a:p>
          <a:p>
            <a:r>
              <a:rPr lang="en-US" sz="2800" dirty="0"/>
              <a:t>The objective of implementing NIST CSF 2.0 in this case is to:</a:t>
            </a:r>
          </a:p>
          <a:p>
            <a:r>
              <a:rPr lang="en-US" sz="2800" dirty="0"/>
              <a:t>Respond effectively to the ransomware incident</a:t>
            </a:r>
          </a:p>
          <a:p>
            <a:r>
              <a:rPr lang="en-US" sz="2800" dirty="0"/>
              <a:t>Restore business operations securely</a:t>
            </a:r>
          </a:p>
          <a:p>
            <a:r>
              <a:rPr lang="en-US" sz="2800" dirty="0"/>
              <a:t>Strengthen cybersecurity governance</a:t>
            </a:r>
          </a:p>
          <a:p>
            <a:r>
              <a:rPr lang="en-US" sz="2800" dirty="0"/>
              <a:t>Reduce the likelihood and impact of future cyber attacks</a:t>
            </a:r>
          </a:p>
          <a:p>
            <a:r>
              <a:rPr lang="en-US" sz="2800" dirty="0"/>
              <a:t>Improve overall cybersecurity maturity</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2983337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Autofit/>
          </a:bodyPr>
          <a:lstStyle/>
          <a:p>
            <a:pPr marL="0" indent="0" algn="just">
              <a:buNone/>
            </a:pPr>
            <a:r>
              <a:rPr lang="en-US" sz="1800" b="1" dirty="0"/>
              <a:t>3.Application of NIST CSF 2.0 Functions</a:t>
            </a:r>
          </a:p>
          <a:p>
            <a:pPr marL="0" indent="0" algn="just">
              <a:buNone/>
            </a:pPr>
            <a:r>
              <a:rPr lang="en-US" sz="1800" dirty="0"/>
              <a:t>NIST CSF 2.0 consists of six core functions: Govern, Identify, Protect, Detect, Respond, and Recover. These functions are applied as follows:</a:t>
            </a:r>
          </a:p>
          <a:p>
            <a:pPr marL="0" indent="0" algn="just">
              <a:buNone/>
            </a:pPr>
            <a:r>
              <a:rPr lang="en-US" sz="1800" b="1" dirty="0"/>
              <a:t>A. GOVERN (Strategic Oversight and Control)</a:t>
            </a:r>
          </a:p>
          <a:p>
            <a:pPr marL="0" indent="0" algn="just">
              <a:buNone/>
            </a:pPr>
            <a:r>
              <a:rPr lang="en-US" sz="1800" b="1" dirty="0"/>
              <a:t>Purpose: Establish leadership, accountability, and decision-making authority.</a:t>
            </a:r>
          </a:p>
          <a:p>
            <a:pPr marL="0" indent="0" algn="just">
              <a:buNone/>
            </a:pPr>
            <a:r>
              <a:rPr lang="en-US" sz="1800" b="1" dirty="0"/>
              <a:t>Actions Taken:</a:t>
            </a:r>
          </a:p>
          <a:p>
            <a:pPr algn="just"/>
            <a:r>
              <a:rPr lang="en-US" sz="1800" dirty="0"/>
              <a:t>Formation of a Cyber Crisis Management Committee</a:t>
            </a:r>
          </a:p>
          <a:p>
            <a:pPr algn="just"/>
            <a:r>
              <a:rPr lang="en-US" sz="1800" dirty="0"/>
              <a:t>Assignment of clear roles and responsibilities for incident handling</a:t>
            </a:r>
          </a:p>
          <a:p>
            <a:pPr algn="just"/>
            <a:r>
              <a:rPr lang="en-US" sz="1800" dirty="0"/>
              <a:t>Board-level oversight of cybersecurity risk</a:t>
            </a:r>
          </a:p>
          <a:p>
            <a:pPr algn="just"/>
            <a:r>
              <a:rPr lang="en-US" sz="1800" dirty="0"/>
              <a:t>Alignment of cybersecurity with enterprise risk management (ERM)</a:t>
            </a:r>
          </a:p>
          <a:p>
            <a:pPr marL="0" indent="0" algn="just">
              <a:buNone/>
            </a:pPr>
            <a:r>
              <a:rPr lang="en-US" sz="1800" b="1" dirty="0"/>
              <a:t>Outcome:</a:t>
            </a:r>
          </a:p>
          <a:p>
            <a:pPr marL="0" indent="0" algn="just">
              <a:buNone/>
            </a:pPr>
            <a:r>
              <a:rPr lang="en-US" sz="1800" b="1" dirty="0"/>
              <a:t>Cybersecurity became a governance issue rather than only an IT issue, ensuring accountability and regulatory compliance.</a:t>
            </a:r>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endParaRPr lang="en-US" dirty="0"/>
          </a:p>
        </p:txBody>
      </p:sp>
    </p:spTree>
    <p:extLst>
      <p:ext uri="{BB962C8B-B14F-4D97-AF65-F5344CB8AC3E}">
        <p14:creationId xmlns:p14="http://schemas.microsoft.com/office/powerpoint/2010/main" val="1571962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20000"/>
          </a:bodyPr>
          <a:lstStyle/>
          <a:p>
            <a:pPr marL="0" indent="0">
              <a:buNone/>
            </a:pPr>
            <a:r>
              <a:rPr lang="en-US" sz="2800" b="1" dirty="0"/>
              <a:t>B. IDENTIFY (Understanding Assets and Risks)</a:t>
            </a:r>
          </a:p>
          <a:p>
            <a:pPr marL="0" indent="0">
              <a:buNone/>
            </a:pPr>
            <a:r>
              <a:rPr lang="en-US" sz="2800" b="1" dirty="0"/>
              <a:t>Purpose:</a:t>
            </a:r>
            <a:r>
              <a:rPr lang="en-US" sz="2800" dirty="0"/>
              <a:t> Determine what assets, data, and risks were affected.</a:t>
            </a:r>
          </a:p>
          <a:p>
            <a:pPr marL="0" indent="0">
              <a:buNone/>
            </a:pPr>
            <a:r>
              <a:rPr lang="en-US" sz="2800" b="1" dirty="0"/>
              <a:t>Actions Taken:</a:t>
            </a:r>
            <a:endParaRPr lang="en-US" sz="2800" dirty="0"/>
          </a:p>
          <a:p>
            <a:r>
              <a:rPr lang="en-US" sz="2800" dirty="0"/>
              <a:t>Identification of compromised systems and affected business services</a:t>
            </a:r>
          </a:p>
          <a:p>
            <a:r>
              <a:rPr lang="en-US" sz="2800" dirty="0"/>
              <a:t>Classification of sensitive customer and financial data</a:t>
            </a:r>
          </a:p>
          <a:p>
            <a:r>
              <a:rPr lang="en-US" sz="2800" dirty="0"/>
              <a:t>Conducting a Business Impact Analysis (BIA)</a:t>
            </a:r>
          </a:p>
          <a:p>
            <a:r>
              <a:rPr lang="en-US" sz="2800" dirty="0"/>
              <a:t>Updating the cyber risk register</a:t>
            </a:r>
          </a:p>
          <a:p>
            <a:pPr marL="0" indent="0">
              <a:buNone/>
            </a:pPr>
            <a:r>
              <a:rPr lang="en-US" sz="2800" b="1" dirty="0"/>
              <a:t>Outcome:</a:t>
            </a:r>
            <a:br>
              <a:rPr lang="en-US" sz="2800" dirty="0"/>
            </a:br>
            <a:r>
              <a:rPr lang="en-US" sz="2800" dirty="0"/>
              <a:t>The institution gained clarity on </a:t>
            </a:r>
            <a:r>
              <a:rPr lang="en-US" sz="2800" b="1" dirty="0"/>
              <a:t>critical assets and risk priorities</a:t>
            </a:r>
            <a:r>
              <a:rPr lang="en-US" sz="2800" dirty="0"/>
              <a:t>, enabling focused protection and recovery.</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2071711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20000"/>
          </a:bodyPr>
          <a:lstStyle/>
          <a:p>
            <a:pPr marL="0" indent="0">
              <a:buNone/>
            </a:pPr>
            <a:r>
              <a:rPr lang="en-US" sz="2800" b="1" dirty="0"/>
              <a:t>B. IDENTIFY (Understanding Assets and Risks)</a:t>
            </a:r>
          </a:p>
          <a:p>
            <a:pPr marL="0" indent="0">
              <a:buNone/>
            </a:pPr>
            <a:r>
              <a:rPr lang="en-US" sz="2800" b="1" dirty="0"/>
              <a:t>Purpose:</a:t>
            </a:r>
            <a:r>
              <a:rPr lang="en-US" sz="2800" dirty="0"/>
              <a:t> Determine what assets, data, and risks were affected.</a:t>
            </a:r>
          </a:p>
          <a:p>
            <a:pPr marL="0" indent="0">
              <a:buNone/>
            </a:pPr>
            <a:r>
              <a:rPr lang="en-US" sz="2800" b="1" dirty="0"/>
              <a:t>Actions Taken:</a:t>
            </a:r>
            <a:endParaRPr lang="en-US" sz="2800" dirty="0"/>
          </a:p>
          <a:p>
            <a:r>
              <a:rPr lang="en-US" sz="2800" dirty="0"/>
              <a:t>Identification of compromised systems and affected business services</a:t>
            </a:r>
          </a:p>
          <a:p>
            <a:r>
              <a:rPr lang="en-US" sz="2800" dirty="0"/>
              <a:t>Classification of sensitive customer and financial data</a:t>
            </a:r>
          </a:p>
          <a:p>
            <a:r>
              <a:rPr lang="en-US" sz="2800" dirty="0"/>
              <a:t>Conducting a Business Impact Analysis (BIA)</a:t>
            </a:r>
          </a:p>
          <a:p>
            <a:r>
              <a:rPr lang="en-US" sz="2800" dirty="0"/>
              <a:t>Updating the cyber risk register</a:t>
            </a:r>
          </a:p>
          <a:p>
            <a:pPr marL="0" indent="0">
              <a:buNone/>
            </a:pPr>
            <a:r>
              <a:rPr lang="en-US" sz="2800" b="1" dirty="0"/>
              <a:t>Outcome:</a:t>
            </a:r>
            <a:br>
              <a:rPr lang="en-US" sz="2800" dirty="0"/>
            </a:br>
            <a:r>
              <a:rPr lang="en-US" sz="2800" dirty="0"/>
              <a:t>The institution gained clarity on </a:t>
            </a:r>
            <a:r>
              <a:rPr lang="en-US" sz="2800" b="1" dirty="0"/>
              <a:t>critical assets and risk priorities</a:t>
            </a:r>
            <a:r>
              <a:rPr lang="en-US" sz="2800" dirty="0"/>
              <a:t>, enabling focused protection and recovery.</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4232448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10000"/>
          </a:bodyPr>
          <a:lstStyle/>
          <a:p>
            <a:pPr marL="0" indent="0">
              <a:buNone/>
            </a:pPr>
            <a:r>
              <a:rPr lang="en-US" sz="2800" b="1" dirty="0"/>
              <a:t>C. PROTECT (Preventive Safeguards)</a:t>
            </a:r>
          </a:p>
          <a:p>
            <a:pPr marL="0" indent="0">
              <a:buNone/>
            </a:pPr>
            <a:r>
              <a:rPr lang="en-US" sz="2800" b="1" dirty="0"/>
              <a:t>Purpose:</a:t>
            </a:r>
            <a:r>
              <a:rPr lang="en-US" sz="2800" dirty="0"/>
              <a:t> Limit damage and prevent further compromise.</a:t>
            </a:r>
          </a:p>
          <a:p>
            <a:pPr marL="0" indent="0">
              <a:buNone/>
            </a:pPr>
            <a:r>
              <a:rPr lang="en-US" sz="2800" b="1" dirty="0"/>
              <a:t>Actions Taken:</a:t>
            </a:r>
            <a:endParaRPr lang="en-US" sz="2800" dirty="0"/>
          </a:p>
          <a:p>
            <a:r>
              <a:rPr lang="en-US" sz="2800" dirty="0"/>
              <a:t>Isolation of infected systems</a:t>
            </a:r>
          </a:p>
          <a:p>
            <a:r>
              <a:rPr lang="en-US" sz="2800" dirty="0"/>
              <a:t>Enforcement of strong access controls and MFA</a:t>
            </a:r>
          </a:p>
          <a:p>
            <a:r>
              <a:rPr lang="en-US" sz="2800" dirty="0"/>
              <a:t>Securing backups using offline and immutable storage</a:t>
            </a:r>
          </a:p>
          <a:p>
            <a:r>
              <a:rPr lang="en-US" sz="2800" dirty="0"/>
              <a:t>Conducting staff awareness training on phishing and ransomware</a:t>
            </a:r>
          </a:p>
          <a:p>
            <a:pPr marL="0" indent="0">
              <a:buNone/>
            </a:pPr>
            <a:r>
              <a:rPr lang="en-US" sz="2800" b="1" dirty="0"/>
              <a:t>Outcome:</a:t>
            </a:r>
            <a:br>
              <a:rPr lang="en-US" sz="2800" dirty="0"/>
            </a:br>
            <a:r>
              <a:rPr lang="en-US" sz="2800" dirty="0"/>
              <a:t>Preventive controls were strengthened to reduce the likelihood of future ransomware infections.</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2694442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10000"/>
          </a:bodyPr>
          <a:lstStyle/>
          <a:p>
            <a:pPr marL="0" indent="0">
              <a:buNone/>
            </a:pPr>
            <a:r>
              <a:rPr lang="en-US" sz="2800" b="1" dirty="0"/>
              <a:t>D. DETECT (Early Identification of Incidents)</a:t>
            </a:r>
          </a:p>
          <a:p>
            <a:r>
              <a:rPr lang="en-US" sz="2800" b="1" dirty="0"/>
              <a:t>Purpose:</a:t>
            </a:r>
            <a:r>
              <a:rPr lang="en-US" sz="2800" dirty="0"/>
              <a:t> Improve visibility and reduce attack dwell time.</a:t>
            </a:r>
          </a:p>
          <a:p>
            <a:pPr marL="0" indent="0">
              <a:buNone/>
            </a:pPr>
            <a:r>
              <a:rPr lang="en-US" sz="2800" b="1" dirty="0"/>
              <a:t>Actions Taken:</a:t>
            </a:r>
            <a:endParaRPr lang="en-US" sz="2800" dirty="0"/>
          </a:p>
          <a:p>
            <a:r>
              <a:rPr lang="en-US" sz="2800" dirty="0"/>
              <a:t>Centralized log monitoring and alerting</a:t>
            </a:r>
          </a:p>
          <a:p>
            <a:r>
              <a:rPr lang="en-US" sz="2800" dirty="0"/>
              <a:t>Definition of ransomware indicators of compromise (</a:t>
            </a:r>
            <a:r>
              <a:rPr lang="en-US" sz="2800" dirty="0" err="1"/>
              <a:t>IoCs</a:t>
            </a:r>
            <a:r>
              <a:rPr lang="en-US" sz="2800" dirty="0"/>
              <a:t>)</a:t>
            </a:r>
          </a:p>
          <a:p>
            <a:r>
              <a:rPr lang="en-US" sz="2800" dirty="0"/>
              <a:t>Establishment of incident escalation procedures</a:t>
            </a:r>
          </a:p>
          <a:p>
            <a:pPr marL="0" indent="0">
              <a:buNone/>
            </a:pPr>
            <a:r>
              <a:rPr lang="en-US" sz="2800" b="1" dirty="0"/>
              <a:t>Outcome:</a:t>
            </a:r>
            <a:br>
              <a:rPr lang="en-US" sz="2800" dirty="0"/>
            </a:br>
            <a:r>
              <a:rPr lang="en-US" sz="2800" dirty="0"/>
              <a:t>Future attacks can be </a:t>
            </a:r>
            <a:r>
              <a:rPr lang="en-US" sz="2800" b="1" dirty="0"/>
              <a:t>detected earlier</a:t>
            </a:r>
            <a:r>
              <a:rPr lang="en-US" sz="2800" dirty="0"/>
              <a:t>, minimizing operational and financial impact.</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3285441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a:bodyPr>
          <a:lstStyle/>
          <a:p>
            <a:pPr marL="0" indent="0">
              <a:buNone/>
            </a:pPr>
            <a:r>
              <a:rPr lang="en-US" sz="2800" b="1" dirty="0"/>
              <a:t>E. RESPOND (Incident Handling)</a:t>
            </a:r>
          </a:p>
          <a:p>
            <a:r>
              <a:rPr lang="en-US" sz="2800" b="1" dirty="0"/>
              <a:t>Purpose:</a:t>
            </a:r>
            <a:r>
              <a:rPr lang="en-US" sz="2800" dirty="0"/>
              <a:t> Contain and manage the ransomware incident.</a:t>
            </a:r>
          </a:p>
          <a:p>
            <a:pPr marL="0" indent="0">
              <a:buNone/>
            </a:pPr>
            <a:r>
              <a:rPr lang="en-US" sz="2800" b="1" dirty="0"/>
              <a:t>Actions Taken:</a:t>
            </a:r>
            <a:endParaRPr lang="en-US" sz="2800" dirty="0"/>
          </a:p>
          <a:p>
            <a:r>
              <a:rPr lang="en-US" sz="2800" dirty="0"/>
              <a:t>Execution of a formal Incident Response Plan</a:t>
            </a:r>
          </a:p>
          <a:p>
            <a:r>
              <a:rPr lang="en-US" sz="2800" dirty="0"/>
              <a:t>Containment and eradication of ransomware</a:t>
            </a:r>
          </a:p>
          <a:p>
            <a:r>
              <a:rPr lang="en-US" sz="2800" dirty="0"/>
              <a:t>Regulatory and stakeholder communication</a:t>
            </a:r>
          </a:p>
          <a:p>
            <a:r>
              <a:rPr lang="en-US" sz="2800" dirty="0"/>
              <a:t>Preservation of digital evidence</a:t>
            </a:r>
          </a:p>
          <a:p>
            <a:pPr marL="0" indent="0">
              <a:buNone/>
            </a:pPr>
            <a:r>
              <a:rPr lang="en-US" sz="2800" b="1" dirty="0"/>
              <a:t>Outcome:</a:t>
            </a:r>
            <a:br>
              <a:rPr lang="en-US" sz="2800" dirty="0"/>
            </a:br>
            <a:r>
              <a:rPr lang="en-US" sz="2800" dirty="0"/>
              <a:t>The response became </a:t>
            </a:r>
            <a:r>
              <a:rPr lang="en-US" sz="2800" b="1" dirty="0"/>
              <a:t>structured, timely, and compliant</a:t>
            </a:r>
            <a:r>
              <a:rPr lang="en-US" sz="2800" dirty="0"/>
              <a:t>, reducing confusion and reputational damage.</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1023657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fontScale="92500" lnSpcReduction="10000"/>
          </a:bodyPr>
          <a:lstStyle/>
          <a:p>
            <a:pPr marL="0" indent="0">
              <a:buNone/>
            </a:pPr>
            <a:r>
              <a:rPr lang="en-US" sz="2800" b="1" dirty="0"/>
              <a:t>F. RECOVER (Restoration and Improvement)</a:t>
            </a:r>
          </a:p>
          <a:p>
            <a:r>
              <a:rPr lang="en-US" sz="2800" b="1" dirty="0"/>
              <a:t>Purpose:</a:t>
            </a:r>
            <a:r>
              <a:rPr lang="en-US" sz="2800" dirty="0"/>
              <a:t> Restore operations and enhance resilience.</a:t>
            </a:r>
          </a:p>
          <a:p>
            <a:pPr marL="0" indent="0">
              <a:buNone/>
            </a:pPr>
            <a:r>
              <a:rPr lang="en-US" sz="2800" b="1" dirty="0"/>
              <a:t>Actions Taken:</a:t>
            </a:r>
            <a:endParaRPr lang="en-US" sz="2800" dirty="0"/>
          </a:p>
          <a:p>
            <a:r>
              <a:rPr lang="en-US" sz="2800" dirty="0"/>
              <a:t>Restoration of systems from clean backups</a:t>
            </a:r>
          </a:p>
          <a:p>
            <a:r>
              <a:rPr lang="en-US" sz="2800" dirty="0"/>
              <a:t>Validation of data integrity</a:t>
            </a:r>
          </a:p>
          <a:p>
            <a:r>
              <a:rPr lang="en-US" sz="2800" dirty="0"/>
              <a:t>Review of lessons learned</a:t>
            </a:r>
          </a:p>
          <a:p>
            <a:r>
              <a:rPr lang="en-US" sz="2800" dirty="0"/>
              <a:t>Update of Disaster Recovery (DR) and Business Continuity Plans (BCP)</a:t>
            </a:r>
          </a:p>
          <a:p>
            <a:pPr marL="0" indent="0">
              <a:buNone/>
            </a:pPr>
            <a:r>
              <a:rPr lang="en-US" sz="2800" b="1" dirty="0"/>
              <a:t>Outcome:</a:t>
            </a:r>
            <a:br>
              <a:rPr lang="en-US" sz="2800" dirty="0"/>
            </a:br>
            <a:r>
              <a:rPr lang="en-US" sz="2800" dirty="0"/>
              <a:t>Operations were restored securely, and resilience against future incidents was improved.</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1595850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lnSpcReduction="10000"/>
          </a:bodyPr>
          <a:lstStyle/>
          <a:p>
            <a:pPr marL="0" indent="0">
              <a:buNone/>
            </a:pPr>
            <a:r>
              <a:rPr lang="en-US" sz="2800" b="1" dirty="0"/>
              <a:t>4.CSF Profiles and Implementation Tiers</a:t>
            </a:r>
          </a:p>
          <a:p>
            <a:r>
              <a:rPr lang="en-US" sz="2800" b="1" dirty="0"/>
              <a:t>Current Profile (Before Attack):</a:t>
            </a:r>
            <a:br>
              <a:rPr lang="en-US" sz="2800" dirty="0"/>
            </a:br>
            <a:r>
              <a:rPr lang="en-US" sz="2800" dirty="0"/>
              <a:t>Tier 1–2 (Partial / Risk-Informed)</a:t>
            </a:r>
            <a:br>
              <a:rPr lang="en-US" sz="2800" dirty="0"/>
            </a:br>
            <a:r>
              <a:rPr lang="en-US" sz="2800" dirty="0"/>
              <a:t>Ad-hoc controls and weak governance</a:t>
            </a:r>
          </a:p>
          <a:p>
            <a:r>
              <a:rPr lang="en-US" sz="2800" b="1" dirty="0"/>
              <a:t>Target Profile (After CSF Implementation):</a:t>
            </a:r>
            <a:br>
              <a:rPr lang="en-US" sz="2800" dirty="0"/>
            </a:br>
            <a:r>
              <a:rPr lang="en-US" sz="2800" dirty="0"/>
              <a:t>Tier 3 (Repeatable)</a:t>
            </a:r>
            <a:br>
              <a:rPr lang="en-US" sz="2800" dirty="0"/>
            </a:br>
            <a:r>
              <a:rPr lang="en-US" sz="2800" dirty="0"/>
              <a:t>Defined policies, tested response, and continuous monitoring</a:t>
            </a:r>
          </a:p>
          <a:p>
            <a:pPr marL="0" indent="0">
              <a:buNone/>
            </a:pPr>
            <a:r>
              <a:rPr lang="en-US" sz="2800" dirty="0"/>
              <a:t>A </a:t>
            </a:r>
            <a:r>
              <a:rPr lang="en-US" sz="2800" b="1" dirty="0"/>
              <a:t>gap analysis</a:t>
            </a:r>
            <a:r>
              <a:rPr lang="en-US" sz="2800" dirty="0"/>
              <a:t> was conducted, and a roadmap was created to progressively improve cybersecurity maturity.</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404638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buNone/>
            </a:pPr>
            <a:r>
              <a:rPr lang="en-US" sz="2800" b="1" dirty="0"/>
              <a:t>5.Result and Benefits</a:t>
            </a:r>
          </a:p>
          <a:p>
            <a:r>
              <a:rPr lang="en-US" sz="2800" dirty="0"/>
              <a:t>After implementing NIST CSF 2.0:</a:t>
            </a:r>
          </a:p>
          <a:p>
            <a:r>
              <a:rPr lang="en-US" sz="2800" dirty="0"/>
              <a:t>Cybersecurity governance was strengthened</a:t>
            </a:r>
          </a:p>
          <a:p>
            <a:r>
              <a:rPr lang="en-US" sz="2800" dirty="0"/>
              <a:t>Incident response and recovery time were reduced</a:t>
            </a:r>
          </a:p>
          <a:p>
            <a:r>
              <a:rPr lang="en-US" sz="2800" dirty="0"/>
              <a:t>Regulatory confidence increased</a:t>
            </a:r>
          </a:p>
          <a:p>
            <a:r>
              <a:rPr lang="en-US" sz="2800" dirty="0"/>
              <a:t>The organization became more resilient to ransomware attacks</a:t>
            </a:r>
          </a:p>
          <a:p>
            <a:pPr marL="0" indent="0" algn="just">
              <a:buNone/>
            </a:pPr>
            <a:endParaRPr lang="en-US" sz="2800" b="1" dirty="0"/>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2522944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0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1184" y="363746"/>
            <a:ext cx="8229600" cy="1143000"/>
          </a:xfrm>
        </p:spPr>
        <p:txBody>
          <a:bodyPr>
            <a:normAutofit fontScale="90000"/>
          </a:bodyPr>
          <a:lstStyle/>
          <a:p>
            <a:r>
              <a:rPr lang="en-US" dirty="0">
                <a:solidFill>
                  <a:srgbClr val="7030A0"/>
                </a:solidFill>
              </a:rPr>
              <a:t>🏦 Real Case: NIST CSF </a:t>
            </a:r>
            <a:r>
              <a:rPr lang="en-US" b="1" dirty="0">
                <a:solidFill>
                  <a:srgbClr val="7030A0"/>
                </a:solidFill>
              </a:rPr>
              <a:t>Before vs After</a:t>
            </a:r>
            <a:r>
              <a:rPr lang="en-US" dirty="0">
                <a:solidFill>
                  <a:srgbClr val="7030A0"/>
                </a:solidFill>
              </a:rPr>
              <a:t> Ransomware</a:t>
            </a:r>
            <a:endParaRPr lang="en-US" b="1" dirty="0">
              <a:solidFill>
                <a:srgbClr val="7030A0"/>
              </a:solidFill>
            </a:endParaRPr>
          </a:p>
        </p:txBody>
      </p:sp>
      <p:sp>
        <p:nvSpPr>
          <p:cNvPr id="3" name="Content Placeholder 2"/>
          <p:cNvSpPr>
            <a:spLocks noGrp="1"/>
          </p:cNvSpPr>
          <p:nvPr>
            <p:ph idx="1"/>
          </p:nvPr>
        </p:nvSpPr>
        <p:spPr>
          <a:xfrm>
            <a:off x="457200" y="1457395"/>
            <a:ext cx="8123584" cy="4799276"/>
          </a:xfrm>
        </p:spPr>
        <p:txBody>
          <a:bodyPr>
            <a:normAutofit/>
          </a:bodyPr>
          <a:lstStyle/>
          <a:p>
            <a:pPr marL="0" indent="0" algn="just">
              <a:buNone/>
            </a:pPr>
            <a:r>
              <a:rPr lang="en-US" sz="2800" b="1" dirty="0"/>
              <a:t>Conclusion</a:t>
            </a:r>
          </a:p>
          <a:p>
            <a:pPr marL="0" indent="0" algn="just">
              <a:buNone/>
            </a:pPr>
            <a:r>
              <a:rPr lang="en-US" sz="2800" dirty="0"/>
              <a:t>In this case, the NIST Cybersecurity Framework 2.0 was used as a comprehensive, lifecycle-based framework to manage a ransomware incident. By applying its six core functions, the financial institution was able not only to respond and recover from the attack but also to strengthen governance, improve preventive controls, and enhance overall cybersecurity maturity, thereby reducing the risk of future incidents.</a:t>
            </a:r>
          </a:p>
        </p:txBody>
      </p:sp>
      <p:pic>
        <p:nvPicPr>
          <p:cNvPr id="4" name="Picture 3" descr="A_digital_vector_graphic_displays_the_Present_Acad.png"/>
          <p:cNvPicPr>
            <a:picLocks noChangeAspect="1"/>
          </p:cNvPicPr>
          <p:nvPr/>
        </p:nvPicPr>
        <p:blipFill>
          <a:blip r:embed="rId2"/>
          <a:stretch>
            <a:fillRect/>
          </a:stretch>
        </p:blipFill>
        <p:spPr>
          <a:xfrm>
            <a:off x="7955280" y="5669280"/>
            <a:ext cx="1005840" cy="1508760"/>
          </a:xfrm>
          <a:prstGeom prst="rect">
            <a:avLst/>
          </a:prstGeom>
        </p:spPr>
      </p:pic>
      <p:sp>
        <p:nvSpPr>
          <p:cNvPr id="5" name="Date Placeholder 4"/>
          <p:cNvSpPr>
            <a:spLocks noGrp="1"/>
          </p:cNvSpPr>
          <p:nvPr>
            <p:ph type="dt" sz="half" idx="10"/>
          </p:nvPr>
        </p:nvSpPr>
        <p:spPr/>
        <p:txBody>
          <a:bodyPr/>
          <a:lstStyle/>
          <a:p>
            <a:fld id="{02934A6A-9D30-4A2E-BF5A-34B0342BF62C}" type="datetime1">
              <a:rPr lang="en-US" smtClean="0"/>
              <a:t>2/20/2026</a:t>
            </a:fld>
            <a:endParaRPr lang="en-US"/>
          </a:p>
        </p:txBody>
      </p:sp>
    </p:spTree>
    <p:extLst>
      <p:ext uri="{BB962C8B-B14F-4D97-AF65-F5344CB8AC3E}">
        <p14:creationId xmlns:p14="http://schemas.microsoft.com/office/powerpoint/2010/main" val="2184982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961</TotalTime>
  <Words>1136</Words>
  <Application>Microsoft Office PowerPoint</Application>
  <PresentationFormat>On-screen Show (4:3)</PresentationFormat>
  <Paragraphs>155</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CYBER SECURITY</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lpstr>🏦 Real Case: NIST CSF Before vs After Ransomware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PCA</dc:creator>
  <cp:keywords/>
  <dc:description>generated using python-pptx</dc:description>
  <cp:lastModifiedBy>Anuskar Sigdel</cp:lastModifiedBy>
  <cp:revision>79</cp:revision>
  <dcterms:created xsi:type="dcterms:W3CDTF">2013-01-27T09:14:16Z</dcterms:created>
  <dcterms:modified xsi:type="dcterms:W3CDTF">2026-02-20T02:18:56Z</dcterms:modified>
  <cp:category/>
</cp:coreProperties>
</file>