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346" r:id="rId3"/>
    <p:sldId id="326" r:id="rId4"/>
    <p:sldId id="362" r:id="rId5"/>
    <p:sldId id="347" r:id="rId6"/>
    <p:sldId id="363" r:id="rId7"/>
    <p:sldId id="364" r:id="rId8"/>
    <p:sldId id="348" r:id="rId9"/>
    <p:sldId id="365" r:id="rId10"/>
    <p:sldId id="349" r:id="rId11"/>
    <p:sldId id="370" r:id="rId12"/>
    <p:sldId id="366" r:id="rId13"/>
    <p:sldId id="367" r:id="rId14"/>
    <p:sldId id="368" r:id="rId15"/>
    <p:sldId id="371" r:id="rId16"/>
    <p:sldId id="369" r:id="rId17"/>
    <p:sldId id="373" r:id="rId18"/>
    <p:sldId id="372" r:id="rId19"/>
    <p:sldId id="374" r:id="rId20"/>
    <p:sldId id="376" r:id="rId21"/>
    <p:sldId id="375" r:id="rId22"/>
    <p:sldId id="377" r:id="rId23"/>
    <p:sldId id="378" r:id="rId24"/>
    <p:sldId id="379" r:id="rId25"/>
    <p:sldId id="380" r:id="rId26"/>
    <p:sldId id="382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70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01431D-19B0-4115-96BC-42F1841FB80B}" type="datetime1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C659A9-B627-4A93-AB03-D8D3E231F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357300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375ECD-153B-4DF6-886B-7086D1541E62}" type="datetime1">
              <a:rPr lang="en-US" smtClean="0"/>
              <a:t>3/14/2026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32D632-18E0-4EC7-ACCF-D86DBE415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65137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0EB13-87B1-4357-9064-128A011212B3}" type="datetime1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063E0-1639-4315-B594-904872C16F49}" type="datetime1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C66B-BC68-4A44-83A0-331AAC0745D1}" type="datetime1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A2B98-824D-40F2-96EB-05445F2F59A7}" type="datetime1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081EC-1622-41C9-8CA1-1EDD4B074BDF}" type="datetime1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E9A63-B66C-437F-A3BC-ACFBC0CC1A05}" type="datetime1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E66D1-DC48-491F-A5EF-CA4E99944BDF}" type="datetime1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D3071-1DF5-43E6-A132-9844F9E2A529}" type="datetime1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D4C08-1871-4978-8161-6E55E3933DDF}" type="datetime1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84AD7-2CD7-4BF1-9889-4FB1D4211333}" type="datetime1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CEC04-86A5-4D64-9758-2CFEAC225331}" type="datetime1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424C3B-1C83-48BC-AAF6-51A17E28F410}" type="datetime1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47117" y="157482"/>
            <a:ext cx="1099312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 smtClean="0"/>
              <a:t>CYBER SECURITY</a:t>
            </a:r>
            <a:endParaRPr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79900" y="5029201"/>
            <a:ext cx="9463596" cy="153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4200" b="1">
                <a:solidFill>
                  <a:srgbClr val="460078"/>
                </a:solidFill>
              </a:defRPr>
            </a:pPr>
            <a:r>
              <a:rPr lang="en-GB" dirty="0"/>
              <a:t>Module </a:t>
            </a:r>
            <a:r>
              <a:rPr lang="en-GB" dirty="0" err="1" smtClean="0"/>
              <a:t>IV:Practical</a:t>
            </a:r>
            <a:r>
              <a:rPr lang="en-GB" dirty="0" smtClean="0"/>
              <a:t> </a:t>
            </a:r>
            <a:r>
              <a:rPr lang="en-GB" dirty="0"/>
              <a:t>Security </a:t>
            </a:r>
            <a:r>
              <a:rPr lang="en-GB" dirty="0" smtClean="0"/>
              <a:t>Concepts</a:t>
            </a:r>
          </a:p>
          <a:p>
            <a:pPr>
              <a:defRPr sz="4200" b="1">
                <a:solidFill>
                  <a:srgbClr val="460078"/>
                </a:solidFill>
              </a:defRPr>
            </a:pPr>
            <a:r>
              <a:rPr lang="en-GB" dirty="0" smtClean="0"/>
              <a:t> </a:t>
            </a:r>
            <a:r>
              <a:rPr lang="en-US" sz="3000" b="1" dirty="0" err="1" smtClean="0">
                <a:solidFill>
                  <a:srgbClr val="460078"/>
                </a:solidFill>
              </a:rPr>
              <a:t>Er</a:t>
            </a:r>
            <a:r>
              <a:rPr lang="en-US" sz="3000" b="1" dirty="0" smtClean="0">
                <a:solidFill>
                  <a:srgbClr val="460078"/>
                </a:solidFill>
              </a:rPr>
              <a:t>. Prakash Chandra Adhikari</a:t>
            </a:r>
            <a:endParaRPr lang="en-US" sz="3000" b="1" dirty="0">
              <a:solidFill>
                <a:srgbClr val="460078"/>
              </a:solidFill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8D382-49DB-4807-A586-175A2D7637E3}" type="datetime1">
              <a:rPr lang="en-US" smtClean="0"/>
              <a:t>3/14/2026</a:t>
            </a:fld>
            <a:endParaRPr lang="en-US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34538" y="1200943"/>
            <a:ext cx="5505214" cy="3670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7030A0"/>
                </a:solidFill>
              </a:rPr>
              <a:t>Learning Agenda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33107"/>
            <a:ext cx="8123584" cy="4799276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rPr lang="en-GB" sz="2800" dirty="0"/>
              <a:t>Introduction to practical security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GB" sz="2800" dirty="0"/>
              <a:t>Access control and authentication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GB" sz="2800" dirty="0"/>
              <a:t>Network and system security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GB" sz="2800" dirty="0"/>
              <a:t>Application and data security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GB" sz="2800" dirty="0"/>
              <a:t>Monitoring and incident response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GB" sz="2800" dirty="0"/>
              <a:t>Activities and next steps</a:t>
            </a:r>
          </a:p>
          <a:p>
            <a:endParaRPr lang="en-US" sz="2800" b="1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3/14/2026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301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rgbClr val="7030A0"/>
                </a:solidFill>
              </a:rPr>
              <a:t>What Are Practical Security Concepts?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rPr lang="en-GB" sz="2800" b="1" dirty="0"/>
              <a:t>Practical security focuses on implementing security controls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GB" sz="2800" b="1" dirty="0"/>
              <a:t>It translates theory into real-world protection mechanisms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GB" sz="2800" b="1" dirty="0"/>
              <a:t>Used to protect systems, networks, and data in practice</a:t>
            </a:r>
          </a:p>
          <a:p>
            <a:endParaRPr lang="en-US" sz="2800" b="1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3/14/2026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572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GB" b="1" dirty="0" smtClean="0">
                <a:solidFill>
                  <a:srgbClr val="7030A0"/>
                </a:solidFill>
              </a:rPr>
              <a:t>Defence-in-Depth </a:t>
            </a:r>
            <a:r>
              <a:rPr lang="en-GB" b="1" dirty="0">
                <a:solidFill>
                  <a:srgbClr val="7030A0"/>
                </a:solidFill>
              </a:rPr>
              <a:t>Strategy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3/14/2026</a:t>
            </a:fld>
            <a:endParaRPr lang="en-US"/>
          </a:p>
        </p:txBody>
      </p:sp>
      <p:pic>
        <p:nvPicPr>
          <p:cNvPr id="1026" name="Picture 2" descr="Cybersecurity Layers Explained: Defense in Depth Done Right | by  Karthikeyan Nagaraj | Infosec Matrix | Medium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398" y="1357152"/>
            <a:ext cx="7186880" cy="431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7540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GB" b="1" dirty="0" err="1">
                <a:solidFill>
                  <a:srgbClr val="7030A0"/>
                </a:solidFill>
              </a:rPr>
              <a:t>Defense</a:t>
            </a:r>
            <a:r>
              <a:rPr lang="en-GB" b="1" dirty="0">
                <a:solidFill>
                  <a:srgbClr val="7030A0"/>
                </a:solidFill>
              </a:rPr>
              <a:t>-in-Depth Strategy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rPr lang="en-GB" sz="2800" dirty="0"/>
              <a:t>Uses multiple layers of security controls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GB" sz="2800" dirty="0"/>
              <a:t>Prevents single points of failure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GB" sz="2800" dirty="0"/>
              <a:t>Combines technical, administrative, and physical controls</a:t>
            </a:r>
          </a:p>
          <a:p>
            <a:endParaRPr lang="en-US" sz="2800" b="1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3/14/2026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996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7030A0"/>
                </a:solidFill>
              </a:rPr>
              <a:t>Access Control Fundamentals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3/14/2026</a:t>
            </a:fld>
            <a:endParaRPr lang="en-US"/>
          </a:p>
        </p:txBody>
      </p:sp>
      <p:pic>
        <p:nvPicPr>
          <p:cNvPr id="2050" name="Picture 2" descr="Identification, authentication and authorization in the proposed LBAC. |  Download Scientific Diagram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039566"/>
            <a:ext cx="8096250" cy="2409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9541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7030A0"/>
                </a:solidFill>
              </a:rPr>
              <a:t>Access Control Fundamentals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3/14/2026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rPr lang="en-GB" sz="2800" dirty="0"/>
              <a:t>Access control restricts system access to authorised users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GB" sz="2800" dirty="0"/>
              <a:t>Based on identification, authentication, and authorisation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GB" sz="2800" dirty="0"/>
              <a:t>Reduces risk of unauthorised access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38206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7030A0"/>
                </a:solidFill>
              </a:rPr>
              <a:t>Authentication Mechanisms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3/14/2026</a:t>
            </a:fld>
            <a:endParaRPr lang="en-US"/>
          </a:p>
        </p:txBody>
      </p:sp>
      <p:pic>
        <p:nvPicPr>
          <p:cNvPr id="3074" name="Picture 2" descr="What Is Multifactor Authentication? - Palo Alto Networks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88074"/>
            <a:ext cx="8123238" cy="3937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9648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7030A0"/>
                </a:solidFill>
              </a:rPr>
              <a:t>Authentication Mechanisms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3/14/2026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rPr lang="en-GB" sz="3000" dirty="0"/>
              <a:t>Something you know (passwords, PINs)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GB" sz="3000" dirty="0"/>
              <a:t>Something you have (tokens, smart cards)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GB" sz="3000" dirty="0"/>
              <a:t>Something you are (biometrics)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19273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7030A0"/>
                </a:solidFill>
              </a:rPr>
              <a:t>Multi-Factor Authentication (MFA)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3/14/2026</a:t>
            </a:fld>
            <a:endParaRPr lang="en-US"/>
          </a:p>
        </p:txBody>
      </p:sp>
      <p:pic>
        <p:nvPicPr>
          <p:cNvPr id="5122" name="Picture 2" descr="Basic Architecture of MFA system. | Download Scientific Diagram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694" y="1713706"/>
            <a:ext cx="809625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7360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7030A0"/>
                </a:solidFill>
              </a:rPr>
              <a:t>Multi-Factor Authentication (MFA)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3/14/2026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rPr lang="en-GB" sz="2800" dirty="0"/>
              <a:t>Combines two or more authentication factors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GB" sz="2800" dirty="0"/>
              <a:t>Greatly improves account security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GB" sz="2800" dirty="0"/>
              <a:t>Widely used in enterprise and cloud systems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93994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7030A0"/>
                </a:solidFill>
              </a:rPr>
              <a:t>Network Security Controls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3/14/2026</a:t>
            </a:fld>
            <a:endParaRPr lang="en-US"/>
          </a:p>
        </p:txBody>
      </p:sp>
      <p:pic>
        <p:nvPicPr>
          <p:cNvPr id="7170" name="Picture 2" descr="example of a secure network uses IDS/IPS, DMZ, firewall, and proxy.... |  Download Scientific Diagram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415" y="1506746"/>
            <a:ext cx="7675262" cy="4799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1835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7030A0"/>
                </a:solidFill>
              </a:rPr>
              <a:t>Network Security Controls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rPr lang="en-GB" sz="2800" dirty="0"/>
              <a:t>Firewalls control network traffic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GB" sz="2800" dirty="0"/>
              <a:t>Intrusion Detection and Prevention Systems monitor attacks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GB" sz="2800" dirty="0"/>
              <a:t>Segmentation limits attack spread</a:t>
            </a:r>
          </a:p>
          <a:p>
            <a:endParaRPr lang="en-US" sz="2800" b="1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3/14/2026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308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7030A0"/>
                </a:solidFill>
              </a:rPr>
              <a:t>System Hardening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3/14/2026</a:t>
            </a:fld>
            <a:endParaRPr lang="en-US"/>
          </a:p>
        </p:txBody>
      </p:sp>
      <p:pic>
        <p:nvPicPr>
          <p:cNvPr id="9218" name="Picture 2" descr="What is System Hardening? Standards and Best Practices | Chef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72171"/>
            <a:ext cx="8123238" cy="4569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4405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7030A0"/>
                </a:solidFill>
              </a:rPr>
              <a:t>System Hardening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3/14/2026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rPr lang="en-GB" sz="2800" dirty="0"/>
              <a:t>Removing unnecessary services and software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GB" sz="2800" dirty="0"/>
              <a:t>Applying security patches and updates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GB" sz="2800" dirty="0"/>
              <a:t>Configuring secure system settings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699222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7030A0"/>
                </a:solidFill>
              </a:rPr>
              <a:t>Application Security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3/14/2026</a:t>
            </a:fld>
            <a:endParaRPr lang="en-US"/>
          </a:p>
        </p:txBody>
      </p:sp>
      <p:pic>
        <p:nvPicPr>
          <p:cNvPr id="10242" name="Picture 2" descr="Secure SDLC: A Comprehensive Guide | Secure Software Development Life Cycle  | Snyk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734636"/>
            <a:ext cx="8123238" cy="4244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54458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7030A0"/>
                </a:solidFill>
              </a:rPr>
              <a:t>Application Security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rPr lang="en-GB" sz="2800" dirty="0"/>
              <a:t>Plaintext is readable data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GB" sz="2800" dirty="0" err="1"/>
              <a:t>Ciphertext</a:t>
            </a:r>
            <a:r>
              <a:rPr lang="en-GB" sz="2800" dirty="0"/>
              <a:t> is encrypted data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GB" sz="2800" dirty="0"/>
              <a:t>Encryption and decryption use cryptographic keys</a:t>
            </a:r>
          </a:p>
          <a:p>
            <a:endParaRPr lang="en-US" sz="2800" b="1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3/14/2026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12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7030A0"/>
                </a:solidFill>
              </a:rPr>
              <a:t>Data Security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3/14/2026</a:t>
            </a:fld>
            <a:endParaRPr lang="en-US"/>
          </a:p>
        </p:txBody>
      </p:sp>
      <p:pic>
        <p:nvPicPr>
          <p:cNvPr id="12290" name="Picture 2" descr="Big Data Security Challenges and Best Practices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95070"/>
            <a:ext cx="8123238" cy="3923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92655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7030A0"/>
                </a:solidFill>
              </a:rPr>
              <a:t>Data Security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rPr lang="en-GB" sz="2800" dirty="0"/>
              <a:t>Encryption protects data at rest and in transit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GB" sz="2800" dirty="0"/>
              <a:t>Access controls limit data exposure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GB" sz="2800" dirty="0"/>
              <a:t>Backups protect against data loss</a:t>
            </a:r>
          </a:p>
          <a:p>
            <a:endParaRPr lang="en-US" sz="2800" b="1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3/14/2026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4010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7030A0"/>
                </a:solidFill>
              </a:rPr>
              <a:t>Logging and Monitoring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3/14/2026</a:t>
            </a:fld>
            <a:endParaRPr lang="en-US"/>
          </a:p>
        </p:txBody>
      </p:sp>
      <p:pic>
        <p:nvPicPr>
          <p:cNvPr id="13314" name="Picture 2" descr="Security Information and Event Management (SIEM) Architecture - Logsign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0344" y="1575594"/>
            <a:ext cx="6076950" cy="456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57969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7030A0"/>
                </a:solidFill>
              </a:rPr>
              <a:t>Logging and Monitoring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rPr lang="en-GB" sz="2800" dirty="0"/>
              <a:t>Logs record system and user activity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GB" sz="2800" dirty="0"/>
              <a:t>Monitoring detects suspicious behaviour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GB" sz="2800" dirty="0"/>
              <a:t>Essential for incident detection and response</a:t>
            </a:r>
          </a:p>
          <a:p>
            <a:endParaRPr lang="en-US" sz="2800" b="1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3/14/2026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3830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7030A0"/>
                </a:solidFill>
              </a:rPr>
              <a:t>Incident Response Basics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3/14/2026</a:t>
            </a:fld>
            <a:endParaRPr lang="en-US"/>
          </a:p>
        </p:txBody>
      </p:sp>
      <p:pic>
        <p:nvPicPr>
          <p:cNvPr id="14340" name="Picture 4" descr="Incident Response Life Cycle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4210" y="1324160"/>
            <a:ext cx="5212080" cy="4799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3118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7030A0"/>
                </a:solidFill>
              </a:rPr>
              <a:t>Incident Response Basics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rPr lang="en-GB" sz="2800" dirty="0"/>
              <a:t>Preparation before incidents occur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GB" sz="2800" dirty="0"/>
              <a:t>Detection and analysis of security events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GB" sz="2800" dirty="0"/>
              <a:t>Containment, eradication, and recovery</a:t>
            </a:r>
          </a:p>
          <a:p>
            <a:endParaRPr lang="en-US" sz="2800" b="1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3/14/2026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5675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7030A0"/>
                </a:solidFill>
              </a:rPr>
              <a:t>Physical Security Controls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3/14/2026</a:t>
            </a:fld>
            <a:endParaRPr lang="en-US"/>
          </a:p>
        </p:txBody>
      </p:sp>
      <p:pic>
        <p:nvPicPr>
          <p:cNvPr id="15364" name="Picture 4" descr="Physical Security in Data Centers: A Critical Layer of Protection | NAY LIN  TUN posted on the topic | LinkedIn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356" y="1457325"/>
            <a:ext cx="7368925" cy="4799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28801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7030A0"/>
                </a:solidFill>
              </a:rPr>
              <a:t>Physical Security Controls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rPr lang="en-GB" sz="2800" dirty="0"/>
              <a:t>Protect physical assets and facilities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GB" sz="2800" dirty="0"/>
              <a:t>Includes locks, access cards, and surveillance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GB" sz="2800" dirty="0"/>
              <a:t>Supports overall cyber security</a:t>
            </a:r>
          </a:p>
          <a:p>
            <a:endParaRPr lang="en-US" sz="2800" b="1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3/14/2026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3227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7030A0"/>
                </a:solidFill>
              </a:rPr>
              <a:t>Common Practical Security Failures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rPr lang="en-GB" sz="2800" dirty="0"/>
              <a:t>Weak passwords and poor authentication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GB" sz="2800" dirty="0"/>
              <a:t>Unpatched systems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GB" sz="2800" dirty="0"/>
              <a:t>Lack of monitoring and response planning</a:t>
            </a:r>
          </a:p>
          <a:p>
            <a:endParaRPr lang="en-US" sz="2800" b="1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3/14/2026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747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2663</TotalTime>
  <Words>362</Words>
  <Application>Microsoft Office PowerPoint</Application>
  <PresentationFormat>On-screen Show (4:3)</PresentationFormat>
  <Paragraphs>99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CYBER SECURITY</vt:lpstr>
      <vt:lpstr>Learning Agenda</vt:lpstr>
      <vt:lpstr>What Are Practical Security Concepts?</vt:lpstr>
      <vt:lpstr>Defence-in-Depth Strategy</vt:lpstr>
      <vt:lpstr>Defense-in-Depth Strategy</vt:lpstr>
      <vt:lpstr>Access Control Fundamentals</vt:lpstr>
      <vt:lpstr>Access Control Fundamentals</vt:lpstr>
      <vt:lpstr>Authentication Mechanisms</vt:lpstr>
      <vt:lpstr>Authentication Mechanisms</vt:lpstr>
      <vt:lpstr>Multi-Factor Authentication (MFA)</vt:lpstr>
      <vt:lpstr>Multi-Factor Authentication (MFA)</vt:lpstr>
      <vt:lpstr>Network Security Controls</vt:lpstr>
      <vt:lpstr>Network Security Controls</vt:lpstr>
      <vt:lpstr>System Hardening</vt:lpstr>
      <vt:lpstr>System Hardening</vt:lpstr>
      <vt:lpstr>Application Security</vt:lpstr>
      <vt:lpstr>Application Security</vt:lpstr>
      <vt:lpstr>Data Security</vt:lpstr>
      <vt:lpstr>Data Security</vt:lpstr>
      <vt:lpstr>Logging and Monitoring</vt:lpstr>
      <vt:lpstr>Logging and Monitoring</vt:lpstr>
      <vt:lpstr>Incident Response Basics</vt:lpstr>
      <vt:lpstr>Incident Response Basics</vt:lpstr>
      <vt:lpstr>Physical Security Controls</vt:lpstr>
      <vt:lpstr>Physical Security Controls</vt:lpstr>
      <vt:lpstr>Common Practical Security Failures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PCA</dc:creator>
  <cp:keywords/>
  <dc:description>generated using python-pptx</dc:description>
  <cp:lastModifiedBy>Administrator</cp:lastModifiedBy>
  <cp:revision>87</cp:revision>
  <dcterms:created xsi:type="dcterms:W3CDTF">2013-01-27T09:14:16Z</dcterms:created>
  <dcterms:modified xsi:type="dcterms:W3CDTF">2026-03-14T07:08:19Z</dcterms:modified>
  <cp:category/>
</cp:coreProperties>
</file>