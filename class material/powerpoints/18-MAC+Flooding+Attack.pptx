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9" d="100"/>
          <a:sy n="99" d="100"/>
        </p:scale>
        <p:origin x="764" y="-12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96416" y="9212274"/>
            <a:ext cx="5981065" cy="6350"/>
          </a:xfrm>
          <a:custGeom>
            <a:avLst/>
            <a:gdLst/>
            <a:ahLst/>
            <a:cxnLst/>
            <a:rect l="l" t="t" r="r" b="b"/>
            <a:pathLst>
              <a:path w="5981065" h="6350">
                <a:moveTo>
                  <a:pt x="5981065" y="0"/>
                </a:moveTo>
                <a:lnTo>
                  <a:pt x="0" y="0"/>
                </a:lnTo>
                <a:lnTo>
                  <a:pt x="0" y="6096"/>
                </a:lnTo>
                <a:lnTo>
                  <a:pt x="5981065" y="6096"/>
                </a:lnTo>
                <a:lnTo>
                  <a:pt x="598106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57542"/>
            <a:ext cx="4649470" cy="51371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MAC</a:t>
            </a:r>
            <a:r>
              <a:rPr sz="160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Flooding</a:t>
            </a:r>
            <a:r>
              <a:rPr sz="160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spc="-10" dirty="0">
                <a:solidFill>
                  <a:srgbClr val="2E5395"/>
                </a:solidFill>
                <a:latin typeface="Calibri Light"/>
                <a:cs typeface="Calibri Light"/>
              </a:rPr>
              <a:t>Attack:</a:t>
            </a:r>
            <a:endParaRPr sz="16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200" dirty="0">
                <a:latin typeface="Calibri"/>
                <a:cs typeface="Calibri"/>
              </a:rPr>
              <a:t>Now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Macof</a:t>
            </a:r>
            <a:r>
              <a:rPr sz="1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flood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switch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random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MAC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addresses.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macof</a:t>
            </a:r>
            <a:r>
              <a:rPr sz="12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–i</a:t>
            </a:r>
            <a:r>
              <a:rPr sz="12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FF0000"/>
                </a:solidFill>
                <a:latin typeface="Calibri"/>
                <a:cs typeface="Calibri"/>
              </a:rPr>
              <a:t>eth0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2644812"/>
            <a:ext cx="5314315" cy="608520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Port</a:t>
            </a:r>
            <a:r>
              <a:rPr sz="1300" spc="-2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Security:</a:t>
            </a:r>
            <a:endParaRPr sz="1300" dirty="0">
              <a:latin typeface="Calibri Light"/>
              <a:cs typeface="Calibri Light"/>
            </a:endParaRPr>
          </a:p>
          <a:p>
            <a:pPr marL="240665" indent="-227965">
              <a:lnSpc>
                <a:spcPct val="100000"/>
              </a:lnSpc>
              <a:spcBef>
                <a:spcPts val="15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Port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Security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feature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protect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switch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MAC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flooding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attacks.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Port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security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feature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protect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switch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DHCP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starvation</a:t>
            </a:r>
            <a:r>
              <a:rPr sz="1200" spc="-10" dirty="0">
                <a:latin typeface="Calibri"/>
                <a:cs typeface="Calibri"/>
              </a:rPr>
              <a:t> attacks.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Attacker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start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flooding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switch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very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large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number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DHCP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requests.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Port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Security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prevent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unauthorized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access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&amp;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limit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access,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based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MAC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address.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Port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Security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disabled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default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every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interface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Cisco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Switch.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If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Port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Security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enabled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default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only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MAC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address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allow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interface.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If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Port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Security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enabled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default,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Cisco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Switches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violation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shutdown.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If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Port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Security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enabled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default,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aging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configured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recovery.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Port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Security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configure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Static,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Dynamic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Sticky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Cisco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Switches.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There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three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different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types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violation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Shutdown,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Protect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Restrict.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Port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Security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limit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(1-</a:t>
            </a:r>
            <a:r>
              <a:rPr sz="1200" dirty="0">
                <a:latin typeface="Calibri"/>
                <a:cs typeface="Calibri"/>
              </a:rPr>
              <a:t>8192)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MAC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address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attach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particular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port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Switch.</a:t>
            </a:r>
            <a:endParaRPr sz="1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70"/>
              </a:spcBef>
              <a:buFont typeface="Calibri"/>
              <a:buChar char="o"/>
            </a:pP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Port</a:t>
            </a:r>
            <a:r>
              <a:rPr sz="130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Security</a:t>
            </a:r>
            <a:r>
              <a:rPr sz="130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Violation</a:t>
            </a:r>
            <a:r>
              <a:rPr sz="130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Types:</a:t>
            </a:r>
            <a:endParaRPr sz="1300" dirty="0">
              <a:latin typeface="Calibri Light"/>
              <a:cs typeface="Calibri Light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There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three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different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types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violation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Shutdown,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Protect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Restrict.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spc="-10" dirty="0">
                <a:solidFill>
                  <a:srgbClr val="00AF50"/>
                </a:solidFill>
                <a:latin typeface="Calibri"/>
                <a:cs typeface="Calibri"/>
              </a:rPr>
              <a:t>Shutdown: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Default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action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after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violation.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Port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send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0" dirty="0">
                <a:latin typeface="Calibri"/>
                <a:cs typeface="Calibri"/>
              </a:rPr>
              <a:t> err-</a:t>
            </a:r>
            <a:r>
              <a:rPr sz="1200" dirty="0">
                <a:latin typeface="Calibri"/>
                <a:cs typeface="Calibri"/>
              </a:rPr>
              <a:t>disabled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mode.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For</a:t>
            </a:r>
            <a:r>
              <a:rPr sz="1200" spc="-10" dirty="0">
                <a:latin typeface="Calibri"/>
                <a:cs typeface="Calibri"/>
              </a:rPr>
              <a:t> re-</a:t>
            </a:r>
            <a:r>
              <a:rPr sz="1200" dirty="0">
                <a:latin typeface="Calibri"/>
                <a:cs typeface="Calibri"/>
              </a:rPr>
              <a:t>enable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err-disabled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recover,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shutdown/no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shutdown.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MAC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counter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keeps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history.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200" b="1" spc="-10" dirty="0">
                <a:solidFill>
                  <a:srgbClr val="00AF50"/>
                </a:solidFill>
                <a:latin typeface="Calibri"/>
                <a:cs typeface="Calibri"/>
              </a:rPr>
              <a:t>Protect: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Need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configure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violation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action.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Traffic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not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network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violator.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5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Interface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will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working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even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after</a:t>
            </a:r>
            <a:r>
              <a:rPr sz="1200" spc="-10" dirty="0">
                <a:latin typeface="Calibri"/>
                <a:cs typeface="Calibri"/>
              </a:rPr>
              <a:t> violation.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No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MAC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counter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keeps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history.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200" b="1" spc="-10" dirty="0">
                <a:solidFill>
                  <a:srgbClr val="00AF50"/>
                </a:solidFill>
                <a:latin typeface="Calibri"/>
                <a:cs typeface="Calibri"/>
              </a:rPr>
              <a:t>Restrict: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Need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configure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violation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action.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Traffic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not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network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violator.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Generate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log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(SNMP/Syslog).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No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MAC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counter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keeps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history.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382902"/>
            <a:ext cx="5370322" cy="10769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14704" y="914400"/>
          <a:ext cx="5884545" cy="1697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7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6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Violation</a:t>
                      </a:r>
                      <a:r>
                        <a:rPr sz="1200" b="1" spc="-6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05"/>
                        </a:lnSpc>
                      </a:pPr>
                      <a:r>
                        <a:rPr sz="12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Protect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Discards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bogus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extra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MAC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without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notifying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the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administrator.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245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Restrict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Discards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bogus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extra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MAC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generates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Syslog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message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6675" marR="120014">
                        <a:lnSpc>
                          <a:spcPct val="101699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SNMP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trap.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Alert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generation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feature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action</a:t>
                      </a:r>
                      <a:r>
                        <a:rPr sz="1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makes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preferable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over</a:t>
                      </a:r>
                      <a:r>
                        <a:rPr sz="1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aforementioned</a:t>
                      </a:r>
                      <a:r>
                        <a:rPr sz="1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action.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Shutdown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Puts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port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err-disable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state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everything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discarded.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Syslog/SNMP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alert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also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generated.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shutdown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default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violation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action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defined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Cisco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IOS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02004" y="2782188"/>
            <a:ext cx="5871845" cy="5248275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1200" b="1" spc="-10" dirty="0">
                <a:solidFill>
                  <a:srgbClr val="00AF50"/>
                </a:solidFill>
                <a:latin typeface="Calibri"/>
                <a:cs typeface="Calibri"/>
              </a:rPr>
              <a:t>Static: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Static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MAC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addresses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statically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configured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each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switchport.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Static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MAC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addresses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stored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address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table.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Configuration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static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MAC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address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stored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running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configuration.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Can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made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permanent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saving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them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startup</a:t>
            </a:r>
            <a:r>
              <a:rPr sz="1200" spc="-10" dirty="0">
                <a:latin typeface="Calibri"/>
                <a:cs typeface="Calibri"/>
              </a:rPr>
              <a:t> configuration.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0"/>
              </a:spcBef>
              <a:buChar char="o"/>
              <a:tabLst>
                <a:tab pos="240665" algn="l"/>
              </a:tabLst>
            </a:pPr>
            <a:r>
              <a:rPr sz="1200" spc="-10" dirty="0">
                <a:latin typeface="Calibri"/>
                <a:cs typeface="Calibri"/>
              </a:rPr>
              <a:t>SW1(config-</a:t>
            </a:r>
            <a:r>
              <a:rPr sz="1200" dirty="0">
                <a:latin typeface="Calibri"/>
                <a:cs typeface="Calibri"/>
              </a:rPr>
              <a:t>if)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#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switchport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port-security </a:t>
            </a:r>
            <a:r>
              <a:rPr sz="1200" spc="-10" dirty="0">
                <a:latin typeface="Calibri"/>
                <a:cs typeface="Calibri"/>
              </a:rPr>
              <a:t>mac-</a:t>
            </a:r>
            <a:r>
              <a:rPr sz="1200" dirty="0">
                <a:latin typeface="Calibri"/>
                <a:cs typeface="Calibri"/>
              </a:rPr>
              <a:t>address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mac-address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Font typeface="Calibri"/>
              <a:buChar char="o"/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solidFill>
                  <a:srgbClr val="00AF50"/>
                </a:solidFill>
                <a:latin typeface="Calibri"/>
                <a:cs typeface="Calibri"/>
              </a:rPr>
              <a:t>Dynamic: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Dynamic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MAC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addresses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learned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device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connected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0" dirty="0">
                <a:latin typeface="Calibri"/>
                <a:cs typeface="Calibri"/>
              </a:rPr>
              <a:t> switchport.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Dynamic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MAC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addresses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stored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address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table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only.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Dynamic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MAC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addresses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lost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when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switchport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state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goes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down.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Dynamic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MAC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addresses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also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lost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when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switch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reboots.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5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command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enable</a:t>
            </a:r>
            <a:r>
              <a:rPr sz="1200" spc="-10" dirty="0">
                <a:latin typeface="Calibri"/>
                <a:cs typeface="Calibri"/>
              </a:rPr>
              <a:t> SW1(config-</a:t>
            </a:r>
            <a:r>
              <a:rPr sz="1200" dirty="0">
                <a:latin typeface="Calibri"/>
                <a:cs typeface="Calibri"/>
              </a:rPr>
              <a:t>if)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#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switchport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port-</a:t>
            </a:r>
            <a:r>
              <a:rPr sz="1200" spc="-10" dirty="0">
                <a:latin typeface="Calibri"/>
                <a:cs typeface="Calibri"/>
              </a:rPr>
              <a:t>security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By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default,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MAC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addresses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learned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switchport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dynamically.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Font typeface="Calibri"/>
              <a:buChar char="o"/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solidFill>
                  <a:srgbClr val="00AF50"/>
                </a:solidFill>
                <a:latin typeface="Calibri"/>
                <a:cs typeface="Calibri"/>
              </a:rPr>
              <a:t>Sticky: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A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sticky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MAC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address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hybrid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between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static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dynamic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MAC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address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Switches.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Dynamically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learned,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MAC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address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automatically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entered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running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configuration.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address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kept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running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configuration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Cisco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switches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until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reboot.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Once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Cisco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switch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reboot,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MAC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address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will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lost,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will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there</a:t>
            </a:r>
            <a:r>
              <a:rPr sz="1200" spc="-10" dirty="0">
                <a:latin typeface="Calibri"/>
                <a:cs typeface="Calibri"/>
              </a:rPr>
              <a:t> anymore.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keep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MAC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address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across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reboot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configuration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save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required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cisco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switch.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4"/>
              </a:spcBef>
              <a:buFont typeface="Calibri"/>
              <a:buChar char="o"/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00AF50"/>
                </a:solidFill>
                <a:latin typeface="Calibri"/>
                <a:cs typeface="Calibri"/>
              </a:rPr>
              <a:t>Maximum</a:t>
            </a:r>
            <a:r>
              <a:rPr sz="12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AF50"/>
                </a:solidFill>
                <a:latin typeface="Calibri"/>
                <a:cs typeface="Calibri"/>
              </a:rPr>
              <a:t>MAC</a:t>
            </a:r>
            <a:r>
              <a:rPr sz="12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AF50"/>
                </a:solidFill>
                <a:latin typeface="Calibri"/>
                <a:cs typeface="Calibri"/>
              </a:rPr>
              <a:t>Addresses: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By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default,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each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switchport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configured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maximum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MAC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address.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If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MAC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address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seen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given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port,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violation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will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occur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switch.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0"/>
              </a:spcBef>
              <a:buChar char="o"/>
              <a:tabLst>
                <a:tab pos="240665" algn="l"/>
              </a:tabLst>
            </a:pPr>
            <a:r>
              <a:rPr sz="1200" spc="-10" dirty="0">
                <a:latin typeface="Calibri"/>
                <a:cs typeface="Calibri"/>
              </a:rPr>
              <a:t>Maximum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Media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Access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Control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(MAC)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address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modified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Cisco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Switches.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14704" y="914400"/>
          <a:ext cx="5938520" cy="1332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Dynamic</a:t>
                      </a:r>
                      <a:r>
                        <a:rPr sz="1200" b="1" spc="-3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Port</a:t>
                      </a:r>
                      <a:r>
                        <a:rPr sz="1200" b="1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Security</a:t>
                      </a:r>
                      <a:r>
                        <a:rPr sz="12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Configuration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SW(config)#interface</a:t>
                      </a:r>
                      <a:r>
                        <a:rPr sz="1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ethernet0/0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7945" marR="3482975">
                        <a:lnSpc>
                          <a:spcPts val="148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SW(config-if)#switchport</a:t>
                      </a:r>
                      <a:r>
                        <a:rPr sz="12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mode</a:t>
                      </a:r>
                      <a:r>
                        <a:rPr sz="12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access SW(config-if)#switchport</a:t>
                      </a:r>
                      <a:r>
                        <a:rPr sz="1200" spc="1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port-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security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SW# show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port-security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SW#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show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port-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security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address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SW#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show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port-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security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interface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e0/0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5333364"/>
          <a:ext cx="5938520" cy="1518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Static</a:t>
                      </a:r>
                      <a:r>
                        <a:rPr sz="12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Port</a:t>
                      </a:r>
                      <a:r>
                        <a:rPr sz="12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Security</a:t>
                      </a:r>
                      <a:r>
                        <a:rPr sz="1200" b="1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Configuration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SW(config)#interface</a:t>
                      </a:r>
                      <a:r>
                        <a:rPr sz="1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ethernet0/1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7945" marR="3482975">
                        <a:lnSpc>
                          <a:spcPct val="101699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SW(config-if)#switchport</a:t>
                      </a:r>
                      <a:r>
                        <a:rPr sz="12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mode</a:t>
                      </a:r>
                      <a:r>
                        <a:rPr sz="12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access SW(config-if)#switchport</a:t>
                      </a:r>
                      <a:r>
                        <a:rPr sz="1200" spc="1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port-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security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SW(config-if)#switchport</a:t>
                      </a:r>
                      <a:r>
                        <a:rPr sz="1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port-security</a:t>
                      </a:r>
                      <a:r>
                        <a:rPr sz="12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mac-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aaaa.aaaa.1111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SW# show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port-security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SW#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show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port-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security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address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SW#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show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port-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security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interface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ethernet0/1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455545"/>
            <a:ext cx="5939790" cy="111315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3784091"/>
            <a:ext cx="5939790" cy="13277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400" y="7060692"/>
            <a:ext cx="5939790" cy="14626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14704" y="914399"/>
          <a:ext cx="5938520" cy="1519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Sticky</a:t>
                      </a:r>
                      <a:r>
                        <a:rPr sz="12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Port</a:t>
                      </a:r>
                      <a:r>
                        <a:rPr sz="12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Security</a:t>
                      </a:r>
                      <a:r>
                        <a:rPr sz="12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Configuration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1205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SW(config)#interface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ethernet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0/2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7945" marR="3482975">
                        <a:lnSpc>
                          <a:spcPts val="1480"/>
                        </a:lnSpc>
                        <a:spcBef>
                          <a:spcPts val="4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SW(config-if)#switchport</a:t>
                      </a:r>
                      <a:r>
                        <a:rPr sz="12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mode</a:t>
                      </a:r>
                      <a:r>
                        <a:rPr sz="12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access SW(config-if)#switchport</a:t>
                      </a:r>
                      <a:r>
                        <a:rPr sz="1200" spc="1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port-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security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SW(config-if)#switchport</a:t>
                      </a:r>
                      <a:r>
                        <a:rPr sz="1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port-security</a:t>
                      </a:r>
                      <a:r>
                        <a:rPr sz="12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mac-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2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sticky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SW# show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port-security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SW#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show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port-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security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address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SW#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show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port-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security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interface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ethernet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0/2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4462907"/>
          <a:ext cx="5938520" cy="1707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9095">
                <a:tc>
                  <a:txBody>
                    <a:bodyPr/>
                    <a:lstStyle/>
                    <a:p>
                      <a:pPr marL="67945" marR="3037205">
                        <a:lnSpc>
                          <a:spcPts val="146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Client(config)#interface</a:t>
                      </a:r>
                      <a:r>
                        <a:rPr sz="12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ethernet</a:t>
                      </a:r>
                      <a:r>
                        <a:rPr sz="1200" spc="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0/0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Client(config-if)#mac-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200" spc="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aaaa.aaaa.5555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SW(config)#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interface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ethernet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0/2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7945" marR="4131945">
                        <a:lnSpc>
                          <a:spcPts val="147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SW(config-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if)</a:t>
                      </a:r>
                      <a:r>
                        <a:rPr sz="12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#shutdown SW(config-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if)#</a:t>
                      </a:r>
                      <a:r>
                        <a:rPr sz="1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shutdown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SW(config)#errdisable</a:t>
                      </a:r>
                      <a:r>
                        <a:rPr sz="12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recovery</a:t>
                      </a:r>
                      <a:r>
                        <a:rPr sz="12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cause</a:t>
                      </a:r>
                      <a:r>
                        <a:rPr sz="12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psecure-violation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SW(config)#errdisable</a:t>
                      </a:r>
                      <a:r>
                        <a:rPr sz="1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recovery</a:t>
                      </a:r>
                      <a:r>
                        <a:rPr sz="12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interval</a:t>
                      </a:r>
                      <a:r>
                        <a:rPr sz="12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30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SW#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show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interfaces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status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SW#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show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errdisable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recovery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641600"/>
            <a:ext cx="5939790" cy="16059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6376415"/>
            <a:ext cx="5911850" cy="58013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400" y="7171943"/>
            <a:ext cx="5939790" cy="11690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14704" y="914400"/>
          <a:ext cx="5938520" cy="1140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SW(config)#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interface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ethernet0/2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7945" marR="2420620">
                        <a:lnSpc>
                          <a:spcPct val="101699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SW(config-if)#switchport</a:t>
                      </a:r>
                      <a:r>
                        <a:rPr sz="1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port-security</a:t>
                      </a:r>
                      <a:r>
                        <a:rPr sz="12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violation</a:t>
                      </a:r>
                      <a:r>
                        <a:rPr sz="12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restrict SW(config-if)#switchport</a:t>
                      </a:r>
                      <a:r>
                        <a:rPr sz="1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port-security</a:t>
                      </a:r>
                      <a:r>
                        <a:rPr sz="12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violation</a:t>
                      </a:r>
                      <a:r>
                        <a:rPr sz="12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protect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SW#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show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port-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security</a:t>
                      </a:r>
                      <a:r>
                        <a:rPr sz="1200" spc="2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address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SW# show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port-security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SW#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show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port-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security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interface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ethernet0/2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02004" y="6426491"/>
            <a:ext cx="5693410" cy="104775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Port</a:t>
            </a:r>
            <a:r>
              <a:rPr sz="1300" spc="-2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Security</a:t>
            </a:r>
            <a:r>
              <a:rPr sz="1300" spc="-2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Drawbacks:</a:t>
            </a:r>
            <a:endParaRPr sz="1300">
              <a:latin typeface="Calibri Light"/>
              <a:cs typeface="Calibri Light"/>
            </a:endParaRPr>
          </a:p>
          <a:p>
            <a:pPr marL="240665" indent="-227965">
              <a:lnSpc>
                <a:spcPct val="100000"/>
              </a:lnSpc>
              <a:spcBef>
                <a:spcPts val="15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Modern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hacking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tools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spoof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MAC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address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&amp;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bypass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security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check.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Similarly,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port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security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does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work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dynamically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configured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ports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Cisco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Switch.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Switch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port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needs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static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access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static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trunk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mode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port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security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work.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802.1x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better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&amp;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way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mitigating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related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layer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two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MAC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addresses.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263139"/>
            <a:ext cx="5939790" cy="149478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3973448"/>
            <a:ext cx="5041265" cy="24726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875</Words>
  <Application>Microsoft Office PowerPoint</Application>
  <PresentationFormat>Custom</PresentationFormat>
  <Paragraphs>107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 Ali</dc:creator>
  <cp:lastModifiedBy>universe</cp:lastModifiedBy>
  <cp:revision>1</cp:revision>
  <dcterms:created xsi:type="dcterms:W3CDTF">2026-04-24T00:46:32Z</dcterms:created>
  <dcterms:modified xsi:type="dcterms:W3CDTF">2026-04-24T00:49:39Z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2020-08-24T00:00:00Z</vt:filetime>
  </property>
  <property fmtid="{D5CDD505-2E9C-101B-9397-08002B2CF9AE}" pid="3" name="Creator">
    <vt:lpwstr>Microsoft® Word for Office 365</vt:lpwstr>
  </property>
  <property fmtid="{D5CDD505-2E9C-101B-9397-08002B2CF9AE}" pid="4" name="LastSaved">
    <vt:filetime>2026-04-24T00:00:00Z</vt:filetime>
  </property>
  <property fmtid="{D5CDD505-2E9C-101B-9397-08002B2CF9AE}" pid="5" name="Producer">
    <vt:lpwstr>Microsoft® Word for Office 365</vt:lpwstr>
  </property>
</Properties>
</file>