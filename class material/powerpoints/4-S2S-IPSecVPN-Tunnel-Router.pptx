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1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4275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45210"/>
            <a:ext cx="4025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Site</a:t>
            </a:r>
            <a:r>
              <a:rPr sz="1600" spc="-6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to</a:t>
            </a:r>
            <a:r>
              <a:rPr sz="16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Site</a:t>
            </a:r>
            <a:r>
              <a:rPr sz="16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IPSec</a:t>
            </a:r>
            <a:r>
              <a:rPr sz="16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VPN</a:t>
            </a:r>
            <a:r>
              <a:rPr sz="16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Tunnel</a:t>
            </a:r>
            <a:r>
              <a:rPr sz="16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in</a:t>
            </a:r>
            <a:r>
              <a:rPr sz="1600" spc="-7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Cisco</a:t>
            </a:r>
            <a:r>
              <a:rPr sz="1600" spc="-7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IOS</a:t>
            </a:r>
            <a:r>
              <a:rPr sz="16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Routers: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06851"/>
            <a:ext cx="32404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Step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1.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Configuring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IPSec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Phase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1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(ISAKMP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Policy)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4046855"/>
          <a:ext cx="5938520" cy="153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isakmp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R1(config-isakmp)#authentication</a:t>
                      </a:r>
                      <a:r>
                        <a:rPr sz="12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R1(config-isakmp)#encryption</a:t>
                      </a:r>
                      <a:r>
                        <a:rPr sz="12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isakmp)#group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R1(config-isakmp)#hash</a:t>
                      </a:r>
                      <a:r>
                        <a:rPr sz="12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R1(config-isakmp)#lifetime</a:t>
                      </a:r>
                      <a:r>
                        <a:rPr sz="12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R1(config-isakmp)#exit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 key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792088"/>
          <a:ext cx="5938520" cy="2280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1205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2075" algn="just">
                        <a:lnSpc>
                          <a:spcPts val="14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5.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policies,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7,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8,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configuration.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Router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list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policies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one,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matched,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negotiation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move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authentication</a:t>
                      </a:r>
                      <a:r>
                        <a:rPr sz="1200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Authentication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pre-shared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key.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3DES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algorithm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1.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group</a:t>
                      </a:r>
                      <a:r>
                        <a:rPr sz="12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Diffie-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Hellman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2.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hash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SHA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algorithm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used.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86400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day.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582930">
                        <a:lnSpc>
                          <a:spcPct val="101699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 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password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remote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is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192.168.23.3.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6916"/>
            <a:ext cx="5943600" cy="1725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834386"/>
            <a:ext cx="32804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Step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2.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 Configuring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IPSec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Phase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2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(Transform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Set):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071114"/>
          <a:ext cx="593852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ipsec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TSET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aes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128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esp-md5-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hmac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R1(cfg-crypto-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trans)#crypto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security-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association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3662807"/>
          <a:ext cx="5938520" cy="114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 ipsec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called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esp-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128-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ESP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used.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esp-md5-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hmac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MD5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hashing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algorithm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used.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ipsec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security-association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session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exists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re-negotiation.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4994805"/>
            <a:ext cx="5911215" cy="6489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Step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3.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Configuring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ACL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for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Interesting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Traffic.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200" dirty="0">
                <a:latin typeface="Calibri"/>
                <a:cs typeface="Calibri"/>
              </a:rPr>
              <a:t>ACL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interesting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tunnel.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originating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from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Calibri"/>
                <a:cs typeface="Calibri"/>
              </a:rPr>
              <a:t>1.1.1.1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3.3.3.3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tunnel.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752" y="5659501"/>
            <a:ext cx="5938520" cy="37973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405"/>
              </a:lnSpc>
            </a:pPr>
            <a:r>
              <a:rPr sz="1200" dirty="0">
                <a:latin typeface="Calibri"/>
                <a:cs typeface="Calibri"/>
              </a:rPr>
              <a:t>R1(config)#ip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access-</a:t>
            </a:r>
            <a:r>
              <a:rPr sz="1200" dirty="0">
                <a:latin typeface="Calibri"/>
                <a:cs typeface="Calibri"/>
              </a:rPr>
              <a:t>list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extended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VPN-TRAFFIC</a:t>
            </a:r>
            <a:endParaRPr sz="1200">
              <a:latin typeface="Calibri"/>
              <a:cs typeface="Calibri"/>
            </a:endParaRPr>
          </a:p>
          <a:p>
            <a:pPr marL="67945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latin typeface="Calibri"/>
                <a:cs typeface="Calibri"/>
              </a:rPr>
              <a:t>R1(config-ext-</a:t>
            </a:r>
            <a:r>
              <a:rPr sz="1200" dirty="0">
                <a:latin typeface="Calibri"/>
                <a:cs typeface="Calibri"/>
              </a:rPr>
              <a:t>nacl)#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permit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1.1.1.1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10" dirty="0">
                <a:latin typeface="Calibri"/>
                <a:cs typeface="Calibri"/>
              </a:rPr>
              <a:t> 3.3.3.3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225201"/>
            <a:ext cx="5805805" cy="44830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Step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4.</a:t>
            </a:r>
            <a:r>
              <a:rPr sz="130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Configure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Crypto</a:t>
            </a:r>
            <a:r>
              <a:rPr sz="130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Map.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together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above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ISAKMP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together.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704" y="6686677"/>
          <a:ext cx="5938520" cy="76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R1(config)#crypto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CMAP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ipsec-isakmp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R1(config-crypto-map)#match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VPN-TRAFFIC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R1(config-crypto-map)#set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R1(config-crypto-map)#set</a:t>
                      </a:r>
                      <a:r>
                        <a:rPr sz="12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704" y="7662418"/>
          <a:ext cx="5938520" cy="1334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67945" marR="268605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CMAP</a:t>
                      </a:r>
                      <a:r>
                        <a:rPr sz="1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ipsec-isakmp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53035">
                        <a:lnSpc>
                          <a:spcPts val="146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Creates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sequence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10.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create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sequence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numbers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have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sites.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VPN-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interesting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VPN-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TRAFFIC.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public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R3.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links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configuration.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676265" cy="16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5448"/>
            <a:ext cx="5917565" cy="144843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Step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5.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Apply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Crypto</a:t>
            </a:r>
            <a:r>
              <a:rPr sz="130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Map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to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Outgoing</a:t>
            </a:r>
            <a:r>
              <a:rPr sz="13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Interface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R1.</a:t>
            </a:r>
            <a:endParaRPr sz="1300">
              <a:latin typeface="Calibri Light"/>
              <a:cs typeface="Calibri Light"/>
            </a:endParaRPr>
          </a:p>
          <a:p>
            <a:pPr marL="12700" marR="5080">
              <a:lnSpc>
                <a:spcPct val="109700"/>
              </a:lnSpc>
              <a:spcBef>
                <a:spcPts val="1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final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outgoing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Here,</a:t>
            </a:r>
            <a:r>
              <a:rPr sz="1200" spc="-25" dirty="0">
                <a:latin typeface="Calibri"/>
                <a:cs typeface="Calibri"/>
              </a:rPr>
              <a:t> the </a:t>
            </a:r>
            <a:r>
              <a:rPr sz="1200" dirty="0">
                <a:latin typeface="Calibri"/>
                <a:cs typeface="Calibri"/>
              </a:rPr>
              <a:t>outgoing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FastEthernet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0/0.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the </a:t>
            </a: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you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peers</a:t>
            </a:r>
            <a:r>
              <a:rPr sz="1200" spc="-20" dirty="0">
                <a:latin typeface="Calibri"/>
                <a:cs typeface="Calibri"/>
              </a:rPr>
              <a:t> will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single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would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another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entry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the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transform-</a:t>
            </a:r>
            <a:r>
              <a:rPr sz="1200" dirty="0">
                <a:latin typeface="Calibri"/>
                <a:cs typeface="Calibri"/>
              </a:rPr>
              <a:t>sets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ACLs.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configuration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Completed.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2336545"/>
          <a:ext cx="593852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R1(config)#int</a:t>
                      </a:r>
                      <a:r>
                        <a:rPr sz="1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fa0/0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if)#crypto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CMAP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888241"/>
            <a:ext cx="5669280" cy="64706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Site-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2,</a:t>
            </a:r>
            <a:r>
              <a:rPr sz="130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Router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3</a:t>
            </a:r>
            <a:r>
              <a:rPr sz="130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Configuration:</a:t>
            </a:r>
            <a:endParaRPr sz="13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Move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Site-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complete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configuration.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settings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25" dirty="0">
                <a:latin typeface="Calibri"/>
                <a:cs typeface="Calibri"/>
              </a:rPr>
              <a:t> are </a:t>
            </a:r>
            <a:r>
              <a:rPr sz="1200" dirty="0">
                <a:latin typeface="Calibri"/>
                <a:cs typeface="Calibri"/>
              </a:rPr>
              <a:t>identical,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difference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Lists: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3548507"/>
          <a:ext cx="5938520" cy="1728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Configuring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(ISAKMP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Policy)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R3(config-isakmp)#authentication</a:t>
                      </a:r>
                      <a:r>
                        <a:rPr sz="1200" spc="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R3(config-isakmp)#encryption</a:t>
                      </a:r>
                      <a:r>
                        <a:rPr sz="12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isakmp)#group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R3(config-isakmp)#hash</a:t>
                      </a:r>
                      <a:r>
                        <a:rPr sz="12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R3(config-isakmp)#lifetime</a:t>
                      </a:r>
                      <a:r>
                        <a:rPr sz="12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R3(config-isakmp)#exit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192.168.12.1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704" y="5487288"/>
          <a:ext cx="593852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Configuring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(Transform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Set):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TSET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aes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128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esp-md5-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hmac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R3(cfg-crypto-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trans)#crypto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security-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association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6270625"/>
          <a:ext cx="5938520" cy="570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Step 3.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Configuring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ACL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Interesting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Traffic.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R3(config)#ip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access-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extended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VPN-TRAFFIC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R3(config-ext-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nacl)#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permit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host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3.3.3.3</a:t>
                      </a:r>
                      <a:r>
                        <a:rPr sz="12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host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1.1.1.1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704" y="7049389"/>
          <a:ext cx="5938520" cy="960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4.</a:t>
                      </a:r>
                      <a:r>
                        <a:rPr sz="12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Configure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Map.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CMAP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ipsec-isakmp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R3(config-crypto-map)#match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VPN-TRAFFIC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R3(config-crypto-map)#set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192.168.12.1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R3(config-crypto-map)#set</a:t>
                      </a:r>
                      <a:r>
                        <a:rPr sz="12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704" y="8218677"/>
          <a:ext cx="593852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5.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Apply</a:t>
                      </a:r>
                      <a:r>
                        <a:rPr sz="1200" b="1" spc="-2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outgoing</a:t>
                      </a:r>
                      <a:r>
                        <a:rPr sz="1200" b="1" spc="-3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b="1" spc="-3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b="1" spc="-1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R1.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R3(config)#int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fa1/0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if)#crypto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CMAP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02004" y="8785047"/>
            <a:ext cx="23736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color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R3</a:t>
            </a: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Calibri"/>
                <a:cs typeface="Calibri"/>
              </a:rPr>
              <a:t>router.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5448"/>
            <a:ext cx="4431030" cy="44513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Verification</a:t>
            </a:r>
            <a:r>
              <a:rPr sz="1300" spc="-5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and</a:t>
            </a:r>
            <a:r>
              <a:rPr sz="13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Testing.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let’s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R1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R3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loopback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332230"/>
          <a:ext cx="5938520" cy="1537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040">
                <a:tc gridSpan="2"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Verify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Connection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Commands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R1#ping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3.3.3.3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loopback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R3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Loopback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Interface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key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Key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peers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peer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policy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Details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Verify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Connection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session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Verify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Session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3181222"/>
          <a:ext cx="5938520" cy="1151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 gridSpan="2"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Verify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Connection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Commands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Verify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connection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transform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security-association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Life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R1#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spi-lookup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SPI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6220332"/>
          <a:ext cx="5938520" cy="266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MM_NO_STATE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started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continued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form.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MM_SA_SETUP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peers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agree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parameters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move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along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MM_KEY_EXCH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there is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mis-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matched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authentication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PSK,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step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MM_KEY_AUTH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SA’s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authenticated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QM_IDLE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immediately.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AG_NO_STATE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started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continued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(typically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connectivity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issue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peer).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AG_INIT_EXCH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Peers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exchanged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packets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aggressive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but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authenticated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yet.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AG_AUTH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SA’s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authenticated 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aggressive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will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proceed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QM_IDLE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immediately.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QM_IDLE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idle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authenticated,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successful.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643628"/>
            <a:ext cx="5631942" cy="1182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473322"/>
            <a:ext cx="5817870" cy="627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5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provides </a:t>
            </a:r>
            <a:r>
              <a:rPr sz="1200" dirty="0">
                <a:latin typeface="Calibri"/>
                <a:cs typeface="Calibri"/>
              </a:rPr>
              <a:t>output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interface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that’s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identify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whether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session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active.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identify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5679313"/>
          <a:ext cx="5937885" cy="1368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Status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Up-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Active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up/active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transferring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data.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Up-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IDLE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up,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going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tunnel.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Up-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No-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IKE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occurs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VPN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tunnel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terminates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VPN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remote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attempts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using.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Down-Negotiating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tunnel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down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negotiating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parameters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complete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tunnel.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Down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VPN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tunnel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down.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7218426"/>
            <a:ext cx="5901690" cy="1029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show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crypto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ipsec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sa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output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information,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#pkts encaps/encrypt/decap/decrypt,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these numbers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tell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how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packets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 actually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crossed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verifies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VPN </a:t>
            </a:r>
            <a:r>
              <a:rPr sz="1200" dirty="0">
                <a:latin typeface="Calibri"/>
                <a:cs typeface="Calibri"/>
              </a:rPr>
              <a:t>tunnel.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SPI,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transform-</a:t>
            </a:r>
            <a:r>
              <a:rPr sz="1200" dirty="0">
                <a:latin typeface="Calibri"/>
                <a:cs typeface="Calibri"/>
              </a:rPr>
              <a:t>set,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tunnel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SA.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702300" cy="23806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113403"/>
            <a:ext cx="5943600" cy="1449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904101"/>
            <a:ext cx="5946775" cy="163258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FEthernet0/0,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CMAP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enabled.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 </a:t>
            </a:r>
            <a:r>
              <a:rPr sz="1200" spc="-10" dirty="0">
                <a:latin typeface="Calibri"/>
                <a:cs typeface="Calibri"/>
              </a:rPr>
              <a:t>communications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192.168.12.1.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ident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involved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connection.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2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10" dirty="0">
                <a:latin typeface="Calibri"/>
                <a:cs typeface="Calibri"/>
              </a:rPr>
              <a:t> successfully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packets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encapsulated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encrypted.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endpoints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MTU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Inbound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Outbound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inbound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outbound,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sections: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AH.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nothing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under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AH,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indicating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connection.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943600" cy="5811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1331</Words>
  <Application>Microsoft Office PowerPoint</Application>
  <PresentationFormat>Custom</PresentationFormat>
  <Paragraphs>164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Ali</dc:creator>
  <cp:lastModifiedBy>universe</cp:lastModifiedBy>
  <cp:revision>1</cp:revision>
  <dcterms:created xsi:type="dcterms:W3CDTF">2026-04-12T01:54:36Z</dcterms:created>
  <dcterms:modified xsi:type="dcterms:W3CDTF">2026-04-12T01:56:40Z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2019-10-23T00:00:00Z</vt:filetime>
  </property>
  <property fmtid="{D5CDD505-2E9C-101B-9397-08002B2CF9AE}" pid="3" name="Creator">
    <vt:lpwstr>Microsoft® Word for Office 365</vt:lpwstr>
  </property>
  <property fmtid="{D5CDD505-2E9C-101B-9397-08002B2CF9AE}" pid="4" name="LastSaved">
    <vt:filetime>2026-04-12T00:00:00Z</vt:filetime>
  </property>
  <property fmtid="{D5CDD505-2E9C-101B-9397-08002B2CF9AE}" pid="5" name="Producer">
    <vt:lpwstr>Microsoft® Word for Office 365</vt:lpwstr>
  </property>
</Properties>
</file>