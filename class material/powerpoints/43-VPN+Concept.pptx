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214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6416" y="9242755"/>
            <a:ext cx="5981065" cy="6350"/>
          </a:xfrm>
          <a:custGeom>
            <a:avLst/>
            <a:gdLst/>
            <a:ahLst/>
            <a:cxnLst/>
            <a:rect l="l" t="t" r="r" b="b"/>
            <a:pathLst>
              <a:path w="5981065" h="6350">
                <a:moveTo>
                  <a:pt x="5981065" y="0"/>
                </a:moveTo>
                <a:lnTo>
                  <a:pt x="0" y="0"/>
                </a:lnTo>
                <a:lnTo>
                  <a:pt x="0" y="6095"/>
                </a:lnTo>
                <a:lnTo>
                  <a:pt x="5981065" y="6095"/>
                </a:lnTo>
                <a:lnTo>
                  <a:pt x="59810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2254"/>
            <a:ext cx="5831205" cy="41370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solidFill>
                  <a:srgbClr val="2D74B5"/>
                </a:solidFill>
                <a:latin typeface="Calibri Light"/>
                <a:cs typeface="Calibri Light"/>
              </a:rPr>
              <a:t>VPN</a:t>
            </a:r>
            <a:r>
              <a:rPr sz="1400" spc="-10" dirty="0">
                <a:solidFill>
                  <a:srgbClr val="2D74B5"/>
                </a:solidFill>
                <a:latin typeface="Calibri Light"/>
                <a:cs typeface="Calibri Light"/>
              </a:rPr>
              <a:t> Concept:</a:t>
            </a:r>
            <a:endParaRPr sz="1400" dirty="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8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term,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stands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Virtual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Network.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creating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another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Internet.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tunnels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systems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securely.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Virtual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(VPN)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tunnel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insecure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path.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technologies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available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Wide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(WAN)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connectivity.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Main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drawback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Wide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(WAN)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connectivity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solutions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"Cost".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Technology,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traffic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public.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ensures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Privacy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source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device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destination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device.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ensures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Integrity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source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device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destination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device.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protocols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Privacy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Integrity.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Confidentiality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encrypting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sending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device.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Confidentiality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decrypting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receiving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end.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Integrity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Hashing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Algorithms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MD5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SHA.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supports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several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implementations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ASA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SSL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based.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Virtual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(VPN)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technology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relies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concept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tunneling.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tunneling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involves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establishing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maintaining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logical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association.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which</a:t>
            </a:r>
            <a:r>
              <a:rPr sz="1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anyone</a:t>
            </a:r>
            <a:r>
              <a:rPr sz="1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connect,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anyone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use.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Private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sz="1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which</a:t>
            </a:r>
            <a:r>
              <a:rPr sz="1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restricted</a:t>
            </a:r>
            <a:r>
              <a:rPr sz="12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use.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3" name="object 3" descr="Image result for vpn analog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697" y="5228844"/>
            <a:ext cx="5675587" cy="31431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3853"/>
            <a:ext cx="57810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analogy,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person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traveling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submarine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accessing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company's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network.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991483"/>
            <a:ext cx="5880735" cy="8807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95"/>
              </a:spcBef>
            </a:pPr>
            <a:r>
              <a:rPr sz="1200" dirty="0">
                <a:latin typeface="Calibri"/>
                <a:cs typeface="Calibri"/>
              </a:rPr>
              <a:t>Imagine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live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island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huge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ocean.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thousands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islands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all </a:t>
            </a:r>
            <a:r>
              <a:rPr sz="1200" dirty="0">
                <a:latin typeface="Calibri"/>
                <a:cs typeface="Calibri"/>
              </a:rPr>
              <a:t>around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some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close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farther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away.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means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travel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between </a:t>
            </a:r>
            <a:r>
              <a:rPr sz="1200" dirty="0">
                <a:latin typeface="Calibri"/>
                <a:cs typeface="Calibri"/>
              </a:rPr>
              <a:t>islands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ferry.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Traveling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ferry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means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almost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privacy: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people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everything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do.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342644"/>
            <a:ext cx="5939790" cy="24488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897373"/>
            <a:ext cx="593979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465"/>
            <a:ext cx="4001135" cy="81800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VPN</a:t>
            </a:r>
            <a:r>
              <a:rPr sz="13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Classification: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Classification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Based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on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Deployment: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Site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VPN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70534" algn="l"/>
              </a:tabLst>
            </a:pPr>
            <a:r>
              <a:rPr sz="1200" spc="-10" dirty="0">
                <a:latin typeface="Calibri"/>
                <a:cs typeface="Calibri"/>
              </a:rPr>
              <a:t>Remote-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VPN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Font typeface="Calibri"/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Classification</a:t>
            </a:r>
            <a:r>
              <a:rPr sz="12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Based</a:t>
            </a:r>
            <a:r>
              <a:rPr sz="12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on</a:t>
            </a: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OSI</a:t>
            </a: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 Layers:</a:t>
            </a:r>
            <a:endParaRPr sz="1200">
              <a:latin typeface="Calibri"/>
              <a:cs typeface="Calibri"/>
            </a:endParaRPr>
          </a:p>
          <a:p>
            <a:pPr marL="470534" lvl="1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Layer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4/7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WebVPN</a:t>
            </a:r>
            <a:endParaRPr sz="1200">
              <a:latin typeface="Calibri"/>
              <a:cs typeface="Calibri"/>
            </a:endParaRPr>
          </a:p>
          <a:p>
            <a:pPr marL="470534" lvl="1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Layer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GRE,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DMVPN,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SSL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L2TPV3</a:t>
            </a:r>
            <a:endParaRPr sz="1200">
              <a:latin typeface="Calibri"/>
              <a:cs typeface="Calibri"/>
            </a:endParaRPr>
          </a:p>
          <a:p>
            <a:pPr marL="470534" lvl="1" indent="-229235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Layer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L2TP,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PPTP,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MPPE,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Frame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Relay,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X.25,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ATM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70"/>
              </a:spcBef>
              <a:buFont typeface="Calibri"/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Classification</a:t>
            </a:r>
            <a:r>
              <a:rPr sz="12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Based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on</a:t>
            </a: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Trust</a:t>
            </a:r>
            <a:r>
              <a:rPr sz="12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Level:</a:t>
            </a:r>
            <a:endParaRPr sz="1200">
              <a:latin typeface="Calibri"/>
              <a:cs typeface="Calibri"/>
            </a:endParaRPr>
          </a:p>
          <a:p>
            <a:pPr marL="470534" lvl="2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Intranet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VPN</a:t>
            </a:r>
            <a:endParaRPr sz="1200">
              <a:latin typeface="Calibri"/>
              <a:cs typeface="Calibri"/>
            </a:endParaRPr>
          </a:p>
          <a:p>
            <a:pPr marL="470534" lvl="2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Extranet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VPN</a:t>
            </a:r>
            <a:endParaRPr sz="1200">
              <a:latin typeface="Calibri"/>
              <a:cs typeface="Calibri"/>
            </a:endParaRPr>
          </a:p>
          <a:p>
            <a:pPr marL="470534" lvl="2" indent="-22923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VPN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Classifications</a:t>
            </a:r>
            <a:r>
              <a:rPr sz="12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Based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on</a:t>
            </a: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Customer</a:t>
            </a:r>
            <a:r>
              <a:rPr sz="12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Point</a:t>
            </a:r>
            <a:r>
              <a:rPr sz="12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View:</a:t>
            </a:r>
            <a:endParaRPr sz="120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235585" algn="l"/>
              </a:tabLst>
            </a:pPr>
            <a:r>
              <a:rPr sz="1200" b="1" dirty="0">
                <a:latin typeface="Calibri"/>
                <a:cs typeface="Calibri"/>
              </a:rPr>
              <a:t>Traditional</a:t>
            </a:r>
            <a:r>
              <a:rPr sz="1200" b="1" spc="-7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VPN:</a:t>
            </a:r>
            <a:endParaRPr sz="1200">
              <a:latin typeface="Calibri"/>
              <a:cs typeface="Calibri"/>
            </a:endParaRPr>
          </a:p>
          <a:p>
            <a:pPr marL="470534" lvl="1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Frame-Relay (L2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VPN)</a:t>
            </a:r>
            <a:endParaRPr sz="1200">
              <a:latin typeface="Calibri"/>
              <a:cs typeface="Calibri"/>
            </a:endParaRPr>
          </a:p>
          <a:p>
            <a:pPr marL="470534" lvl="1" indent="-22923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ATM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(L2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VPN)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5"/>
              </a:spcBef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buAutoNum type="arabicPeriod"/>
              <a:tabLst>
                <a:tab pos="235585" algn="l"/>
              </a:tabLst>
            </a:pPr>
            <a:r>
              <a:rPr sz="1200" b="1" dirty="0">
                <a:latin typeface="Calibri"/>
                <a:cs typeface="Calibri"/>
              </a:rPr>
              <a:t>CPE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Based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VPN:</a:t>
            </a:r>
            <a:endParaRPr sz="1200">
              <a:latin typeface="Calibri"/>
              <a:cs typeface="Calibri"/>
            </a:endParaRPr>
          </a:p>
          <a:p>
            <a:pPr marL="470534" lvl="1" indent="-229235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L2TP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PPTP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(Layer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20" dirty="0">
                <a:latin typeface="Calibri"/>
                <a:cs typeface="Calibri"/>
              </a:rPr>
              <a:t> VPN)</a:t>
            </a:r>
            <a:endParaRPr sz="1200">
              <a:latin typeface="Calibri"/>
              <a:cs typeface="Calibri"/>
            </a:endParaRPr>
          </a:p>
          <a:p>
            <a:pPr marL="470534" lvl="1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(Layer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VPN)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65"/>
              </a:spcBef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201295" lvl="1" indent="-188595">
              <a:lnSpc>
                <a:spcPct val="100000"/>
              </a:lnSpc>
              <a:buAutoNum type="arabicPeriod"/>
              <a:tabLst>
                <a:tab pos="201295" algn="l"/>
              </a:tabLst>
            </a:pPr>
            <a:r>
              <a:rPr sz="1200" b="1" dirty="0">
                <a:latin typeface="Calibri"/>
                <a:cs typeface="Calibri"/>
              </a:rPr>
              <a:t>Provider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Provisioned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VPN:</a:t>
            </a:r>
            <a:endParaRPr sz="1200">
              <a:latin typeface="Calibri"/>
              <a:cs typeface="Calibri"/>
            </a:endParaRPr>
          </a:p>
          <a:p>
            <a:pPr marL="470534" lvl="2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BGP/MPLS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(L2/L3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VPN)</a:t>
            </a:r>
            <a:endParaRPr sz="12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70"/>
              </a:spcBef>
              <a:buFont typeface="Calibri"/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201295" lvl="1" indent="-188595">
              <a:lnSpc>
                <a:spcPct val="100000"/>
              </a:lnSpc>
              <a:buAutoNum type="arabicPeriod"/>
              <a:tabLst>
                <a:tab pos="201295" algn="l"/>
              </a:tabLst>
            </a:pPr>
            <a:r>
              <a:rPr sz="1200" b="1" dirty="0">
                <a:latin typeface="Calibri"/>
                <a:cs typeface="Calibri"/>
              </a:rPr>
              <a:t>Session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Based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VPN:</a:t>
            </a:r>
            <a:endParaRPr sz="1200">
              <a:latin typeface="Calibri"/>
              <a:cs typeface="Calibri"/>
            </a:endParaRPr>
          </a:p>
          <a:p>
            <a:pPr marL="470534" lvl="2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SSLVPN/WebVPN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(L4/L7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VPN)</a:t>
            </a:r>
            <a:endParaRPr sz="12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70"/>
              </a:spcBef>
              <a:buFont typeface="Calibri"/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Classification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Based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on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Security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Level:</a:t>
            </a:r>
            <a:endParaRPr sz="1200">
              <a:latin typeface="Calibri"/>
              <a:cs typeface="Calibri"/>
            </a:endParaRPr>
          </a:p>
          <a:p>
            <a:pPr marL="470534" lvl="3" indent="-22923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VPN</a:t>
            </a:r>
            <a:endParaRPr sz="1200">
              <a:latin typeface="Calibri"/>
              <a:cs typeface="Calibri"/>
            </a:endParaRPr>
          </a:p>
          <a:p>
            <a:pPr marL="470534" lvl="3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Trusted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VPN</a:t>
            </a:r>
            <a:endParaRPr sz="1200">
              <a:latin typeface="Calibri"/>
              <a:cs typeface="Calibri"/>
            </a:endParaRPr>
          </a:p>
          <a:p>
            <a:pPr marL="470534" lvl="3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Hybrid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VPN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Classification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based</a:t>
            </a:r>
            <a:r>
              <a:rPr sz="12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on</a:t>
            </a:r>
            <a:r>
              <a:rPr sz="12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Cleartext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VPNs:</a:t>
            </a:r>
            <a:endParaRPr sz="1200">
              <a:latin typeface="Calibri"/>
              <a:cs typeface="Calibri"/>
            </a:endParaRPr>
          </a:p>
          <a:p>
            <a:pPr marL="470534" lvl="4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spc="-10" dirty="0">
                <a:latin typeface="Calibri"/>
                <a:cs typeface="Calibri"/>
              </a:rPr>
              <a:t>MPLS,VPLS</a:t>
            </a:r>
            <a:endParaRPr sz="1200">
              <a:latin typeface="Calibri"/>
              <a:cs typeface="Calibri"/>
            </a:endParaRPr>
          </a:p>
          <a:p>
            <a:pPr marL="470534" lvl="4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L2VPN,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L3VPN</a:t>
            </a:r>
            <a:endParaRPr sz="1200">
              <a:latin typeface="Calibri"/>
              <a:cs typeface="Calibri"/>
            </a:endParaRPr>
          </a:p>
          <a:p>
            <a:pPr marL="470534" lvl="4" indent="-22923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PPTP,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L2F,L2TP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334"/>
            <a:ext cx="13950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Advantages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of</a:t>
            </a:r>
            <a:r>
              <a:rPr sz="1300" spc="-2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VPNs: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146302"/>
          <a:ext cx="5937885" cy="1153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Savings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Organizations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VPNs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reduce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connectivity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costs.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Scalability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Organizations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Internet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easily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interconnect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offices.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Advanced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authentication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protocols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protect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data.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Compatibility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VPNs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implemented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across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variety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WAN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link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options.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Better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VPNs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better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performance.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Flexible</a:t>
                      </a:r>
                      <a:r>
                        <a:rPr sz="1200" spc="-2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Reliable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VPNs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flexible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reliable.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2500629"/>
            <a:ext cx="14687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Why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Use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Secure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VPN: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2752598"/>
          <a:ext cx="5938520" cy="950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8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Eavesdropping</a:t>
                      </a:r>
                      <a:r>
                        <a:rPr sz="1200" spc="4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Attacks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Traffic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sniffed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unsecured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lines.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Network</a:t>
                      </a:r>
                      <a:r>
                        <a:rPr sz="1200" spc="-5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Spoofing</a:t>
                      </a:r>
                      <a:r>
                        <a:rPr sz="1200" spc="-4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Attacks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241300">
                        <a:lnSpc>
                          <a:spcPts val="147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Attacker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sniff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encrypted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public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network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itself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legitimate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VPN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peer.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Man-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in-The-Middle-Attacks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Attacker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gets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normal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flow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traffic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just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sniff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critical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information.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5116156"/>
            <a:ext cx="5738495" cy="47688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Type</a:t>
            </a: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of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VPNs: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categories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VPNs,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Site-to-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Remote-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10" dirty="0">
                <a:latin typeface="Calibri"/>
                <a:cs typeface="Calibri"/>
              </a:rPr>
              <a:t> VPNs.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960931"/>
            <a:ext cx="5622256" cy="10874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644229"/>
            <a:ext cx="5664906" cy="34326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465"/>
            <a:ext cx="5788660" cy="21888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Site-to-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Site</a:t>
            </a:r>
            <a:r>
              <a:rPr sz="1300" spc="5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VPNs: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called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Site-</a:t>
            </a:r>
            <a:r>
              <a:rPr sz="1200" spc="-10" dirty="0">
                <a:latin typeface="Calibri"/>
                <a:cs typeface="Calibri"/>
              </a:rPr>
              <a:t>to-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VPN.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Public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Network, Private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Public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Network.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It is also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called</a:t>
            </a:r>
            <a:r>
              <a:rPr sz="1200" spc="-10" dirty="0">
                <a:latin typeface="Calibri"/>
                <a:cs typeface="Calibri"/>
              </a:rPr>
              <a:t> Site-to-</a:t>
            </a:r>
            <a:r>
              <a:rPr sz="1200" dirty="0">
                <a:latin typeface="Calibri"/>
                <a:cs typeface="Calibri"/>
              </a:rPr>
              <a:t>Site VPN,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LAN-</a:t>
            </a:r>
            <a:r>
              <a:rPr sz="1200" spc="-10" dirty="0">
                <a:latin typeface="Calibri"/>
                <a:cs typeface="Calibri"/>
              </a:rPr>
              <a:t>to-</a:t>
            </a:r>
            <a:r>
              <a:rPr sz="1200" dirty="0">
                <a:latin typeface="Calibri"/>
                <a:cs typeface="Calibri"/>
              </a:rPr>
              <a:t>LAN VPN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 </a:t>
            </a:r>
            <a:r>
              <a:rPr sz="1200" spc="-10" dirty="0">
                <a:latin typeface="Calibri"/>
                <a:cs typeface="Calibri"/>
              </a:rPr>
              <a:t>Hub-and-</a:t>
            </a:r>
            <a:r>
              <a:rPr sz="1200" dirty="0">
                <a:latin typeface="Calibri"/>
                <a:cs typeface="Calibri"/>
              </a:rPr>
              <a:t>Spoke </a:t>
            </a:r>
            <a:r>
              <a:rPr sz="1200" spc="-20" dirty="0">
                <a:latin typeface="Calibri"/>
                <a:cs typeface="Calibri"/>
              </a:rPr>
              <a:t>VPN.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Many</a:t>
            </a:r>
            <a:r>
              <a:rPr sz="1200" spc="-10" dirty="0">
                <a:latin typeface="Calibri"/>
                <a:cs typeface="Calibri"/>
              </a:rPr>
              <a:t> organizations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 IPsec,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GRE, 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MPLS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 as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Site-to-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0" dirty="0">
                <a:latin typeface="Calibri"/>
                <a:cs typeface="Calibri"/>
              </a:rPr>
              <a:t> protocols.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Site-to-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branch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office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 company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Head-</a:t>
            </a:r>
            <a:r>
              <a:rPr sz="1200" dirty="0">
                <a:latin typeface="Calibri"/>
                <a:cs typeface="Calibri"/>
              </a:rPr>
              <a:t>Office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Network.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corporate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office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branch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offices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offices.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Site-to-</a:t>
            </a:r>
            <a:r>
              <a:rPr sz="1200" dirty="0">
                <a:latin typeface="Calibri"/>
                <a:cs typeface="Calibri"/>
              </a:rPr>
              <a:t>Site,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Internet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office</a:t>
            </a:r>
            <a:r>
              <a:rPr sz="1200" spc="-10" dirty="0">
                <a:latin typeface="Calibri"/>
                <a:cs typeface="Calibri"/>
              </a:rPr>
              <a:t> locations.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Site-to-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Virtual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(VPN)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entire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other.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placed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enterprise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internet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edge,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enterprise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edge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branch.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910160"/>
            <a:ext cx="5585460" cy="26155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Remote-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Access</a:t>
            </a:r>
            <a:r>
              <a:rPr sz="1300" spc="4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VPNs: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Enable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locations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homes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premises.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Remote-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devices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Internet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infrastructure.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Individual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clients,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company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securely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Internet.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Each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typically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software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loaded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web-based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client.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Whenever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information,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software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encapsulates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Whenever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information,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software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encrypts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individual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establish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connections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network.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Remote-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tunnels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formed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device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end-user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PC.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requires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Virtual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(VPN)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software.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Virtual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individual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networks.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Remote-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Virtual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individual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company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Network.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504" y="3335849"/>
            <a:ext cx="5805813" cy="2354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390734"/>
            <a:ext cx="4126865" cy="47688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Protocols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for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 VPN: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following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protocols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implementation: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3894454"/>
          <a:ext cx="4684395" cy="1343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Point-to-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Point Tunneling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Protocol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PPTP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Layer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Forwarding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Protocol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L2FP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Layer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Tunneling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Protocol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L2TP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Generic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Routing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Encapsulation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Protocol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GRE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Multiprotocol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Label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Switching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15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MPLS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Internet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Protocol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Security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IPSec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Secure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Sockets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Layer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SSL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5431746"/>
            <a:ext cx="4258945" cy="47370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Encryption</a:t>
            </a:r>
            <a:r>
              <a:rPr sz="1300" spc="-5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Algorithms</a:t>
            </a:r>
            <a:r>
              <a:rPr sz="1300" spc="-4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for</a:t>
            </a:r>
            <a:r>
              <a:rPr sz="1300" spc="-4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VPN: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following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typical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encryption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(Confidentiality)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algorithms: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5932296"/>
          <a:ext cx="4684395" cy="96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(DES)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064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bits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long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Triple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(3DES)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168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bits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long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Advanced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(AES)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128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bits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long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Advanced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(AES)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192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bits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long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Advanced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(AES)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256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bits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long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7084874"/>
            <a:ext cx="3258185" cy="4749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Hashing</a:t>
            </a:r>
            <a:r>
              <a:rPr sz="1300" spc="-2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Algorithms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for</a:t>
            </a:r>
            <a:r>
              <a:rPr sz="13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VPN: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following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Hashing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(Integrity)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algorithms: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704" y="7586217"/>
          <a:ext cx="4684395" cy="383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Secure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Hash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Algorithm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SHA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Message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Digest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Algorithm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MD5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004" y="8134056"/>
            <a:ext cx="3252470" cy="47688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Authentication</a:t>
            </a:r>
            <a:r>
              <a:rPr sz="1300" spc="-5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Algorithms</a:t>
            </a:r>
            <a:r>
              <a:rPr sz="1300" spc="-3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for</a:t>
            </a:r>
            <a:r>
              <a:rPr sz="1300" spc="-5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VPN: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following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authentication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methods: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704" y="8636253"/>
          <a:ext cx="4684395" cy="19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Pre-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Shared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Keys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Certificates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211" y="963140"/>
            <a:ext cx="5809592" cy="2388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1064</Words>
  <Application>Microsoft Office PowerPoint</Application>
  <PresentationFormat>Custom</PresentationFormat>
  <Paragraphs>142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Ali</dc:creator>
  <cp:lastModifiedBy>universe</cp:lastModifiedBy>
  <cp:revision>1</cp:revision>
  <dcterms:created xsi:type="dcterms:W3CDTF">2026-04-11T13:43:30Z</dcterms:created>
  <dcterms:modified xsi:type="dcterms:W3CDTF">2026-04-12T01:05:19Z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2020-09-15T00:00:00Z</vt:filetime>
  </property>
  <property fmtid="{D5CDD505-2E9C-101B-9397-08002B2CF9AE}" pid="4" name="Creator">
    <vt:lpwstr>Microsoft® Word for Office 365</vt:lpwstr>
  </property>
  <property fmtid="{D5CDD505-2E9C-101B-9397-08002B2CF9AE}" pid="5" name="LastSaved">
    <vt:filetime>2026-04-11T00:00:00Z</vt:filetime>
  </property>
  <property fmtid="{D5CDD505-2E9C-101B-9397-08002B2CF9AE}" pid="6" name="Producer">
    <vt:lpwstr>Microsoft® Word for Office 365</vt:lpwstr>
  </property>
</Properties>
</file>