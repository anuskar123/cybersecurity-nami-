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6" d="100"/>
          <a:sy n="96" d="100"/>
        </p:scale>
        <p:origin x="832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96416" y="9242755"/>
            <a:ext cx="5981065" cy="6350"/>
          </a:xfrm>
          <a:custGeom>
            <a:avLst/>
            <a:gdLst/>
            <a:ahLst/>
            <a:cxnLst/>
            <a:rect l="l" t="t" r="r" b="b"/>
            <a:pathLst>
              <a:path w="5981065" h="6350">
                <a:moveTo>
                  <a:pt x="5981065" y="0"/>
                </a:moveTo>
                <a:lnTo>
                  <a:pt x="0" y="0"/>
                </a:lnTo>
                <a:lnTo>
                  <a:pt x="0" y="6095"/>
                </a:lnTo>
                <a:lnTo>
                  <a:pt x="5981065" y="6095"/>
                </a:lnTo>
                <a:lnTo>
                  <a:pt x="598106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57542"/>
            <a:ext cx="4641850" cy="71310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Virtual</a:t>
            </a:r>
            <a:r>
              <a:rPr sz="160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Private</a:t>
            </a:r>
            <a:r>
              <a:rPr sz="1600" spc="-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Networks</a:t>
            </a:r>
            <a:r>
              <a:rPr sz="1600" spc="-2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spc="-10" dirty="0">
                <a:solidFill>
                  <a:srgbClr val="2E5395"/>
                </a:solidFill>
                <a:latin typeface="Calibri Light"/>
                <a:cs typeface="Calibri Light"/>
              </a:rPr>
              <a:t>(VPNs):</a:t>
            </a:r>
            <a:endParaRPr sz="1600">
              <a:latin typeface="Calibri Light"/>
              <a:cs typeface="Calibri Light"/>
            </a:endParaRPr>
          </a:p>
          <a:p>
            <a:pPr marL="240665" indent="-227965">
              <a:lnSpc>
                <a:spcPct val="100000"/>
              </a:lnSpc>
              <a:spcBef>
                <a:spcPts val="21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VPNs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way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establish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private</a:t>
            </a:r>
            <a:r>
              <a:rPr sz="1200" spc="-10" dirty="0">
                <a:latin typeface="Calibri"/>
                <a:cs typeface="Calibri"/>
              </a:rPr>
              <a:t> connections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over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another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network.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VPNs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protect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that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transmitted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over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internet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threats.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1784857"/>
          <a:ext cx="5369560" cy="828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1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701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Confidentiality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Prevent</a:t>
                      </a:r>
                      <a:r>
                        <a:rPr sz="1200" spc="-1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others</a:t>
                      </a:r>
                      <a:r>
                        <a:rPr sz="1200" spc="-1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from</a:t>
                      </a:r>
                      <a:r>
                        <a:rPr sz="1200" spc="-3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reading</a:t>
                      </a:r>
                      <a:r>
                        <a:rPr sz="1200" spc="-2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200" spc="-2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traffic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Integrity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Ensure</a:t>
                      </a:r>
                      <a:r>
                        <a:rPr sz="1200" spc="-2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sz="1200" spc="-3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traffic</a:t>
                      </a:r>
                      <a:r>
                        <a:rPr sz="1200" spc="-3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has</a:t>
                      </a:r>
                      <a:r>
                        <a:rPr sz="1200" spc="-2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not</a:t>
                      </a:r>
                      <a:r>
                        <a:rPr sz="1200" spc="-2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been</a:t>
                      </a:r>
                      <a:r>
                        <a:rPr sz="1200" spc="-1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modified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Authentication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Prove</a:t>
                      </a:r>
                      <a:r>
                        <a:rPr sz="1200" spc="-1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identity</a:t>
                      </a:r>
                      <a:r>
                        <a:rPr sz="1200" spc="-3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2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remote</a:t>
                      </a:r>
                      <a:r>
                        <a:rPr sz="1200" spc="-3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peer</a:t>
                      </a:r>
                      <a:r>
                        <a:rPr sz="1200" spc="-3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2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packets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Anti-replay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Prevent</a:t>
                      </a:r>
                      <a:r>
                        <a:rPr sz="1200" spc="-1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replay</a:t>
                      </a:r>
                      <a:r>
                        <a:rPr sz="1200" spc="-1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200" spc="-1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encrypted</a:t>
                      </a:r>
                      <a:r>
                        <a:rPr sz="1200" spc="-15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00AF50"/>
                          </a:solidFill>
                          <a:latin typeface="Calibri"/>
                          <a:cs typeface="Calibri"/>
                        </a:rPr>
                        <a:t>traffic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004" y="5629439"/>
            <a:ext cx="5430520" cy="445134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VPN</a:t>
            </a:r>
            <a:r>
              <a:rPr sz="1300" spc="-2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Support</a:t>
            </a:r>
            <a:r>
              <a:rPr sz="1300" spc="-1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for</a:t>
            </a:r>
            <a:r>
              <a:rPr sz="1300" spc="-2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IOS</a:t>
            </a:r>
            <a:r>
              <a:rPr sz="1300" spc="-2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and</a:t>
            </a:r>
            <a:r>
              <a:rPr sz="1300" spc="-2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ASA</a:t>
            </a:r>
            <a:r>
              <a:rPr sz="1300" spc="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Devices:</a:t>
            </a:r>
            <a:endParaRPr sz="13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  <a:tabLst>
                <a:tab pos="240665" algn="l"/>
              </a:tabLst>
            </a:pPr>
            <a:r>
              <a:rPr sz="1200" spc="-50" dirty="0">
                <a:latin typeface="Calibri"/>
                <a:cs typeface="Calibri"/>
              </a:rPr>
              <a:t>o</a:t>
            </a:r>
            <a:r>
              <a:rPr sz="1200" dirty="0">
                <a:latin typeface="Calibri"/>
                <a:cs typeface="Calibri"/>
              </a:rPr>
              <a:t>	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table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below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lists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which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types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supported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each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major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device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type: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14704" y="6086220"/>
          <a:ext cx="5370194" cy="1449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78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9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1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7010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VPN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Cisco</a:t>
                      </a:r>
                      <a:r>
                        <a:rPr sz="1200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IOS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Cisco</a:t>
                      </a:r>
                      <a:r>
                        <a:rPr sz="12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ASA</a:t>
                      </a:r>
                      <a:r>
                        <a:rPr sz="1200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Firewall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Site-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To-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Site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Yes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15"/>
                        </a:lnSpc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Yes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Remote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Access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Yes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Yes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SSL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Yes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Yes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DMVPN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Yes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No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7010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GETVPN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Yes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No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7645"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FlexVPN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Yes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405"/>
                        </a:lnSpc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No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858" y="2803164"/>
            <a:ext cx="5821239" cy="26668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57542"/>
            <a:ext cx="4301490" cy="151638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1600" spc="-10" dirty="0">
                <a:solidFill>
                  <a:srgbClr val="2E5395"/>
                </a:solidFill>
                <a:latin typeface="Calibri Light"/>
                <a:cs typeface="Calibri Light"/>
              </a:rPr>
              <a:t>Site-to-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Site</a:t>
            </a:r>
            <a:r>
              <a:rPr sz="1600" spc="3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spc="-20" dirty="0">
                <a:solidFill>
                  <a:srgbClr val="2E5395"/>
                </a:solidFill>
                <a:latin typeface="Calibri Light"/>
                <a:cs typeface="Calibri Light"/>
              </a:rPr>
              <a:t>VPN:</a:t>
            </a:r>
            <a:endParaRPr sz="1600">
              <a:latin typeface="Calibri Light"/>
              <a:cs typeface="Calibri Light"/>
            </a:endParaRPr>
          </a:p>
          <a:p>
            <a:pPr marL="240665" indent="-227965">
              <a:lnSpc>
                <a:spcPct val="100000"/>
              </a:lnSpc>
              <a:spcBef>
                <a:spcPts val="210"/>
              </a:spcBef>
              <a:buChar char="o"/>
              <a:tabLst>
                <a:tab pos="240665" algn="l"/>
              </a:tabLst>
            </a:pPr>
            <a:r>
              <a:rPr sz="1200" spc="-10" dirty="0">
                <a:latin typeface="Calibri"/>
                <a:cs typeface="Calibri"/>
              </a:rPr>
              <a:t>Site-to-</a:t>
            </a:r>
            <a:r>
              <a:rPr sz="1200" dirty="0">
                <a:latin typeface="Calibri"/>
                <a:cs typeface="Calibri"/>
              </a:rPr>
              <a:t>Site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used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connect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two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more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sites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together.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Used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instead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private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WAN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connections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improve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security.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VPN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devices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Cisco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routers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Cisco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firewalls.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spc="-10" dirty="0">
                <a:latin typeface="Calibri"/>
                <a:cs typeface="Calibri"/>
              </a:rPr>
              <a:t>Site-to-</a:t>
            </a:r>
            <a:r>
              <a:rPr sz="1200" dirty="0">
                <a:latin typeface="Calibri"/>
                <a:cs typeface="Calibri"/>
              </a:rPr>
              <a:t>Site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Utilizes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IPSec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IKEv1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IPSec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IKEv2 </a:t>
            </a:r>
            <a:r>
              <a:rPr sz="1200" spc="-60" dirty="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They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are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often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connect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branch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office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main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office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0"/>
              </a:spcBef>
              <a:buChar char="o"/>
              <a:tabLst>
                <a:tab pos="240665" algn="l"/>
              </a:tabLst>
            </a:pPr>
            <a:r>
              <a:rPr sz="1200" spc="-10" dirty="0">
                <a:latin typeface="Calibri"/>
                <a:cs typeface="Calibri"/>
              </a:rPr>
              <a:t>Site-to-</a:t>
            </a:r>
            <a:r>
              <a:rPr sz="1200" dirty="0">
                <a:latin typeface="Calibri"/>
                <a:cs typeface="Calibri"/>
              </a:rPr>
              <a:t>Site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Supports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hub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spoke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designs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5852541"/>
            <a:ext cx="18961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2E5395"/>
                </a:solidFill>
                <a:latin typeface="Calibri Light"/>
                <a:cs typeface="Calibri Light"/>
              </a:rPr>
              <a:t>Site-to-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Site</a:t>
            </a:r>
            <a:r>
              <a:rPr sz="1600" spc="-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VPN</a:t>
            </a:r>
            <a:r>
              <a:rPr sz="1600" spc="1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spc="-10" dirty="0">
                <a:solidFill>
                  <a:srgbClr val="2E5395"/>
                </a:solidFill>
                <a:latin typeface="Calibri Light"/>
                <a:cs typeface="Calibri Light"/>
              </a:rPr>
              <a:t>Types:</a:t>
            </a:r>
            <a:endParaRPr sz="1600">
              <a:latin typeface="Calibri Light"/>
              <a:cs typeface="Calibri Ligh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2386710"/>
            <a:ext cx="5564591" cy="111569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2343" y="3840550"/>
            <a:ext cx="5673323" cy="190866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7169" y="6324853"/>
            <a:ext cx="3369352" cy="111823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6404" y="7738764"/>
            <a:ext cx="4408132" cy="1209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914400"/>
            <a:ext cx="5792039" cy="298196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2482" y="4104132"/>
            <a:ext cx="4086484" cy="31906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72278"/>
            <a:ext cx="3865879" cy="648335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1300" spc="-10" dirty="0">
                <a:solidFill>
                  <a:srgbClr val="2E5395"/>
                </a:solidFill>
                <a:latin typeface="Calibri Light"/>
                <a:cs typeface="Calibri Light"/>
              </a:rPr>
              <a:t>Site-to-</a:t>
            </a:r>
            <a:r>
              <a:rPr sz="1300" dirty="0">
                <a:solidFill>
                  <a:srgbClr val="2E5395"/>
                </a:solidFill>
                <a:latin typeface="Calibri Light"/>
                <a:cs typeface="Calibri Light"/>
              </a:rPr>
              <a:t>Site</a:t>
            </a:r>
            <a:r>
              <a:rPr sz="1300" spc="5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300" spc="-20" dirty="0">
                <a:solidFill>
                  <a:srgbClr val="2E5395"/>
                </a:solidFill>
                <a:latin typeface="Calibri Light"/>
                <a:cs typeface="Calibri Light"/>
              </a:rPr>
              <a:t>VPN:</a:t>
            </a:r>
            <a:endParaRPr sz="1300">
              <a:latin typeface="Calibri Light"/>
              <a:cs typeface="Calibri Light"/>
            </a:endParaRPr>
          </a:p>
          <a:p>
            <a:pPr marL="240665" indent="-227965">
              <a:lnSpc>
                <a:spcPct val="100000"/>
              </a:lnSpc>
              <a:spcBef>
                <a:spcPts val="16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Site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share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key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Main</a:t>
            </a:r>
            <a:r>
              <a:rPr sz="1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FF0000"/>
                </a:solidFill>
                <a:latin typeface="Calibri"/>
                <a:cs typeface="Calibri"/>
              </a:rPr>
              <a:t>Mode.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Site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share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key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Aggressive</a:t>
            </a:r>
            <a:r>
              <a:rPr sz="1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Calibri"/>
                <a:cs typeface="Calibri"/>
              </a:rPr>
              <a:t>Mode</a:t>
            </a:r>
            <a:r>
              <a:rPr sz="1200" spc="-10" dirty="0">
                <a:latin typeface="Calibri"/>
                <a:cs typeface="Calibri"/>
              </a:rPr>
              <a:t>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4302378"/>
            <a:ext cx="355472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665" algn="l"/>
              </a:tabLst>
            </a:pPr>
            <a:r>
              <a:rPr sz="1200" spc="-50" dirty="0">
                <a:latin typeface="Calibri"/>
                <a:cs typeface="Calibri"/>
              </a:rPr>
              <a:t>o</a:t>
            </a:r>
            <a:r>
              <a:rPr sz="1200" dirty="0">
                <a:latin typeface="Calibri"/>
                <a:cs typeface="Calibri"/>
              </a:rPr>
              <a:t>	Site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Cisco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ASA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Cisco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IOS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Router.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734311"/>
            <a:ext cx="5905802" cy="21225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2014" y="4666012"/>
            <a:ext cx="5732810" cy="32744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4333"/>
            <a:ext cx="38715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665" algn="l"/>
              </a:tabLst>
            </a:pPr>
            <a:r>
              <a:rPr sz="1200" spc="-50" dirty="0">
                <a:latin typeface="Calibri"/>
                <a:cs typeface="Calibri"/>
              </a:rPr>
              <a:t>o</a:t>
            </a:r>
            <a:r>
              <a:rPr sz="1200" dirty="0">
                <a:latin typeface="Calibri"/>
                <a:cs typeface="Calibri"/>
              </a:rPr>
              <a:t>	Site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share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key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Cisco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Firewalls.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4210939"/>
            <a:ext cx="4076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665" algn="l"/>
              </a:tabLst>
            </a:pPr>
            <a:r>
              <a:rPr sz="1200" spc="-50" dirty="0">
                <a:latin typeface="Calibri"/>
                <a:cs typeface="Calibri"/>
              </a:rPr>
              <a:t>o</a:t>
            </a:r>
            <a:r>
              <a:rPr sz="1200" dirty="0">
                <a:latin typeface="Calibri"/>
                <a:cs typeface="Calibri"/>
              </a:rPr>
              <a:t>	Site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Cisco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IOS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Router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Overlapping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Subnet.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6242684"/>
            <a:ext cx="36550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0665" algn="l"/>
              </a:tabLst>
            </a:pPr>
            <a:r>
              <a:rPr sz="1200" spc="-50" dirty="0">
                <a:latin typeface="Calibri"/>
                <a:cs typeface="Calibri"/>
              </a:rPr>
              <a:t>o</a:t>
            </a:r>
            <a:r>
              <a:rPr sz="1200" dirty="0">
                <a:latin typeface="Calibri"/>
                <a:cs typeface="Calibri"/>
              </a:rPr>
              <a:t>	Site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Cisco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ASA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Overlapping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Subnet.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228" y="1408801"/>
            <a:ext cx="5678803" cy="255887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4431791"/>
            <a:ext cx="5936615" cy="181546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400" y="6620715"/>
            <a:ext cx="5936615" cy="18891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76045"/>
            <a:ext cx="3396615" cy="427990"/>
          </a:xfrm>
          <a:prstGeom prst="rect">
            <a:avLst/>
          </a:prstGeom>
        </p:spPr>
        <p:txBody>
          <a:bodyPr vert="horz" wrap="square" lIns="0" tIns="31114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44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Site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 on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Cisco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IOS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CA</a:t>
            </a:r>
            <a:r>
              <a:rPr sz="1200" spc="-10" dirty="0">
                <a:latin typeface="Calibri"/>
                <a:cs typeface="Calibri"/>
              </a:rPr>
              <a:t> Server.</a:t>
            </a:r>
            <a:endParaRPr sz="1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Site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Site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Hub-to-</a:t>
            </a:r>
            <a:r>
              <a:rPr sz="1200" dirty="0">
                <a:latin typeface="Calibri"/>
                <a:cs typeface="Calibri"/>
              </a:rPr>
              <a:t>Spoke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VPN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Cisco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IOS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Router.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3786029"/>
            <a:ext cx="4603115" cy="1917064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Remote</a:t>
            </a:r>
            <a:r>
              <a:rPr sz="1600" spc="-35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dirty="0">
                <a:solidFill>
                  <a:srgbClr val="2E5395"/>
                </a:solidFill>
                <a:latin typeface="Calibri Light"/>
                <a:cs typeface="Calibri Light"/>
              </a:rPr>
              <a:t>Access</a:t>
            </a:r>
            <a:r>
              <a:rPr sz="1600" spc="-40" dirty="0">
                <a:solidFill>
                  <a:srgbClr val="2E5395"/>
                </a:solidFill>
                <a:latin typeface="Calibri Light"/>
                <a:cs typeface="Calibri Light"/>
              </a:rPr>
              <a:t> </a:t>
            </a:r>
            <a:r>
              <a:rPr sz="1600" spc="-20" dirty="0">
                <a:solidFill>
                  <a:srgbClr val="2E5395"/>
                </a:solidFill>
                <a:latin typeface="Calibri Light"/>
                <a:cs typeface="Calibri Light"/>
              </a:rPr>
              <a:t>VPN:</a:t>
            </a:r>
            <a:endParaRPr sz="1600" dirty="0">
              <a:latin typeface="Calibri Light"/>
              <a:cs typeface="Calibri Light"/>
            </a:endParaRPr>
          </a:p>
          <a:p>
            <a:pPr marL="240665" indent="-227965">
              <a:lnSpc>
                <a:spcPct val="100000"/>
              </a:lnSpc>
              <a:spcBef>
                <a:spcPts val="19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Connects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single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remote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network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via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gateway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such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ASA.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Utilizes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IPsec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Secure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Sockets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Layer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(SSL).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200" b="1" spc="-10" dirty="0">
                <a:solidFill>
                  <a:srgbClr val="00AF50"/>
                </a:solidFill>
                <a:latin typeface="Calibri"/>
                <a:cs typeface="Calibri"/>
              </a:rPr>
              <a:t>Client-</a:t>
            </a:r>
            <a:r>
              <a:rPr sz="1200" b="1" dirty="0">
                <a:solidFill>
                  <a:srgbClr val="00AF50"/>
                </a:solidFill>
                <a:latin typeface="Calibri"/>
                <a:cs typeface="Calibri"/>
              </a:rPr>
              <a:t>based</a:t>
            </a:r>
            <a:r>
              <a:rPr sz="1200" b="1" spc="3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00AF50"/>
                </a:solidFill>
                <a:latin typeface="Calibri"/>
                <a:cs typeface="Calibri"/>
              </a:rPr>
              <a:t>VPN: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Remote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access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using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client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like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Cisco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AnyConnect.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30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Permits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“full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tunnel”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access.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200" b="1" dirty="0">
                <a:solidFill>
                  <a:srgbClr val="00AF50"/>
                </a:solidFill>
                <a:latin typeface="Calibri"/>
                <a:cs typeface="Calibri"/>
              </a:rPr>
              <a:t>Clientless</a:t>
            </a:r>
            <a:r>
              <a:rPr sz="1200" b="1" spc="-4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1200" b="1" spc="-20" dirty="0">
                <a:solidFill>
                  <a:srgbClr val="00AF50"/>
                </a:solidFill>
                <a:latin typeface="Calibri"/>
                <a:cs typeface="Calibri"/>
              </a:rPr>
              <a:t>VPN: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Leverages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web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browser’s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SSL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encryption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protection.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45"/>
              </a:spcBef>
              <a:buChar char="o"/>
              <a:tabLst>
                <a:tab pos="240665" algn="l"/>
              </a:tabLst>
            </a:pPr>
            <a:r>
              <a:rPr sz="1200" dirty="0">
                <a:latin typeface="Calibri"/>
                <a:cs typeface="Calibri"/>
              </a:rPr>
              <a:t>Permits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limited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access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but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footprint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required.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499997"/>
            <a:ext cx="5936615" cy="232664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0937" y="5855061"/>
            <a:ext cx="5596135" cy="19445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280</Words>
  <Application>Microsoft Office PowerPoint</Application>
  <PresentationFormat>Custom</PresentationFormat>
  <Paragraphs>60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 Ali</dc:creator>
  <cp:lastModifiedBy>universe</cp:lastModifiedBy>
  <cp:revision>1</cp:revision>
  <dcterms:created xsi:type="dcterms:W3CDTF">2026-04-11T13:48:15Z</dcterms:created>
  <dcterms:modified xsi:type="dcterms:W3CDTF">2026-04-11T13:49:33Z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2020-09-15T00:00:00Z</vt:filetime>
  </property>
  <property fmtid="{D5CDD505-2E9C-101B-9397-08002B2CF9AE}" pid="4" name="Creator">
    <vt:lpwstr>Microsoft® Word for Office 365</vt:lpwstr>
  </property>
  <property fmtid="{D5CDD505-2E9C-101B-9397-08002B2CF9AE}" pid="5" name="LastSaved">
    <vt:filetime>2026-04-11T00:00:00Z</vt:filetime>
  </property>
  <property fmtid="{D5CDD505-2E9C-101B-9397-08002B2CF9AE}" pid="6" name="Producer">
    <vt:lpwstr>Microsoft® Word for Office 365</vt:lpwstr>
  </property>
</Properties>
</file>