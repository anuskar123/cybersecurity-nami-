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359" r:id="rId4"/>
    <p:sldId id="366" r:id="rId5"/>
    <p:sldId id="351" r:id="rId6"/>
    <p:sldId id="352" r:id="rId7"/>
    <p:sldId id="353" r:id="rId8"/>
    <p:sldId id="360" r:id="rId9"/>
    <p:sldId id="354" r:id="rId10"/>
    <p:sldId id="361" r:id="rId11"/>
    <p:sldId id="355" r:id="rId12"/>
    <p:sldId id="362" r:id="rId13"/>
    <p:sldId id="356" r:id="rId14"/>
    <p:sldId id="364" r:id="rId15"/>
    <p:sldId id="363" r:id="rId16"/>
    <p:sldId id="357" r:id="rId17"/>
    <p:sldId id="365" r:id="rId18"/>
    <p:sldId id="35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1431D-19B0-4115-96BC-42F1841FB80B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C659A9-B627-4A93-AB03-D8D3E231F8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730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75ECD-153B-4DF6-886B-7086D1541E62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32D632-18E0-4EC7-ACCF-D86DBE415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51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0EB13-87B1-4357-9064-128A011212B3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063E0-1639-4315-B594-904872C16F49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C66B-BC68-4A44-83A0-331AAC0745D1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A2B98-824D-40F2-96EB-05445F2F59A7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81EC-1622-41C9-8CA1-1EDD4B074BDF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E9A63-B66C-437F-A3BC-ACFBC0CC1A05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E66D1-DC48-491F-A5EF-CA4E99944BDF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D3071-1DF5-43E6-A132-9844F9E2A529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D4C08-1871-4978-8161-6E55E3933DDF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84AD7-2CD7-4BF1-9889-4FB1D4211333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EC04-86A5-4D64-9758-2CFEAC225331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4C3B-1C83-48BC-AAF6-51A17E28F410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47117" y="0"/>
            <a:ext cx="9808237" cy="1618309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dirty="0" smtClean="0"/>
              <a:t>CYBER SECURITY &amp; APPLIED CRYPTOGRAPHY </a:t>
            </a:r>
            <a:endParaRPr dirty="0"/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345440" y="5029201"/>
            <a:ext cx="8323527" cy="153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200" dirty="0" smtClean="0"/>
              <a:t>Other Cyber Security Frameworks</a:t>
            </a:r>
          </a:p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3000" b="1" dirty="0" err="1" smtClean="0">
                <a:solidFill>
                  <a:srgbClr val="460078"/>
                </a:solidFill>
              </a:rPr>
              <a:t>Er</a:t>
            </a:r>
            <a:r>
              <a:rPr lang="en-US" sz="3000" b="1" dirty="0" smtClean="0">
                <a:solidFill>
                  <a:srgbClr val="460078"/>
                </a:solidFill>
              </a:rPr>
              <a:t>. Prakash Chandra Adhikari</a:t>
            </a:r>
            <a:endParaRPr lang="en-US" sz="3000" b="1" dirty="0">
              <a:solidFill>
                <a:srgbClr val="460078"/>
              </a:solidFill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8D382-49DB-4807-A586-175A2D7637E3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4596" y="1474822"/>
            <a:ext cx="5505214" cy="367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 smtClean="0"/>
              <a:t>Overview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69" y="1308321"/>
            <a:ext cx="8763951" cy="455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5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 smtClean="0"/>
              <a:t>ISO/IEC 27001-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0625" y="1693142"/>
            <a:ext cx="6921856" cy="447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16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 smtClean="0"/>
              <a:t>ISO/IEC 27001-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04" y="1873892"/>
            <a:ext cx="8691216" cy="379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264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ISO/IEC 27001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84" y="1506746"/>
            <a:ext cx="8609936" cy="493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951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5319"/>
            <a:ext cx="8229599" cy="534615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ISO/IEC 27001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1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ISO/IEC 27001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27" y="1740777"/>
            <a:ext cx="8919686" cy="300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434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NIST SP 800-53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38" y="1183576"/>
            <a:ext cx="7783562" cy="524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19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83" y="1231483"/>
            <a:ext cx="7978457" cy="53074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NIST SP 800-53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3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5" y="1588708"/>
            <a:ext cx="7150467" cy="44926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CIS Critical Security Controls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831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94676"/>
            <a:ext cx="6652895" cy="49232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CIS Critical Security Controls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12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952" y="750778"/>
            <a:ext cx="7545248" cy="57881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SOC 2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8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27368"/>
            <a:ext cx="6698297" cy="51289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84368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SOC </a:t>
            </a:r>
            <a:r>
              <a:rPr lang="en-US" sz="4200" b="1" dirty="0" smtClean="0"/>
              <a:t>2-</a:t>
            </a:r>
            <a:r>
              <a:rPr lang="en-US" sz="4200" b="1" dirty="0"/>
              <a:t>System and Organization Controls 2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131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544" y="1195008"/>
            <a:ext cx="6886575" cy="51613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84368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SOC </a:t>
            </a:r>
            <a:r>
              <a:rPr lang="en-US" sz="4200" b="1" dirty="0" smtClean="0"/>
              <a:t>2-</a:t>
            </a:r>
            <a:r>
              <a:rPr lang="en-US" sz="4200" b="1" dirty="0"/>
              <a:t>System and Organization Controls 2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64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293" y="1506746"/>
            <a:ext cx="6940907" cy="4685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PCI </a:t>
            </a:r>
            <a:r>
              <a:rPr lang="en-US" sz="4200" b="1" dirty="0" smtClean="0"/>
              <a:t>DSS</a:t>
            </a:r>
            <a:r>
              <a:rPr lang="en-US" sz="4200" b="1" dirty="0" smtClean="0"/>
              <a:t>(Payment </a:t>
            </a:r>
            <a:r>
              <a:rPr lang="en-US" sz="4200" b="1" dirty="0"/>
              <a:t>Card Industry Data Security Standard)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78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PCI DSS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240" y="1673176"/>
            <a:ext cx="5882640" cy="45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76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/>
              <a:t>PCI DSS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441" y="1170207"/>
            <a:ext cx="5765900" cy="506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05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184" y="363746"/>
            <a:ext cx="8229600" cy="1143000"/>
          </a:xfrm>
        </p:spPr>
        <p:txBody>
          <a:bodyPr>
            <a:normAutofit/>
          </a:bodyPr>
          <a:lstStyle/>
          <a:p>
            <a:pPr>
              <a:defRPr sz="4200" b="1">
                <a:solidFill>
                  <a:srgbClr val="460078"/>
                </a:solidFill>
              </a:defRPr>
            </a:pPr>
            <a:r>
              <a:rPr lang="en-US" sz="4200" b="1" dirty="0" smtClean="0"/>
              <a:t>Comparisons</a:t>
            </a:r>
            <a:endParaRPr lang="en-US" b="1" dirty="0">
              <a:solidFill>
                <a:srgbClr val="460078"/>
              </a:solidFill>
            </a:endParaRPr>
          </a:p>
        </p:txBody>
      </p:sp>
      <p:pic>
        <p:nvPicPr>
          <p:cNvPr id="4" name="Picture 3" descr="A_digital_vector_graphic_displays_the_Present_Ac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5669280"/>
            <a:ext cx="1005840" cy="150876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4A6A-9D30-4A2E-BF5A-34B0342BF62C}" type="datetime1">
              <a:rPr lang="en-US" smtClean="0"/>
              <a:t>2/17/2026</a:t>
            </a:fld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1063" y="2817582"/>
            <a:ext cx="309562" cy="135399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407513"/>
              </p:ext>
            </p:extLst>
          </p:nvPr>
        </p:nvGraphicFramePr>
        <p:xfrm>
          <a:off x="264160" y="1066798"/>
          <a:ext cx="8961120" cy="479520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38680252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87117049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14566209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19170408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7670233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1943671968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384061978"/>
                    </a:ext>
                  </a:extLst>
                </a:gridCol>
              </a:tblGrid>
              <a:tr h="568923">
                <a:tc>
                  <a:txBody>
                    <a:bodyPr/>
                    <a:lstStyle/>
                    <a:p>
                      <a:r>
                        <a:rPr lang="en-US" sz="1500" b="1" dirty="0"/>
                        <a:t>Feature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ISO 27001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NIST CSF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NIST 800-53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CIS Controls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SOC 2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/>
                        <a:t>PCI DSS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165852"/>
                  </a:ext>
                </a:extLst>
              </a:tr>
              <a:tr h="568923">
                <a:tc>
                  <a:txBody>
                    <a:bodyPr/>
                    <a:lstStyle/>
                    <a:p>
                      <a:r>
                        <a:rPr lang="en-US" sz="1500"/>
                        <a:t>Type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Standard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Framework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Control catalog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Control set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Audit standard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Compliance standard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304893"/>
                  </a:ext>
                </a:extLst>
              </a:tr>
              <a:tr h="568923">
                <a:tc>
                  <a:txBody>
                    <a:bodyPr/>
                    <a:lstStyle/>
                    <a:p>
                      <a:r>
                        <a:rPr lang="en-US" sz="1500"/>
                        <a:t>Certification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Yes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No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Audit report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Yes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0142"/>
                  </a:ext>
                </a:extLst>
              </a:tr>
              <a:tr h="568923">
                <a:tc>
                  <a:txBody>
                    <a:bodyPr/>
                    <a:lstStyle/>
                    <a:p>
                      <a:r>
                        <a:rPr lang="en-US" sz="1500"/>
                        <a:t>Origin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International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USA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USA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USA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USA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Global payments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3489141"/>
                  </a:ext>
                </a:extLst>
              </a:tr>
              <a:tr h="812746">
                <a:tc>
                  <a:txBody>
                    <a:bodyPr/>
                    <a:lstStyle/>
                    <a:p>
                      <a:r>
                        <a:rPr lang="en-US" sz="1500"/>
                        <a:t>Focus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Management system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Risk management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Technical controls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Practical security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Service providers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Payment security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536584"/>
                  </a:ext>
                </a:extLst>
              </a:tr>
              <a:tr h="325099">
                <a:tc>
                  <a:txBody>
                    <a:bodyPr/>
                    <a:lstStyle/>
                    <a:p>
                      <a:r>
                        <a:rPr lang="en-US" sz="1500"/>
                        <a:t>Flexibility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Medium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Very high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Low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High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Medium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Low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6578958"/>
                  </a:ext>
                </a:extLst>
              </a:tr>
              <a:tr h="568923">
                <a:tc>
                  <a:txBody>
                    <a:bodyPr/>
                    <a:lstStyle/>
                    <a:p>
                      <a:r>
                        <a:rPr lang="en-US" sz="1500"/>
                        <a:t>Technical depth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Medium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Medium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Very high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High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Medium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High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9329096"/>
                  </a:ext>
                </a:extLst>
              </a:tr>
              <a:tr h="812746">
                <a:tc>
                  <a:txBody>
                    <a:bodyPr/>
                    <a:lstStyle/>
                    <a:p>
                      <a:r>
                        <a:rPr lang="en-US" sz="1500"/>
                        <a:t>Best for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Enterprises, global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All organizations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Government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Beginners, SMB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SaaS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Payment systems</a:t>
                      </a:r>
                    </a:p>
                  </a:txBody>
                  <a:tcPr marL="76711" marR="76711" marT="38356" marB="383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864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15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954</TotalTime>
  <Words>168</Words>
  <Application>Microsoft Office PowerPoint</Application>
  <PresentationFormat>On-screen Show (4:3)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CYBER SECURITY &amp; APPLIED CRYPTOGRAPHY </vt:lpstr>
      <vt:lpstr>Overview</vt:lpstr>
      <vt:lpstr>ISO/IEC 27001-</vt:lpstr>
      <vt:lpstr>ISO/IEC 27001-</vt:lpstr>
      <vt:lpstr>ISO/IEC 27001</vt:lpstr>
      <vt:lpstr>ISO/IEC 27001</vt:lpstr>
      <vt:lpstr>ISO/IEC 27001</vt:lpstr>
      <vt:lpstr>NIST SP 800-53</vt:lpstr>
      <vt:lpstr>NIST SP 800-53</vt:lpstr>
      <vt:lpstr>CIS Critical Security Controls</vt:lpstr>
      <vt:lpstr>CIS Critical Security Controls</vt:lpstr>
      <vt:lpstr>SOC 2</vt:lpstr>
      <vt:lpstr>SOC 2-System and Organization Controls 2</vt:lpstr>
      <vt:lpstr>SOC 2-System and Organization Controls 2</vt:lpstr>
      <vt:lpstr>PCI DSS(Payment Card Industry Data Security Standard)</vt:lpstr>
      <vt:lpstr>PCI DSS</vt:lpstr>
      <vt:lpstr>PCI DSS</vt:lpstr>
      <vt:lpstr>Comparisons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PCA</dc:creator>
  <cp:keywords/>
  <dc:description>generated using python-pptx</dc:description>
  <cp:lastModifiedBy>universe</cp:lastModifiedBy>
  <cp:revision>72</cp:revision>
  <dcterms:created xsi:type="dcterms:W3CDTF">2013-01-27T09:14:16Z</dcterms:created>
  <dcterms:modified xsi:type="dcterms:W3CDTF">2026-02-17T02:54:53Z</dcterms:modified>
  <cp:category/>
</cp:coreProperties>
</file>