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1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416" y="9242755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5"/>
                </a:lnTo>
                <a:lnTo>
                  <a:pt x="5981065" y="6095"/>
                </a:lnTo>
                <a:lnTo>
                  <a:pt x="59810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35246"/>
            <a:ext cx="5743575" cy="119443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600" spc="-10" dirty="0">
                <a:solidFill>
                  <a:srgbClr val="2D74B5"/>
                </a:solidFill>
                <a:latin typeface="Calibri Light"/>
                <a:cs typeface="Calibri Light"/>
              </a:rPr>
              <a:t>Site-to-</a:t>
            </a:r>
            <a:r>
              <a:rPr sz="1600" dirty="0">
                <a:solidFill>
                  <a:srgbClr val="2D74B5"/>
                </a:solidFill>
                <a:latin typeface="Calibri Light"/>
                <a:cs typeface="Calibri Light"/>
              </a:rPr>
              <a:t>Site</a:t>
            </a:r>
            <a:r>
              <a:rPr sz="1600" spc="-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D74B5"/>
                </a:solidFill>
                <a:latin typeface="Calibri Light"/>
                <a:cs typeface="Calibri Light"/>
              </a:rPr>
              <a:t>IPSec VPN</a:t>
            </a:r>
            <a:r>
              <a:rPr sz="1600" spc="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D74B5"/>
                </a:solidFill>
                <a:latin typeface="Calibri Light"/>
                <a:cs typeface="Calibri Light"/>
              </a:rPr>
              <a:t>Troubleshoot: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17100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Troubleshooting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debug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commands.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debug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crypto</a:t>
            </a:r>
            <a:r>
              <a:rPr sz="1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isakmp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command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walk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through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ISAKMP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creation.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After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issue,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clear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crypto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session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host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10" dirty="0">
                <a:latin typeface="Calibri"/>
                <a:cs typeface="Calibri"/>
              </a:rPr>
              <a:t> side.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R3#</a:t>
            </a:r>
            <a:r>
              <a:rPr sz="12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Debug</a:t>
            </a:r>
            <a:r>
              <a:rPr sz="12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crypto</a:t>
            </a:r>
            <a:r>
              <a:rPr sz="12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C00000"/>
                </a:solidFill>
                <a:latin typeface="Calibri"/>
                <a:cs typeface="Calibri"/>
              </a:rPr>
              <a:t>isakmp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C:\Users\Ahmad\Desktop\ipsec\d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81248"/>
            <a:ext cx="5852837" cy="2775766"/>
          </a:xfrm>
          <a:prstGeom prst="rect">
            <a:avLst/>
          </a:prstGeom>
        </p:spPr>
      </p:pic>
      <p:pic>
        <p:nvPicPr>
          <p:cNvPr id="4" name="object 4" descr="C:\Users\Ahmad\Desktop\ipsec\d2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899" y="4914298"/>
            <a:ext cx="5624737" cy="3440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Ahmad\Desktop\ipsec\d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90" y="914400"/>
            <a:ext cx="5674815" cy="2688828"/>
          </a:xfrm>
          <a:prstGeom prst="rect">
            <a:avLst/>
          </a:prstGeom>
        </p:spPr>
      </p:pic>
      <p:pic>
        <p:nvPicPr>
          <p:cNvPr id="3" name="object 3" descr="C:\Users\Ahmad\Desktop\ipsec\d4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671315"/>
            <a:ext cx="5943473" cy="2523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Ahmad\Desktop\ipsec\d6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231" y="948820"/>
            <a:ext cx="5903892" cy="2837244"/>
          </a:xfrm>
          <a:prstGeom prst="rect">
            <a:avLst/>
          </a:prstGeom>
        </p:spPr>
      </p:pic>
      <p:pic>
        <p:nvPicPr>
          <p:cNvPr id="3" name="object 3" descr="C:\Users\Ahmad\Desktop\ipsec\d7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894562"/>
            <a:ext cx="5850638" cy="3189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7317460"/>
            <a:ext cx="5943600" cy="1725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35246"/>
            <a:ext cx="5701665" cy="14236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600" spc="-10" dirty="0">
                <a:solidFill>
                  <a:srgbClr val="2D74B5"/>
                </a:solidFill>
                <a:latin typeface="Calibri Light"/>
                <a:cs typeface="Calibri Light"/>
              </a:rPr>
              <a:t>Troubleshooting </a:t>
            </a:r>
            <a:r>
              <a:rPr sz="1600" dirty="0">
                <a:solidFill>
                  <a:srgbClr val="2D74B5"/>
                </a:solidFill>
                <a:latin typeface="Calibri Light"/>
                <a:cs typeface="Calibri Light"/>
              </a:rPr>
              <a:t>Phase</a:t>
            </a:r>
            <a:r>
              <a:rPr sz="1600" spc="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2D74B5"/>
                </a:solidFill>
                <a:latin typeface="Calibri Light"/>
                <a:cs typeface="Calibri Light"/>
              </a:rPr>
              <a:t>1: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17100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Let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some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changes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ISAKMP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policy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crypto session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issuing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clear</a:t>
            </a:r>
            <a:r>
              <a:rPr sz="1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crypto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session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debug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after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clear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session,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changes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made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0" dirty="0">
                <a:latin typeface="Calibri"/>
                <a:cs typeface="Calibri"/>
              </a:rPr>
              <a:t> reflected.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Mismatch</a:t>
            </a:r>
            <a:r>
              <a:rPr sz="1300" spc="-3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Encryption</a:t>
            </a:r>
            <a:r>
              <a:rPr sz="1300" spc="-4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in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the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ISAKMP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Policy: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2287777"/>
          <a:ext cx="5938520" cy="1728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isakmp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R3(config-isakmp)#authentication</a:t>
                      </a:r>
                      <a:r>
                        <a:rPr sz="1200" spc="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encryption</a:t>
                      </a:r>
                      <a:r>
                        <a:rPr sz="1200" spc="15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isakmp)#group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R3(config-isakmp)#hash</a:t>
                      </a:r>
                      <a:r>
                        <a:rPr sz="12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sha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R3(config-isakmp)#lifetime</a:t>
                      </a:r>
                      <a:r>
                        <a:rPr sz="12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86400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R3(config-isakmp)#exit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 key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R3#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debug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514213"/>
            <a:ext cx="31832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Mismatch</a:t>
            </a:r>
            <a:r>
              <a:rPr sz="13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Hash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Algorithm</a:t>
            </a:r>
            <a:r>
              <a:rPr sz="13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in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the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ISAKMP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Policy: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5766181"/>
          <a:ext cx="5938520" cy="173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isakmp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R3(config-isakmp)#authentication</a:t>
                      </a:r>
                      <a:r>
                        <a:rPr sz="1200" spc="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R3(config-isakmp)#encryption</a:t>
                      </a:r>
                      <a:r>
                        <a:rPr sz="12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isakmp)#group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hash</a:t>
                      </a:r>
                      <a:r>
                        <a:rPr sz="1200" spc="9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md5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R3(config-isakmp)#lifetime</a:t>
                      </a:r>
                      <a:r>
                        <a:rPr sz="12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86400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R3(config-isakmp)#exit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 key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R3#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debug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object 6" descr="C:\Users\Ahmad\Desktop\ipsec\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073" y="4235496"/>
            <a:ext cx="5840258" cy="1074627"/>
          </a:xfrm>
          <a:prstGeom prst="rect">
            <a:avLst/>
          </a:prstGeom>
        </p:spPr>
      </p:pic>
      <p:pic>
        <p:nvPicPr>
          <p:cNvPr id="7" name="object 7" descr="C:\Users\Ahmad\Desktop\ipsec\2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7704851"/>
            <a:ext cx="5884484" cy="7602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4"/>
            <a:ext cx="33121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Mismatch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Diffie-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Hellman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Group</a:t>
            </a:r>
            <a:r>
              <a:rPr sz="13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in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ISAKMP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Policy: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46302"/>
          <a:ext cx="5938520" cy="153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isakmp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R3(config-isakmp)#authentication</a:t>
                      </a:r>
                      <a:r>
                        <a:rPr sz="1200" spc="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share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R3(config-isakmp)#encryption</a:t>
                      </a:r>
                      <a:r>
                        <a:rPr sz="12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group</a:t>
                      </a:r>
                      <a:r>
                        <a:rPr sz="1200" spc="1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R3(config-isakmp)#hash</a:t>
                      </a:r>
                      <a:r>
                        <a:rPr sz="12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sha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R3(config-isakmp)#lifetime</a:t>
                      </a:r>
                      <a:r>
                        <a:rPr sz="12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86400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 key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R3#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debug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3883279"/>
            <a:ext cx="32461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Mismatch</a:t>
            </a:r>
            <a:r>
              <a:rPr sz="1300" spc="-3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Authentication</a:t>
            </a:r>
            <a:r>
              <a:rPr sz="1300" spc="-3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Type</a:t>
            </a:r>
            <a:r>
              <a:rPr sz="1300" spc="-4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in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ISAKMP</a:t>
            </a:r>
            <a:r>
              <a:rPr sz="1300" spc="-3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Policy: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4135246"/>
          <a:ext cx="5938520" cy="1537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isakmp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isakmp)#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authentication</a:t>
                      </a:r>
                      <a:r>
                        <a:rPr sz="1200" spc="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rsa-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R3(config-isakmp)#encryption</a:t>
                      </a:r>
                      <a:r>
                        <a:rPr sz="12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R3(config-isakmp)#group</a:t>
                      </a:r>
                      <a:r>
                        <a:rPr sz="12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R3(config-isakmp)#hash</a:t>
                      </a:r>
                      <a:r>
                        <a:rPr sz="12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sha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7945">
                        <a:lnSpc>
                          <a:spcPts val="142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R3(config-isakmp)#lifetime</a:t>
                      </a:r>
                      <a:r>
                        <a:rPr sz="12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86400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R3(config)#crypto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isakmp key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cisco123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R3#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debug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6878193"/>
            <a:ext cx="18586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Pre-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Shared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Keys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are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wrong: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704" y="7130160"/>
          <a:ext cx="593852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R3(config)#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cisco12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R3#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debug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object 8" descr="C:\Users\Ahmad\Desktop\ipsec\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295" y="2902846"/>
            <a:ext cx="5863164" cy="753229"/>
          </a:xfrm>
          <a:prstGeom prst="rect">
            <a:avLst/>
          </a:prstGeom>
        </p:spPr>
      </p:pic>
      <p:pic>
        <p:nvPicPr>
          <p:cNvPr id="9" name="object 9" descr="C:\Users\Ahmad\Desktop\ipsec\auth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280" y="5901384"/>
            <a:ext cx="5889706" cy="760116"/>
          </a:xfrm>
          <a:prstGeom prst="rect">
            <a:avLst/>
          </a:prstGeom>
        </p:spPr>
      </p:pic>
      <p:pic>
        <p:nvPicPr>
          <p:cNvPr id="10" name="object 10" descr="C:\Users\Ahmad\Desktop\ipsec\preshar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8916" y="7735823"/>
            <a:ext cx="5921017" cy="816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35246"/>
            <a:ext cx="5786755" cy="1663064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600" spc="-10" dirty="0">
                <a:solidFill>
                  <a:srgbClr val="2D74B5"/>
                </a:solidFill>
                <a:latin typeface="Calibri Light"/>
                <a:cs typeface="Calibri Light"/>
              </a:rPr>
              <a:t>Troubleshooting </a:t>
            </a:r>
            <a:r>
              <a:rPr sz="1600" dirty="0">
                <a:solidFill>
                  <a:srgbClr val="2D74B5"/>
                </a:solidFill>
                <a:latin typeface="Calibri Light"/>
                <a:cs typeface="Calibri Light"/>
              </a:rPr>
              <a:t>Phase</a:t>
            </a:r>
            <a:r>
              <a:rPr sz="1600" spc="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spc="-25" dirty="0">
                <a:solidFill>
                  <a:srgbClr val="2D74B5"/>
                </a:solidFill>
                <a:latin typeface="Calibri Light"/>
                <a:cs typeface="Calibri Light"/>
              </a:rPr>
              <a:t>2:</a:t>
            </a:r>
            <a:endParaRPr sz="1600">
              <a:latin typeface="Calibri Light"/>
              <a:cs typeface="Calibri Light"/>
            </a:endParaRPr>
          </a:p>
          <a:p>
            <a:pPr marL="12700" marR="127000">
              <a:lnSpc>
                <a:spcPct val="117500"/>
              </a:lnSpc>
              <a:spcBef>
                <a:spcPts val="85"/>
              </a:spcBef>
            </a:pPr>
            <a:r>
              <a:rPr sz="1200" dirty="0">
                <a:latin typeface="Calibri"/>
                <a:cs typeface="Calibri"/>
              </a:rPr>
              <a:t>Let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jump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troubleshooting.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alter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transform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fail</a:t>
            </a:r>
            <a:r>
              <a:rPr sz="1200" spc="-25" dirty="0">
                <a:latin typeface="Calibri"/>
                <a:cs typeface="Calibri"/>
              </a:rPr>
              <a:t> on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changing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transform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exchange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complete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start.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</a:pPr>
            <a:r>
              <a:rPr sz="1200" dirty="0">
                <a:latin typeface="Calibri"/>
                <a:cs typeface="Calibri"/>
              </a:rPr>
              <a:t>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changed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responder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transform-</a:t>
            </a:r>
            <a:r>
              <a:rPr sz="1200" dirty="0">
                <a:latin typeface="Calibri"/>
                <a:cs typeface="Calibri"/>
              </a:rPr>
              <a:t>set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esp-</a:t>
            </a:r>
            <a:r>
              <a:rPr sz="1200" dirty="0">
                <a:latin typeface="Calibri"/>
                <a:cs typeface="Calibri"/>
              </a:rPr>
              <a:t>3des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instead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esp-</a:t>
            </a:r>
            <a:r>
              <a:rPr sz="1200" dirty="0">
                <a:latin typeface="Calibri"/>
                <a:cs typeface="Calibri"/>
              </a:rPr>
              <a:t>aes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</a:t>
            </a:r>
            <a:r>
              <a:rPr sz="1200" spc="-25" dirty="0">
                <a:latin typeface="Calibri"/>
                <a:cs typeface="Calibri"/>
              </a:rPr>
              <a:t> is </a:t>
            </a:r>
            <a:r>
              <a:rPr sz="1200" dirty="0">
                <a:latin typeface="Calibri"/>
                <a:cs typeface="Calibri"/>
              </a:rPr>
              <a:t>configured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debug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crypto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ipsec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generate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following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output.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Mismatch</a:t>
            </a:r>
            <a:r>
              <a:rPr sz="1300" spc="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Transform-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Set</a:t>
            </a:r>
            <a:r>
              <a:rPr sz="1300" spc="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Attribute:</a:t>
            </a:r>
            <a:endParaRPr sz="13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2527045"/>
          <a:ext cx="593852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R1(config)#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crypto ipsec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 TSET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esp-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3des</a:t>
                      </a:r>
                      <a:r>
                        <a:rPr sz="12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esp-md5-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hmac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R1(cfg-crypto-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trans)#crypto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ipsec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security-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association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lifetime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seconds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3600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R3#debug</a:t>
                      </a:r>
                      <a:r>
                        <a:rPr sz="12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ipsec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340184"/>
            <a:ext cx="5955030" cy="9055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Wrong</a:t>
            </a:r>
            <a:r>
              <a:rPr sz="13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ACL</a:t>
            </a:r>
            <a:r>
              <a:rPr sz="13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in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the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D74B5"/>
                </a:solidFill>
                <a:latin typeface="Calibri Light"/>
                <a:cs typeface="Calibri Light"/>
              </a:rPr>
              <a:t>Crypto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Map:</a:t>
            </a:r>
            <a:endParaRPr sz="1300">
              <a:latin typeface="Calibri Light"/>
              <a:cs typeface="Calibri Light"/>
            </a:endParaRPr>
          </a:p>
          <a:p>
            <a:pPr marL="12700" marR="5080">
              <a:lnSpc>
                <a:spcPct val="117100"/>
              </a:lnSpc>
              <a:spcBef>
                <a:spcPts val="20"/>
              </a:spcBef>
            </a:pPr>
            <a:r>
              <a:rPr sz="1200" dirty="0">
                <a:latin typeface="Calibri"/>
                <a:cs typeface="Calibri"/>
              </a:rPr>
              <a:t>Now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wrong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matches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responder,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clearly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state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proxy </a:t>
            </a:r>
            <a:r>
              <a:rPr sz="1200" dirty="0">
                <a:latin typeface="Calibri"/>
                <a:cs typeface="Calibri"/>
              </a:rPr>
              <a:t>IDs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supported: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6270625"/>
          <a:ext cx="5938520" cy="961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R1(config)#crypto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CMAP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ipsec-isakmp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R1(config-crypto-map)#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match</a:t>
                      </a:r>
                      <a:r>
                        <a:rPr sz="1200" spc="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VPN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R1(config-crypto-map)#set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peer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192.168.23.3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R1(config-crypto-map)#set</a:t>
                      </a:r>
                      <a:r>
                        <a:rPr sz="12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transform-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2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R3#debug</a:t>
                      </a:r>
                      <a:r>
                        <a:rPr sz="12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crypto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ipsec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object 6" descr="C:\Users\Ahmad\Desktop\ipsec\phase2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773" y="3311564"/>
            <a:ext cx="5878609" cy="1837737"/>
          </a:xfrm>
          <a:prstGeom prst="rect">
            <a:avLst/>
          </a:prstGeom>
        </p:spPr>
      </p:pic>
      <p:pic>
        <p:nvPicPr>
          <p:cNvPr id="7" name="object 7" descr="C:\Users\Ahmad\Desktop\ipsec\ACL-wrong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204" y="7465163"/>
            <a:ext cx="5864612" cy="12291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35246"/>
            <a:ext cx="5966460" cy="9810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600" dirty="0">
                <a:solidFill>
                  <a:srgbClr val="2D74B5"/>
                </a:solidFill>
                <a:latin typeface="Calibri Light"/>
                <a:cs typeface="Calibri Light"/>
              </a:rPr>
              <a:t>Show</a:t>
            </a:r>
            <a:r>
              <a:rPr sz="16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D74B5"/>
                </a:solidFill>
                <a:latin typeface="Calibri Light"/>
                <a:cs typeface="Calibri Light"/>
              </a:rPr>
              <a:t>Commands</a:t>
            </a:r>
            <a:r>
              <a:rPr sz="1600" spc="-2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D74B5"/>
                </a:solidFill>
                <a:latin typeface="Calibri Light"/>
                <a:cs typeface="Calibri Light"/>
              </a:rPr>
              <a:t>to</a:t>
            </a:r>
            <a:r>
              <a:rPr sz="1600" spc="-10" dirty="0">
                <a:solidFill>
                  <a:srgbClr val="2D74B5"/>
                </a:solidFill>
                <a:latin typeface="Calibri Light"/>
                <a:cs typeface="Calibri Light"/>
              </a:rPr>
              <a:t> Troubleshooting</a:t>
            </a:r>
            <a:r>
              <a:rPr sz="16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2D74B5"/>
                </a:solidFill>
                <a:latin typeface="Calibri Light"/>
                <a:cs typeface="Calibri Light"/>
              </a:rPr>
              <a:t>VPN:</a:t>
            </a:r>
            <a:endParaRPr sz="1600">
              <a:latin typeface="Calibri Light"/>
              <a:cs typeface="Calibri Light"/>
            </a:endParaRPr>
          </a:p>
          <a:p>
            <a:pPr marL="12700" marR="5080">
              <a:lnSpc>
                <a:spcPct val="117100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shows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Internet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Association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Management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Protocol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(ISAKMP)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security </a:t>
            </a:r>
            <a:r>
              <a:rPr sz="1200" dirty="0">
                <a:latin typeface="Calibri"/>
                <a:cs typeface="Calibri"/>
              </a:rPr>
              <a:t>associations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(SAs)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peers.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IKE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1 </a:t>
            </a:r>
            <a:r>
              <a:rPr sz="1200" dirty="0">
                <a:latin typeface="Calibri"/>
                <a:cs typeface="Calibri"/>
              </a:rPr>
              <a:t>tunnel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including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current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status.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290442"/>
            <a:ext cx="5886450" cy="45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encryption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algorithm,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hash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algorithm,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authentication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method,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Diffie-</a:t>
            </a:r>
            <a:r>
              <a:rPr sz="1200" dirty="0">
                <a:latin typeface="Calibri"/>
                <a:cs typeface="Calibri"/>
              </a:rPr>
              <a:t>Hellman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group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configured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device.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326504"/>
            <a:ext cx="57042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quick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IKE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sessions.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commands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can </a:t>
            </a:r>
            <a:r>
              <a:rPr sz="1200" dirty="0">
                <a:latin typeface="Calibri"/>
                <a:cs typeface="Calibri"/>
              </a:rPr>
              <a:t>easily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verify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whether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active,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down,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negotiating.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41500"/>
            <a:ext cx="5631942" cy="11828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770376"/>
            <a:ext cx="5702300" cy="23806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6803517"/>
            <a:ext cx="5943600" cy="14490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3853"/>
            <a:ext cx="5787390" cy="667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peers.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encrypted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between </a:t>
            </a:r>
            <a:r>
              <a:rPr sz="1200" dirty="0">
                <a:latin typeface="Calibri"/>
                <a:cs typeface="Calibri"/>
              </a:rPr>
              <a:t>peers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traffic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between.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built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inbound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outbound.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command </a:t>
            </a:r>
            <a:r>
              <a:rPr sz="1200" dirty="0">
                <a:latin typeface="Calibri"/>
                <a:cs typeface="Calibri"/>
              </a:rPr>
              <a:t>displays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IKE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tunnel.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585709"/>
            <a:ext cx="3519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verify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Phase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Preshared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Key.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4400" y="1556258"/>
            <a:ext cx="5943600" cy="5824855"/>
            <a:chOff x="914400" y="1556258"/>
            <a:chExt cx="5943600" cy="5824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556258"/>
              <a:ext cx="5943600" cy="41922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5776341"/>
              <a:ext cx="5934709" cy="1604644"/>
            </a:xfrm>
            <a:prstGeom prst="rect">
              <a:avLst/>
            </a:prstGeom>
          </p:spPr>
        </p:pic>
      </p:grpSp>
      <p:pic>
        <p:nvPicPr>
          <p:cNvPr id="7" name="object 7" descr="C:\Users\Ahmad\Desktop\ipsec\key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261" y="7819643"/>
            <a:ext cx="5714446" cy="55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3853"/>
            <a:ext cx="5635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displays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map,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applied,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transform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ACLs </a:t>
            </a:r>
            <a:r>
              <a:rPr sz="1200" dirty="0">
                <a:latin typeface="Calibri"/>
                <a:cs typeface="Calibri"/>
              </a:rPr>
              <a:t>involved,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peer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association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lifetime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details.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529710"/>
            <a:ext cx="36341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verify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check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ACLs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counts.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555363"/>
            <a:ext cx="2801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Verify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mirrored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crypto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ACLs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side.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 descr="C:\Users\Ahmad\Desktop\ipsec\map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782" y="1342644"/>
            <a:ext cx="5737030" cy="1952801"/>
          </a:xfrm>
          <a:prstGeom prst="rect">
            <a:avLst/>
          </a:prstGeom>
        </p:spPr>
      </p:pic>
      <p:pic>
        <p:nvPicPr>
          <p:cNvPr id="6" name="object 6" descr="C:\Users\Ahmad\Desktop\ipsec\Ac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975" y="3782802"/>
            <a:ext cx="5781675" cy="545992"/>
          </a:xfrm>
          <a:prstGeom prst="rect">
            <a:avLst/>
          </a:prstGeom>
        </p:spPr>
      </p:pic>
      <p:pic>
        <p:nvPicPr>
          <p:cNvPr id="7" name="object 7" descr="C:\Users\Ahmad\Desktop\ipsec\aclmer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450" y="4798108"/>
            <a:ext cx="5629275" cy="5840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691</Words>
  <Application>Microsoft Office PowerPoint</Application>
  <PresentationFormat>Custom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Ali</dc:creator>
  <cp:lastModifiedBy>universe</cp:lastModifiedBy>
  <cp:revision>2</cp:revision>
  <dcterms:created xsi:type="dcterms:W3CDTF">2026-04-11T13:45:44Z</dcterms:created>
  <dcterms:modified xsi:type="dcterms:W3CDTF">2026-04-12T01:02:51Z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2020-09-16T00:00:00Z</vt:filetime>
  </property>
  <property fmtid="{D5CDD505-2E9C-101B-9397-08002B2CF9AE}" pid="4" name="Creator">
    <vt:lpwstr>Microsoft® Word for Office 365</vt:lpwstr>
  </property>
  <property fmtid="{D5CDD505-2E9C-101B-9397-08002B2CF9AE}" pid="5" name="LastSaved">
    <vt:filetime>2026-04-11T00:00:00Z</vt:filetime>
  </property>
  <property fmtid="{D5CDD505-2E9C-101B-9397-08002B2CF9AE}" pid="6" name="Producer">
    <vt:lpwstr>Microsoft® Word for Office 365</vt:lpwstr>
  </property>
</Properties>
</file>