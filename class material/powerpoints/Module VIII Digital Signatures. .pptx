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6" r:id="rId2"/>
    <p:sldId id="346" r:id="rId3"/>
    <p:sldId id="347" r:id="rId4"/>
    <p:sldId id="348" r:id="rId5"/>
    <p:sldId id="349" r:id="rId6"/>
    <p:sldId id="354" r:id="rId7"/>
    <p:sldId id="353" r:id="rId8"/>
    <p:sldId id="352" r:id="rId9"/>
    <p:sldId id="358" r:id="rId10"/>
    <p:sldId id="359" r:id="rId11"/>
    <p:sldId id="360" r:id="rId12"/>
    <p:sldId id="357" r:id="rId13"/>
    <p:sldId id="361" r:id="rId14"/>
    <p:sldId id="362" r:id="rId15"/>
    <p:sldId id="363" r:id="rId16"/>
    <p:sldId id="367" r:id="rId17"/>
    <p:sldId id="368" r:id="rId18"/>
    <p:sldId id="369" r:id="rId19"/>
    <p:sldId id="364" r:id="rId20"/>
    <p:sldId id="373" r:id="rId21"/>
    <p:sldId id="372" r:id="rId22"/>
    <p:sldId id="370" r:id="rId23"/>
    <p:sldId id="374" r:id="rId24"/>
    <p:sldId id="371" r:id="rId25"/>
    <p:sldId id="375" r:id="rId26"/>
    <p:sldId id="376" r:id="rId27"/>
    <p:sldId id="377" r:id="rId28"/>
    <p:sldId id="378" r:id="rId29"/>
    <p:sldId id="383" r:id="rId30"/>
    <p:sldId id="380" r:id="rId31"/>
    <p:sldId id="381" r:id="rId32"/>
    <p:sldId id="382" r:id="rId33"/>
    <p:sldId id="386" r:id="rId34"/>
    <p:sldId id="401" r:id="rId35"/>
    <p:sldId id="394" r:id="rId36"/>
    <p:sldId id="395" r:id="rId37"/>
    <p:sldId id="402" r:id="rId38"/>
    <p:sldId id="403" r:id="rId39"/>
    <p:sldId id="404" r:id="rId40"/>
    <p:sldId id="405" r:id="rId41"/>
    <p:sldId id="406" r:id="rId42"/>
    <p:sldId id="407" r:id="rId43"/>
    <p:sldId id="418" r:id="rId44"/>
    <p:sldId id="419" r:id="rId45"/>
    <p:sldId id="420" r:id="rId46"/>
    <p:sldId id="421" r:id="rId47"/>
    <p:sldId id="422" r:id="rId48"/>
    <p:sldId id="423" r:id="rId49"/>
    <p:sldId id="424" r:id="rId50"/>
    <p:sldId id="425" r:id="rId51"/>
    <p:sldId id="426" r:id="rId52"/>
    <p:sldId id="427" r:id="rId53"/>
    <p:sldId id="428" r:id="rId54"/>
    <p:sldId id="429" r:id="rId55"/>
    <p:sldId id="430" r:id="rId56"/>
    <p:sldId id="431" r:id="rId57"/>
    <p:sldId id="432" r:id="rId58"/>
    <p:sldId id="433" r:id="rId59"/>
    <p:sldId id="434" r:id="rId60"/>
    <p:sldId id="435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41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1431D-19B0-4115-96BC-42F1841FB80B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659A9-B627-4A93-AB03-D8D3E2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730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75ECD-153B-4DF6-886B-7086D1541E62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2D632-18E0-4EC7-ACCF-D86DBE41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513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EB13-87B1-4357-9064-128A011212B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63E0-1639-4315-B594-904872C16F49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C66B-BC68-4A44-83A0-331AAC0745D1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2B98-824D-40F2-96EB-05445F2F59A7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81EC-1622-41C9-8CA1-1EDD4B074BDF}" type="datetime1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9A63-B66C-437F-A3BC-ACFBC0CC1A05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E66D1-DC48-491F-A5EF-CA4E99944BDF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3071-1DF5-43E6-A132-9844F9E2A529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4C08-1871-4978-8161-6E55E3933DDF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84AD7-2CD7-4BF1-9889-4FB1D421133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EC04-86A5-4D64-9758-2CFEAC225331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4C3B-1C83-48BC-AAF6-51A17E28F410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7117" y="157482"/>
            <a:ext cx="1099312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CYBER SECURITY</a:t>
            </a:r>
            <a:endParaRPr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45440" y="5029201"/>
            <a:ext cx="8323527" cy="153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 smtClean="0"/>
              <a:t>Digital Signatures</a:t>
            </a:r>
          </a:p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000" b="1" dirty="0" err="1" smtClean="0">
                <a:solidFill>
                  <a:srgbClr val="460078"/>
                </a:solidFill>
              </a:rPr>
              <a:t>Er</a:t>
            </a:r>
            <a:r>
              <a:rPr lang="en-US" sz="3000" b="1" dirty="0" smtClean="0">
                <a:solidFill>
                  <a:srgbClr val="460078"/>
                </a:solidFill>
              </a:rPr>
              <a:t>. Prakash Chandra Adhikari</a:t>
            </a:r>
            <a:endParaRPr lang="en-US" sz="3000" b="1" dirty="0">
              <a:solidFill>
                <a:srgbClr val="460078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D382-49DB-4807-A586-175A2D7637E3}" type="datetime1">
              <a:rPr lang="en-US" smtClean="0"/>
              <a:t>5/1/2026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34538" y="1200943"/>
            <a:ext cx="5505214" cy="367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245" y="1150913"/>
            <a:ext cx="8249478" cy="55705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Lecture Agenda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Digital Signatures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36104" y="1736035"/>
            <a:ext cx="821634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Definition of Digital Signature</a:t>
            </a:r>
          </a:p>
          <a:p>
            <a:r>
              <a:rPr lang="en-GB" sz="2400" dirty="0"/>
              <a:t>A </a:t>
            </a:r>
            <a:r>
              <a:rPr lang="en-GB" sz="2400" b="1" dirty="0"/>
              <a:t>digital signature</a:t>
            </a:r>
            <a:r>
              <a:rPr lang="en-GB" sz="2400" dirty="0"/>
              <a:t> is a cryptographic technique used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Verify the </a:t>
            </a:r>
            <a:r>
              <a:rPr lang="en-GB" sz="2400" b="1" dirty="0"/>
              <a:t>authenticity</a:t>
            </a:r>
            <a:r>
              <a:rPr lang="en-GB" sz="2400" dirty="0"/>
              <a:t> of a message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Ensure the </a:t>
            </a:r>
            <a:r>
              <a:rPr lang="en-GB" sz="2400" b="1" dirty="0"/>
              <a:t>integrity</a:t>
            </a:r>
            <a:r>
              <a:rPr lang="en-GB" sz="2400" dirty="0"/>
              <a:t> of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Provide </a:t>
            </a:r>
            <a:r>
              <a:rPr lang="en-GB" sz="2400" b="1" dirty="0"/>
              <a:t>non-repudiation</a:t>
            </a:r>
            <a:r>
              <a:rPr lang="en-GB" sz="2400" dirty="0"/>
              <a:t> (sender cannot deny sending it) </a:t>
            </a:r>
          </a:p>
          <a:p>
            <a:r>
              <a:rPr lang="en-GB" sz="2400" dirty="0"/>
              <a:t>👉 It is the </a:t>
            </a:r>
            <a:r>
              <a:rPr lang="en-GB" sz="2400" b="1" dirty="0"/>
              <a:t>electronic equivalent of a handwritten signature</a:t>
            </a:r>
            <a:r>
              <a:rPr lang="en-GB" sz="2400" dirty="0"/>
              <a:t>, but more secure.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104" y="4372735"/>
            <a:ext cx="839525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Purpose of Digital Signatures</a:t>
            </a:r>
          </a:p>
          <a:p>
            <a:r>
              <a:rPr lang="en-GB" sz="2400" dirty="0"/>
              <a:t>Digital signatures are used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Confirm the </a:t>
            </a:r>
            <a:r>
              <a:rPr lang="en-GB" sz="2400" b="1" dirty="0"/>
              <a:t>identity of the sender</a:t>
            </a:r>
            <a:r>
              <a:rPr lang="en-GB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Ensure the message has </a:t>
            </a:r>
            <a:r>
              <a:rPr lang="en-GB" sz="2400" b="1" dirty="0"/>
              <a:t>not been altered</a:t>
            </a:r>
            <a:r>
              <a:rPr lang="en-GB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Provide </a:t>
            </a:r>
            <a:r>
              <a:rPr lang="en-GB" sz="2400" b="1" dirty="0"/>
              <a:t>proof of origin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7147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Digital Signatures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033669" y="1506747"/>
            <a:ext cx="727544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Real-Life Analogy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Signing a </a:t>
            </a:r>
            <a:r>
              <a:rPr lang="en-GB" sz="2400" b="1" dirty="0"/>
              <a:t>document or cheque</a:t>
            </a:r>
            <a:r>
              <a:rPr lang="en-GB" sz="2400" dirty="0"/>
              <a:t> proves: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It belongs to the signer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It is approved by them </a:t>
            </a:r>
          </a:p>
          <a:p>
            <a:r>
              <a:rPr lang="en-GB" sz="2400" dirty="0"/>
              <a:t>Similarly: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A </a:t>
            </a:r>
            <a:r>
              <a:rPr lang="en-GB" sz="2400" b="1" dirty="0"/>
              <a:t>digital signature proves</a:t>
            </a:r>
            <a:r>
              <a:rPr lang="en-GB" sz="2400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The message comes from the claimed sender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The message is authentic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178" y="4406011"/>
            <a:ext cx="780751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Key Concept (Alice &amp; Bob Example)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Alice (sender)</a:t>
            </a:r>
            <a:r>
              <a:rPr lang="en-GB" sz="2400" dirty="0"/>
              <a:t> sends a message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Bob (receiver)</a:t>
            </a:r>
            <a:r>
              <a:rPr lang="en-GB" sz="2400" dirty="0"/>
              <a:t> must verify: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Message is from Alice (not Eve)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Alice signs the message electronically </a:t>
            </a:r>
          </a:p>
          <a:p>
            <a:r>
              <a:rPr lang="en-GB" sz="2400" dirty="0"/>
              <a:t>👉 This process is called a </a:t>
            </a:r>
            <a:r>
              <a:rPr lang="en-GB" sz="2400" b="1" dirty="0"/>
              <a:t>digital signature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716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Digital Signatures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1506746"/>
            <a:ext cx="822297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Objectives of Digital Signatures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Define what a digital signature 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Identify </a:t>
            </a:r>
            <a:r>
              <a:rPr lang="en-GB" sz="2400" b="1" dirty="0"/>
              <a:t>security services provided</a:t>
            </a:r>
            <a:r>
              <a:rPr lang="en-GB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Understand </a:t>
            </a:r>
            <a:r>
              <a:rPr lang="en-GB" sz="2400" b="1" dirty="0"/>
              <a:t>possible attacks</a:t>
            </a:r>
            <a:r>
              <a:rPr lang="en-GB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Study different </a:t>
            </a:r>
            <a:r>
              <a:rPr lang="en-GB" sz="2400" b="1" dirty="0"/>
              <a:t>signature schemes</a:t>
            </a:r>
            <a:r>
              <a:rPr lang="en-GB" sz="2400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RSA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ElGamal</a:t>
            </a:r>
            <a:r>
              <a:rPr lang="en-GB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Schnorr</a:t>
            </a:r>
            <a:r>
              <a:rPr lang="en-GB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DSS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Elliptic Curve</a:t>
            </a:r>
          </a:p>
        </p:txBody>
      </p:sp>
    </p:spTree>
    <p:extLst>
      <p:ext uri="{BB962C8B-B14F-4D97-AF65-F5344CB8AC3E}">
        <p14:creationId xmlns:p14="http://schemas.microsoft.com/office/powerpoint/2010/main" val="3820434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Digital Signatures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137037" y="1789044"/>
            <a:ext cx="800696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Security Services Provided</a:t>
            </a:r>
          </a:p>
          <a:p>
            <a:r>
              <a:rPr lang="en-GB" sz="2400" b="1" dirty="0"/>
              <a:t>✅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Confirms the identity of the sender </a:t>
            </a:r>
          </a:p>
          <a:p>
            <a:r>
              <a:rPr lang="en-GB" sz="2400" b="1" dirty="0"/>
              <a:t>✅ Integrity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Ensures the message is not modified </a:t>
            </a:r>
          </a:p>
          <a:p>
            <a:r>
              <a:rPr lang="en-GB" sz="2400" b="1" dirty="0"/>
              <a:t>✅ Non-repudiation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Sender cannot deny sending the message</a:t>
            </a:r>
          </a:p>
        </p:txBody>
      </p:sp>
    </p:spTree>
    <p:extLst>
      <p:ext uri="{BB962C8B-B14F-4D97-AF65-F5344CB8AC3E}">
        <p14:creationId xmlns:p14="http://schemas.microsoft.com/office/powerpoint/2010/main" val="65105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Digital Signatures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524000" y="1506746"/>
            <a:ext cx="70567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Applications of Digital Signatures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Secure email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Online banking 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E-commerce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Legal digital documents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Software distribution (code signing)</a:t>
            </a:r>
          </a:p>
        </p:txBody>
      </p:sp>
    </p:spTree>
    <p:extLst>
      <p:ext uri="{BB962C8B-B14F-4D97-AF65-F5344CB8AC3E}">
        <p14:creationId xmlns:p14="http://schemas.microsoft.com/office/powerpoint/2010/main" val="401070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b="1" dirty="0" err="1">
                <a:solidFill>
                  <a:srgbClr val="7030A0"/>
                </a:solidFill>
              </a:rPr>
              <a:t>Comparison</a:t>
            </a:r>
            <a:r>
              <a:rPr lang="fr-FR" b="1" dirty="0">
                <a:solidFill>
                  <a:srgbClr val="7030A0"/>
                </a:solidFill>
              </a:rPr>
              <a:t>: </a:t>
            </a:r>
            <a:r>
              <a:rPr lang="fr-FR" b="1" dirty="0" err="1">
                <a:solidFill>
                  <a:srgbClr val="7030A0"/>
                </a:solidFill>
              </a:rPr>
              <a:t>Conventional</a:t>
            </a:r>
            <a:r>
              <a:rPr lang="fr-FR" b="1" dirty="0">
                <a:solidFill>
                  <a:srgbClr val="7030A0"/>
                </a:solidFill>
              </a:rPr>
              <a:t> vs Digital Signatures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21028" y="1361192"/>
            <a:ext cx="650681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1. Inclusion</a:t>
            </a:r>
          </a:p>
          <a:p>
            <a:r>
              <a:rPr lang="en-GB" sz="2400" b="1" dirty="0" smtClean="0"/>
              <a:t>Conventional </a:t>
            </a:r>
            <a:r>
              <a:rPr lang="en-GB" sz="2400" b="1" dirty="0"/>
              <a:t>Signature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Signature is </a:t>
            </a:r>
            <a:r>
              <a:rPr lang="en-GB" sz="2400" b="1" dirty="0"/>
              <a:t>part of the document</a:t>
            </a:r>
            <a:r>
              <a:rPr lang="en-GB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Example: signature on a cheque </a:t>
            </a:r>
          </a:p>
          <a:p>
            <a:r>
              <a:rPr lang="en-GB" sz="2400" b="1" dirty="0"/>
              <a:t>🔐 Digital Signature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Signature is </a:t>
            </a:r>
            <a:r>
              <a:rPr lang="en-GB" sz="2400" b="1" dirty="0"/>
              <a:t>separate from the document</a:t>
            </a:r>
            <a:r>
              <a:rPr lang="en-GB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Two items are sent: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Message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Digital signature </a:t>
            </a:r>
          </a:p>
          <a:p>
            <a:r>
              <a:rPr lang="en-GB" sz="2400" dirty="0"/>
              <a:t>👉 Receiver verifies that the signature belongs to the sender</a:t>
            </a:r>
            <a:br>
              <a:rPr lang="en-GB" sz="2400" dirty="0"/>
            </a:br>
            <a:r>
              <a:rPr lang="en-GB" sz="2400" dirty="0"/>
              <a:t>✔ If valid → message accepted</a:t>
            </a:r>
            <a:br>
              <a:rPr lang="en-GB" sz="2400" dirty="0"/>
            </a:br>
            <a:r>
              <a:rPr lang="en-GB" sz="2400" dirty="0"/>
              <a:t>❌ If not → message rejected</a:t>
            </a:r>
          </a:p>
        </p:txBody>
      </p:sp>
    </p:spTree>
    <p:extLst>
      <p:ext uri="{BB962C8B-B14F-4D97-AF65-F5344CB8AC3E}">
        <p14:creationId xmlns:p14="http://schemas.microsoft.com/office/powerpoint/2010/main" val="425829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b="1" dirty="0" err="1">
                <a:solidFill>
                  <a:srgbClr val="7030A0"/>
                </a:solidFill>
              </a:rPr>
              <a:t>Comparison</a:t>
            </a:r>
            <a:r>
              <a:rPr lang="fr-FR" b="1" dirty="0">
                <a:solidFill>
                  <a:srgbClr val="7030A0"/>
                </a:solidFill>
              </a:rPr>
              <a:t>: </a:t>
            </a:r>
            <a:r>
              <a:rPr lang="fr-FR" b="1" dirty="0" err="1">
                <a:solidFill>
                  <a:srgbClr val="7030A0"/>
                </a:solidFill>
              </a:rPr>
              <a:t>Conventional</a:t>
            </a:r>
            <a:r>
              <a:rPr lang="fr-FR" b="1" dirty="0">
                <a:solidFill>
                  <a:srgbClr val="7030A0"/>
                </a:solidFill>
              </a:rPr>
              <a:t> vs Digital Signatures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38539" y="1859340"/>
            <a:ext cx="862716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Verification Method</a:t>
            </a:r>
          </a:p>
          <a:p>
            <a:r>
              <a:rPr lang="en-GB" sz="2400" b="1" dirty="0" smtClean="0"/>
              <a:t> Conventional </a:t>
            </a:r>
            <a:r>
              <a:rPr lang="en-GB" sz="2400" b="1" dirty="0"/>
              <a:t>Signature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Compared with a </a:t>
            </a:r>
            <a:r>
              <a:rPr lang="en-GB" sz="2400" b="1" dirty="0"/>
              <a:t>stored sample signature</a:t>
            </a:r>
            <a:r>
              <a:rPr lang="en-GB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Requires prior record for comparison </a:t>
            </a:r>
          </a:p>
          <a:p>
            <a:r>
              <a:rPr lang="en-GB" sz="2400" b="1" dirty="0"/>
              <a:t>🔐 Digital Signature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No stored copy needed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Uses </a:t>
            </a:r>
            <a:r>
              <a:rPr lang="en-GB" sz="2400" b="1" dirty="0"/>
              <a:t>mathematical verification</a:t>
            </a:r>
            <a:r>
              <a:rPr lang="en-GB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Verification is done using: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Message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Signature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Public key</a:t>
            </a:r>
          </a:p>
        </p:txBody>
      </p:sp>
    </p:spTree>
    <p:extLst>
      <p:ext uri="{BB962C8B-B14F-4D97-AF65-F5344CB8AC3E}">
        <p14:creationId xmlns:p14="http://schemas.microsoft.com/office/powerpoint/2010/main" val="471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b="1" dirty="0" err="1">
                <a:solidFill>
                  <a:srgbClr val="7030A0"/>
                </a:solidFill>
              </a:rPr>
              <a:t>Comparison</a:t>
            </a:r>
            <a:r>
              <a:rPr lang="fr-FR" b="1" dirty="0">
                <a:solidFill>
                  <a:srgbClr val="7030A0"/>
                </a:solidFill>
              </a:rPr>
              <a:t>: </a:t>
            </a:r>
            <a:r>
              <a:rPr lang="fr-FR" b="1" dirty="0" err="1">
                <a:solidFill>
                  <a:srgbClr val="7030A0"/>
                </a:solidFill>
              </a:rPr>
              <a:t>Conventional</a:t>
            </a:r>
            <a:r>
              <a:rPr lang="fr-FR" b="1" dirty="0">
                <a:solidFill>
                  <a:srgbClr val="7030A0"/>
                </a:solidFill>
              </a:rPr>
              <a:t> vs Digital Signatures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7200" y="2136339"/>
            <a:ext cx="85039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Relationship</a:t>
            </a:r>
          </a:p>
          <a:p>
            <a:r>
              <a:rPr lang="en-GB" sz="2400" b="1" dirty="0" smtClean="0"/>
              <a:t> </a:t>
            </a:r>
            <a:r>
              <a:rPr lang="en-GB" sz="2400" b="1" dirty="0"/>
              <a:t>Conventional Signature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One-to-many relationship</a:t>
            </a:r>
            <a:r>
              <a:rPr lang="en-GB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Same signature can be used on many documents </a:t>
            </a:r>
          </a:p>
          <a:p>
            <a:r>
              <a:rPr lang="en-GB" sz="2400" b="1" dirty="0"/>
              <a:t>🔐 Digital Signature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One-to-one relationship</a:t>
            </a:r>
            <a:r>
              <a:rPr lang="en-GB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Each message has a </a:t>
            </a:r>
            <a:r>
              <a:rPr lang="en-GB" sz="2400" b="1" dirty="0"/>
              <a:t>unique signature</a:t>
            </a:r>
            <a:r>
              <a:rPr lang="en-GB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Signature of one message </a:t>
            </a:r>
            <a:r>
              <a:rPr lang="en-GB" sz="2400" b="1" dirty="0"/>
              <a:t>cannot be reused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9364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b="1" dirty="0" err="1">
                <a:solidFill>
                  <a:srgbClr val="7030A0"/>
                </a:solidFill>
              </a:rPr>
              <a:t>Comparison</a:t>
            </a:r>
            <a:r>
              <a:rPr lang="fr-FR" b="1" dirty="0">
                <a:solidFill>
                  <a:srgbClr val="7030A0"/>
                </a:solidFill>
              </a:rPr>
              <a:t>: </a:t>
            </a:r>
            <a:r>
              <a:rPr lang="fr-FR" b="1" dirty="0" err="1">
                <a:solidFill>
                  <a:srgbClr val="7030A0"/>
                </a:solidFill>
              </a:rPr>
              <a:t>Conventional</a:t>
            </a:r>
            <a:r>
              <a:rPr lang="fr-FR" b="1" dirty="0">
                <a:solidFill>
                  <a:srgbClr val="7030A0"/>
                </a:solidFill>
              </a:rPr>
              <a:t> vs Digital Signatures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04515" y="1879853"/>
            <a:ext cx="780818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 </a:t>
            </a:r>
            <a:r>
              <a:rPr lang="en-GB" sz="2400" b="1" dirty="0"/>
              <a:t>Duplicity (Copy Issue)</a:t>
            </a:r>
          </a:p>
          <a:p>
            <a:r>
              <a:rPr lang="en-GB" sz="2400" b="1" dirty="0" smtClean="0"/>
              <a:t>Conventional </a:t>
            </a:r>
            <a:r>
              <a:rPr lang="en-GB" sz="2400" b="1" dirty="0"/>
              <a:t>Signature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Copies can be </a:t>
            </a:r>
            <a:r>
              <a:rPr lang="en-GB" sz="2400" b="1" dirty="0"/>
              <a:t>distinguished from original</a:t>
            </a:r>
            <a:r>
              <a:rPr lang="en-GB" sz="2400" dirty="0"/>
              <a:t> </a:t>
            </a:r>
          </a:p>
          <a:p>
            <a:r>
              <a:rPr lang="en-GB" sz="2400" b="1" dirty="0"/>
              <a:t>🔐 Digital Signature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Copies are </a:t>
            </a:r>
            <a:r>
              <a:rPr lang="en-GB" sz="2400" b="1" dirty="0"/>
              <a:t>identical to original</a:t>
            </a:r>
            <a:r>
              <a:rPr lang="en-GB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Cannot distinguish unless: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Timestamp or additional data is used </a:t>
            </a:r>
          </a:p>
          <a:p>
            <a:r>
              <a:rPr lang="en-GB" sz="2400" dirty="0"/>
              <a:t>👉 Risk: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Attackers can </a:t>
            </a:r>
            <a:r>
              <a:rPr lang="en-GB" sz="2400" b="1" dirty="0"/>
              <a:t>reuse (replay) signed messages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508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PROCESS 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109870" y="1357693"/>
            <a:ext cx="734833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🔹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The digital signature process involves: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/>
              <a:t>Signing algorithm (Sender side)</a:t>
            </a:r>
            <a:r>
              <a:rPr lang="en-GB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/>
              <a:t>Verifying algorithm (Receiver side)</a:t>
            </a:r>
            <a:r>
              <a:rPr lang="en-GB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Steps: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Sender signs the message using a </a:t>
            </a:r>
            <a:r>
              <a:rPr lang="en-GB" sz="2400" b="1" dirty="0"/>
              <a:t>signing algorithm</a:t>
            </a:r>
            <a:r>
              <a:rPr lang="en-GB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Sends: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sz="2400" dirty="0"/>
              <a:t>Message (M)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sz="2400" dirty="0"/>
              <a:t>Signature (S)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Receiver applies </a:t>
            </a:r>
            <a:r>
              <a:rPr lang="en-GB" sz="2400" b="1" dirty="0"/>
              <a:t>verifying algorithm</a:t>
            </a:r>
            <a:r>
              <a:rPr lang="en-GB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If valid → ✅ Accept message</a:t>
            </a:r>
            <a:br>
              <a:rPr lang="en-GB" sz="2400" dirty="0"/>
            </a:br>
            <a:r>
              <a:rPr lang="en-GB" sz="2400" dirty="0"/>
              <a:t>If not → ❌ Reject message</a:t>
            </a:r>
          </a:p>
        </p:txBody>
      </p:sp>
    </p:spTree>
    <p:extLst>
      <p:ext uri="{BB962C8B-B14F-4D97-AF65-F5344CB8AC3E}">
        <p14:creationId xmlns:p14="http://schemas.microsoft.com/office/powerpoint/2010/main" val="329184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PROCESS 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135049" y="3459689"/>
            <a:ext cx="82759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Diagram Explanation </a:t>
            </a:r>
            <a:r>
              <a:rPr lang="en-GB" b="1" dirty="0" smtClean="0"/>
              <a:t>Flow</a:t>
            </a:r>
            <a:r>
              <a:rPr lang="en-GB" b="1" dirty="0"/>
              <a:t>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Alice (Sender):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Message → Signing Algorithm → Signature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Transmission: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(Message + Signature) sent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Bob (Receiver):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Receives both → Verifies using verifying algorithm </a:t>
            </a:r>
          </a:p>
          <a:p>
            <a:r>
              <a:rPr lang="en-GB" dirty="0"/>
              <a:t>👉 This ensures: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Message authenticity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Integrity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344" y="1182896"/>
            <a:ext cx="5973009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1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9683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PROCESS 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14400" y="1762540"/>
            <a:ext cx="766638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🔹 Need for Keys</a:t>
            </a:r>
          </a:p>
          <a:p>
            <a:r>
              <a:rPr lang="en-GB" sz="2400" b="1" dirty="0"/>
              <a:t>🔑 Concept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Digital signatures use </a:t>
            </a:r>
            <a:r>
              <a:rPr lang="en-GB" sz="2400" b="1" dirty="0"/>
              <a:t>public-key cryptography</a:t>
            </a:r>
            <a:r>
              <a:rPr lang="en-GB" sz="2400" dirty="0"/>
              <a:t> </a:t>
            </a:r>
          </a:p>
          <a:p>
            <a:r>
              <a:rPr lang="en-GB" sz="2400" b="1" dirty="0"/>
              <a:t>🔐 At Sender (Alice):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Uses </a:t>
            </a:r>
            <a:r>
              <a:rPr lang="en-GB" sz="2400" b="1" dirty="0"/>
              <a:t>private key</a:t>
            </a:r>
            <a:r>
              <a:rPr lang="en-GB" sz="2400" dirty="0"/>
              <a:t> to sign </a:t>
            </a:r>
          </a:p>
          <a:p>
            <a:r>
              <a:rPr lang="en-GB" sz="2400" b="1" dirty="0"/>
              <a:t>🔓 At Receiver (Bob):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Uses </a:t>
            </a:r>
            <a:r>
              <a:rPr lang="en-GB" sz="2400" b="1" dirty="0"/>
              <a:t>public key of sender</a:t>
            </a:r>
            <a:r>
              <a:rPr lang="en-GB" sz="2400" dirty="0"/>
              <a:t> to verify</a:t>
            </a:r>
          </a:p>
        </p:txBody>
      </p:sp>
    </p:spTree>
    <p:extLst>
      <p:ext uri="{BB962C8B-B14F-4D97-AF65-F5344CB8AC3E}">
        <p14:creationId xmlns:p14="http://schemas.microsoft.com/office/powerpoint/2010/main" val="296005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PROCESS 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34279" y="1649021"/>
            <a:ext cx="8686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Diagram Explanation (Figure 13.2 – With Keys</a:t>
            </a:r>
            <a:r>
              <a:rPr lang="en-GB" sz="2400" dirty="0" smtClean="0"/>
              <a:t>)</a:t>
            </a:r>
          </a:p>
          <a:p>
            <a:r>
              <a:rPr lang="en-GB" sz="2400" dirty="0" err="1" smtClean="0"/>
              <a:t>Process:Alice:Uses</a:t>
            </a:r>
            <a:r>
              <a:rPr lang="en-GB" sz="2400" dirty="0" smtClean="0"/>
              <a:t> </a:t>
            </a:r>
            <a:r>
              <a:rPr lang="en-GB" sz="2400" dirty="0"/>
              <a:t>private key + signing </a:t>
            </a:r>
            <a:r>
              <a:rPr lang="en-GB" sz="2400" dirty="0" smtClean="0"/>
              <a:t>algorithm</a:t>
            </a:r>
          </a:p>
          <a:p>
            <a:r>
              <a:rPr lang="en-GB" sz="2400" dirty="0" err="1" smtClean="0"/>
              <a:t>Bob:Uses</a:t>
            </a:r>
            <a:r>
              <a:rPr lang="en-GB" sz="2400" dirty="0" smtClean="0"/>
              <a:t> </a:t>
            </a:r>
            <a:r>
              <a:rPr lang="en-GB" sz="2400" dirty="0"/>
              <a:t>public key + verifying </a:t>
            </a:r>
            <a:r>
              <a:rPr lang="en-GB" sz="2400" dirty="0" smtClean="0"/>
              <a:t>algorithm</a:t>
            </a:r>
          </a:p>
          <a:p>
            <a:r>
              <a:rPr lang="en-GB" sz="2400" dirty="0" smtClean="0"/>
              <a:t>👉 </a:t>
            </a:r>
            <a:r>
              <a:rPr lang="en-GB" sz="2400" dirty="0"/>
              <a:t>Key </a:t>
            </a:r>
            <a:r>
              <a:rPr lang="en-GB" sz="2400" dirty="0" err="1"/>
              <a:t>idea:Signing</a:t>
            </a:r>
            <a:r>
              <a:rPr lang="en-GB" sz="2400" dirty="0"/>
              <a:t> = Private </a:t>
            </a:r>
            <a:r>
              <a:rPr lang="en-GB" sz="2400" dirty="0" smtClean="0"/>
              <a:t>Key</a:t>
            </a:r>
          </a:p>
          <a:p>
            <a:r>
              <a:rPr lang="en-GB" sz="2400" dirty="0" smtClean="0"/>
              <a:t>Verification </a:t>
            </a:r>
            <a:r>
              <a:rPr lang="en-GB" sz="2400" dirty="0"/>
              <a:t>= Public Key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79" y="3730288"/>
            <a:ext cx="7021001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75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PROCESS 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27652" y="1859340"/>
            <a:ext cx="803346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Why Not Use Secret (Symmetric) Key?</a:t>
            </a:r>
          </a:p>
          <a:p>
            <a:r>
              <a:rPr lang="en-GB" sz="2400" dirty="0"/>
              <a:t>Using one shared key for both signing and verification is </a:t>
            </a:r>
            <a:r>
              <a:rPr lang="en-GB" sz="2400" b="1" dirty="0"/>
              <a:t>not suitable</a:t>
            </a:r>
            <a:r>
              <a:rPr lang="en-GB" sz="2400" dirty="0"/>
              <a:t> because:</a:t>
            </a:r>
          </a:p>
          <a:p>
            <a:pPr>
              <a:buFont typeface="+mj-lt"/>
              <a:buAutoNum type="arabicPeriod"/>
            </a:pPr>
            <a:r>
              <a:rPr lang="en-GB" sz="2400" b="1" dirty="0"/>
              <a:t>Key sharing problem</a:t>
            </a:r>
            <a:r>
              <a:rPr lang="en-GB" sz="24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2400" dirty="0"/>
              <a:t>Only two parties know the key </a:t>
            </a:r>
          </a:p>
          <a:p>
            <a:pPr>
              <a:buFont typeface="+mj-lt"/>
              <a:buAutoNum type="arabicPeriod"/>
            </a:pPr>
            <a:r>
              <a:rPr lang="en-GB" sz="2400" b="1" dirty="0"/>
              <a:t>Authentication issue</a:t>
            </a:r>
            <a:r>
              <a:rPr lang="en-GB" sz="24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2400" dirty="0"/>
              <a:t>Cannot prove who actually signed </a:t>
            </a:r>
          </a:p>
          <a:p>
            <a:pPr>
              <a:buFont typeface="+mj-lt"/>
              <a:buAutoNum type="arabicPeriod"/>
            </a:pPr>
            <a:r>
              <a:rPr lang="en-GB" sz="2400" b="1" dirty="0"/>
              <a:t>Forgery risk</a:t>
            </a:r>
            <a:r>
              <a:rPr lang="en-GB" sz="24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2400" dirty="0"/>
              <a:t>Receiver can fake sender’s signature </a:t>
            </a:r>
          </a:p>
          <a:p>
            <a:r>
              <a:rPr lang="en-GB" sz="2400" dirty="0"/>
              <a:t>👉 Therefore: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Digital signatures require </a:t>
            </a:r>
            <a:r>
              <a:rPr lang="en-GB" sz="2400" b="1" dirty="0"/>
              <a:t>public-key system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72942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895" y="4162501"/>
            <a:ext cx="7364889" cy="22767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PROCESS 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13183" y="1493494"/>
            <a:ext cx="761337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🔹 Signing the Digest</a:t>
            </a:r>
          </a:p>
          <a:p>
            <a:r>
              <a:rPr lang="en-GB" sz="2400" b="1" dirty="0"/>
              <a:t>🔍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Public-key algorithms are </a:t>
            </a:r>
            <a:r>
              <a:rPr lang="en-GB" sz="2400" b="1" dirty="0"/>
              <a:t>slow for long messages</a:t>
            </a:r>
            <a:r>
              <a:rPr lang="en-GB" sz="2400" dirty="0"/>
              <a:t> </a:t>
            </a:r>
          </a:p>
          <a:p>
            <a:r>
              <a:rPr lang="en-GB" sz="2400" b="1" dirty="0"/>
              <a:t>💡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Instead of signing full message: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Create </a:t>
            </a:r>
            <a:r>
              <a:rPr lang="en-GB" sz="2400" b="1" dirty="0"/>
              <a:t>message digest (hash)</a:t>
            </a:r>
            <a:r>
              <a:rPr lang="en-GB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Sign the digest</a:t>
            </a:r>
          </a:p>
        </p:txBody>
      </p:sp>
    </p:spTree>
    <p:extLst>
      <p:ext uri="{BB962C8B-B14F-4D97-AF65-F5344CB8AC3E}">
        <p14:creationId xmlns:p14="http://schemas.microsoft.com/office/powerpoint/2010/main" val="200843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PROCESS 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68072" y="1300059"/>
            <a:ext cx="86099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Diagram Explanation (Figure 13.3 – Signing Digest)</a:t>
            </a:r>
          </a:p>
          <a:p>
            <a:r>
              <a:rPr lang="en-GB" sz="2400" b="1" dirty="0"/>
              <a:t>At Sender (Alice):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Message → Hash function → Digest 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Digest → Sign using private key → Signature </a:t>
            </a:r>
          </a:p>
          <a:p>
            <a:r>
              <a:rPr lang="en-GB" sz="2400" b="1" dirty="0"/>
              <a:t>Transmission: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Send: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Message (M)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Signature (S) </a:t>
            </a:r>
          </a:p>
          <a:p>
            <a:r>
              <a:rPr lang="en-GB" sz="2400" b="1" dirty="0"/>
              <a:t>At Receiver (Bob):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Message → Hash → New Digest 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Signature → Verify using public key → Original Digest 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Compare both digests </a:t>
            </a:r>
          </a:p>
          <a:p>
            <a:r>
              <a:rPr lang="en-GB" sz="2400" dirty="0"/>
              <a:t>👉 If equal → ✅ Valid</a:t>
            </a:r>
            <a:br>
              <a:rPr lang="en-GB" sz="2400" dirty="0"/>
            </a:br>
            <a:r>
              <a:rPr lang="en-GB" sz="2400" dirty="0"/>
              <a:t>👉 If not → ❌ Invalid</a:t>
            </a:r>
          </a:p>
        </p:txBody>
      </p:sp>
    </p:spTree>
    <p:extLst>
      <p:ext uri="{BB962C8B-B14F-4D97-AF65-F5344CB8AC3E}">
        <p14:creationId xmlns:p14="http://schemas.microsoft.com/office/powerpoint/2010/main" val="123120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SERVICES </a:t>
            </a:r>
            <a:r>
              <a:rPr lang="en-GB" b="1" dirty="0">
                <a:solidFill>
                  <a:srgbClr val="7030A0"/>
                </a:solidFill>
              </a:rPr>
              <a:t>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117158" y="1506746"/>
            <a:ext cx="6858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Digital signatures provide key security services: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/>
              <a:t>Message Authentication</a:t>
            </a:r>
            <a:r>
              <a:rPr lang="en-GB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/>
              <a:t>Message Integrity</a:t>
            </a:r>
            <a:r>
              <a:rPr lang="en-GB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/>
              <a:t>Nonrepudiation</a:t>
            </a:r>
            <a:r>
              <a:rPr lang="en-GB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❗ They do </a:t>
            </a:r>
            <a:r>
              <a:rPr lang="en-GB" sz="2400" b="1" dirty="0"/>
              <a:t>NOT provide confidentiality</a:t>
            </a:r>
            <a:r>
              <a:rPr lang="en-GB" sz="2400" dirty="0"/>
              <a:t/>
            </a:r>
            <a:br>
              <a:rPr lang="en-GB" sz="2400" dirty="0"/>
            </a:br>
            <a:r>
              <a:rPr lang="en-GB" sz="2400" dirty="0"/>
              <a:t>→ Encryption is required for privacy</a:t>
            </a:r>
          </a:p>
        </p:txBody>
      </p:sp>
    </p:spTree>
    <p:extLst>
      <p:ext uri="{BB962C8B-B14F-4D97-AF65-F5344CB8AC3E}">
        <p14:creationId xmlns:p14="http://schemas.microsoft.com/office/powerpoint/2010/main" val="81903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SERVICES </a:t>
            </a:r>
            <a:r>
              <a:rPr lang="en-GB" b="1" dirty="0">
                <a:solidFill>
                  <a:srgbClr val="7030A0"/>
                </a:solidFill>
              </a:rPr>
              <a:t>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19810" y="1506746"/>
            <a:ext cx="7745894" cy="3824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Message Authentication</a:t>
            </a:r>
            <a:endParaRPr lang="en-GB" sz="2400" b="1" dirty="0">
              <a:solidFill>
                <a:srgbClr val="4F81BD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Ensures the message is sent by the </a:t>
            </a:r>
            <a:r>
              <a:rPr lang="en-US" b="1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claimed sender</a:t>
            </a:r>
            <a:r>
              <a:rPr lang="en-US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 </a:t>
            </a:r>
            <a:endParaRPr lang="en-GB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Verified using </a:t>
            </a:r>
            <a:r>
              <a:rPr lang="en-US" b="1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sender’s public key</a:t>
            </a:r>
            <a:r>
              <a:rPr lang="en-US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 </a:t>
            </a:r>
            <a:endParaRPr lang="en-GB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b="1" dirty="0">
                <a:solidFill>
                  <a:srgbClr val="4F81BD"/>
                </a:solidFill>
                <a:latin typeface="Segoe UI Symbol" panose="020B0502040204020203" pitchFamily="34" charset="0"/>
                <a:ea typeface="MS Gothic" panose="020B0609070205080204" pitchFamily="49" charset="-128"/>
                <a:cs typeface="Segoe UI Symbol" panose="020B0502040204020203" pitchFamily="34" charset="0"/>
              </a:rPr>
              <a:t>✔</a:t>
            </a:r>
            <a:r>
              <a:rPr lang="en-US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Key Idea:</a:t>
            </a:r>
            <a:endParaRPr lang="en-GB" b="1" dirty="0">
              <a:solidFill>
                <a:srgbClr val="4F81BD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If verification succeeds → message is from the sender </a:t>
            </a:r>
            <a:endParaRPr lang="en-GB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If not → message is invalid </a:t>
            </a:r>
            <a:endParaRPr lang="en-GB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Example: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Bob verifies Alice’s signature using </a:t>
            </a:r>
            <a:r>
              <a:rPr lang="en-US" b="1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Alice’s public key</a:t>
            </a:r>
            <a:r>
              <a:rPr lang="en-US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 </a:t>
            </a:r>
            <a:endParaRPr lang="en-GB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Eve cannot fake signature without Alice’s private key </a:t>
            </a:r>
            <a:endParaRPr lang="en-GB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27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SERVICES </a:t>
            </a:r>
            <a:r>
              <a:rPr lang="en-GB" b="1" dirty="0">
                <a:solidFill>
                  <a:srgbClr val="7030A0"/>
                </a:solidFill>
              </a:rPr>
              <a:t>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18594" y="1306737"/>
            <a:ext cx="6506816" cy="5551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Message Integrity</a:t>
            </a:r>
            <a:endParaRPr lang="en-GB" sz="2400" b="1" dirty="0">
              <a:solidFill>
                <a:srgbClr val="4F81BD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Ensures message is </a:t>
            </a:r>
            <a:r>
              <a:rPr lang="en-US" sz="2400" b="1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not altered during transmission</a:t>
            </a:r>
            <a:r>
              <a:rPr lang="en-US" sz="240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 </a:t>
            </a:r>
            <a:endParaRPr lang="en-GB" sz="2400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4F81BD"/>
                </a:solidFill>
                <a:latin typeface="Segoe UI Symbol" panose="020B0502040204020203" pitchFamily="34" charset="0"/>
                <a:ea typeface="MS Gothic" panose="020B0609070205080204" pitchFamily="49" charset="-128"/>
                <a:cs typeface="Segoe UI Symbol" panose="020B0502040204020203" pitchFamily="34" charset="0"/>
              </a:rPr>
              <a:t>✔</a:t>
            </a: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How it works:</a:t>
            </a:r>
            <a:endParaRPr lang="en-GB" sz="2400" b="1" dirty="0">
              <a:solidFill>
                <a:srgbClr val="4F81BD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Signature depends on message content </a:t>
            </a:r>
            <a:endParaRPr lang="en-GB" sz="2400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Any change → signature becomes invalid </a:t>
            </a:r>
            <a:endParaRPr lang="en-GB" sz="2400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Modern systems use: </a:t>
            </a:r>
            <a:endParaRPr lang="en-GB" sz="2400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Hash functions</a:t>
            </a:r>
            <a:r>
              <a:rPr lang="en-US" sz="240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 </a:t>
            </a:r>
            <a:endParaRPr lang="en-GB" sz="2400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Digest-based signing </a:t>
            </a:r>
            <a:endParaRPr lang="en-GB" sz="2400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📌</a:t>
            </a:r>
            <a:r>
              <a:rPr lang="en-GB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Conclusion: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digital signature provides message integrity.</a:t>
            </a:r>
            <a:endParaRPr lang="en-GB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31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SERVICES </a:t>
            </a:r>
            <a:r>
              <a:rPr lang="en-GB" b="1" dirty="0">
                <a:solidFill>
                  <a:srgbClr val="7030A0"/>
                </a:solidFill>
              </a:rPr>
              <a:t>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285461" y="1734947"/>
            <a:ext cx="6904382" cy="3281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Nonrepudiation</a:t>
            </a:r>
            <a:endParaRPr lang="en-GB" sz="2400" b="1" dirty="0">
              <a:solidFill>
                <a:srgbClr val="4F81BD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4F81BD"/>
                </a:solidFill>
                <a:latin typeface="Segoe UI Symbol" panose="020B0502040204020203" pitchFamily="34" charset="0"/>
                <a:ea typeface="MS Gothic" panose="020B0609070205080204" pitchFamily="49" charset="-128"/>
                <a:cs typeface="Segoe UI Symbol" panose="020B0502040204020203" pitchFamily="34" charset="0"/>
              </a:rPr>
              <a:t>🔍</a:t>
            </a: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Meaning:</a:t>
            </a:r>
            <a:endParaRPr lang="en-GB" sz="2400" b="1" dirty="0">
              <a:solidFill>
                <a:srgbClr val="4F81BD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Sender </a:t>
            </a:r>
            <a:r>
              <a:rPr lang="en-US" sz="2400" b="1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cannot deny</a:t>
            </a:r>
            <a:r>
              <a:rPr lang="en-US" sz="240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 sending the message </a:t>
            </a:r>
            <a:endParaRPr lang="en-GB" sz="2400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Problem:</a:t>
            </a:r>
            <a:endParaRPr lang="en-GB" sz="2400" b="1" dirty="0">
              <a:solidFill>
                <a:srgbClr val="4F81BD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Sender may later deny sending the message </a:t>
            </a:r>
            <a:endParaRPr lang="en-GB" sz="2400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4F81BD"/>
                </a:solidFill>
                <a:latin typeface="Segoe UI Symbol" panose="020B0502040204020203" pitchFamily="34" charset="0"/>
                <a:ea typeface="MS Gothic" panose="020B0609070205080204" pitchFamily="49" charset="-128"/>
                <a:cs typeface="Segoe UI Symbol" panose="020B0502040204020203" pitchFamily="34" charset="0"/>
              </a:rPr>
              <a:t>💡</a:t>
            </a: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Solution: Trusted Third Party</a:t>
            </a:r>
            <a:endParaRPr lang="en-GB" sz="2400" b="1" dirty="0">
              <a:solidFill>
                <a:srgbClr val="4F81BD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82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70" y="1506746"/>
            <a:ext cx="7851914" cy="49603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SERVICES </a:t>
            </a:r>
            <a:r>
              <a:rPr lang="en-GB" b="1" dirty="0">
                <a:solidFill>
                  <a:srgbClr val="7030A0"/>
                </a:solidFill>
              </a:rPr>
              <a:t>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36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SERVICES </a:t>
            </a:r>
            <a:r>
              <a:rPr lang="en-GB" b="1" dirty="0">
                <a:solidFill>
                  <a:srgbClr val="7030A0"/>
                </a:solidFill>
              </a:rPr>
              <a:t>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179442" y="1046922"/>
            <a:ext cx="824285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/>
              <a:t>Diagram Explanation (Figure 13.4 – Trusted </a:t>
            </a:r>
            <a:r>
              <a:rPr lang="en-GB" sz="2000" b="1" dirty="0" err="1"/>
              <a:t>Center</a:t>
            </a:r>
            <a:r>
              <a:rPr lang="en-GB" sz="2000" b="1" dirty="0"/>
              <a:t>)</a:t>
            </a:r>
          </a:p>
          <a:p>
            <a:r>
              <a:rPr lang="en-GB" sz="2000" b="1" dirty="0"/>
              <a:t>Step-by-step:</a:t>
            </a:r>
          </a:p>
          <a:p>
            <a:r>
              <a:rPr lang="en-GB" sz="2000" b="1" dirty="0"/>
              <a:t>1. Alice: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Signs message using </a:t>
            </a:r>
            <a:r>
              <a:rPr lang="en-GB" sz="2000" b="1" dirty="0"/>
              <a:t>private key</a:t>
            </a:r>
            <a:r>
              <a:rPr lang="en-GB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Sends: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Message (M)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Signature (Sₐ)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Identity info</a:t>
            </a:r>
            <a:br>
              <a:rPr lang="en-GB" sz="2000" dirty="0"/>
            </a:br>
            <a:r>
              <a:rPr lang="en-GB" sz="2000" dirty="0"/>
              <a:t>→ to </a:t>
            </a:r>
            <a:r>
              <a:rPr lang="en-GB" sz="2000" b="1" dirty="0"/>
              <a:t>Trusted </a:t>
            </a:r>
            <a:r>
              <a:rPr lang="en-GB" sz="2000" b="1" dirty="0" err="1"/>
              <a:t>Center</a:t>
            </a:r>
            <a:r>
              <a:rPr lang="en-GB" sz="2000" dirty="0"/>
              <a:t> </a:t>
            </a:r>
          </a:p>
          <a:p>
            <a:r>
              <a:rPr lang="en-GB" sz="2000" b="1" dirty="0"/>
              <a:t>2. Trusted </a:t>
            </a:r>
            <a:r>
              <a:rPr lang="en-GB" sz="2000" b="1" dirty="0" err="1"/>
              <a:t>Center</a:t>
            </a:r>
            <a:r>
              <a:rPr lang="en-GB" sz="2000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Verifies Alice’s signature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Stores a copy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Creates new signature (Sₜ) using </a:t>
            </a:r>
            <a:r>
              <a:rPr lang="en-GB" sz="2000" b="1" dirty="0"/>
              <a:t>its private key</a:t>
            </a:r>
            <a:r>
              <a:rPr lang="en-GB" sz="2000" dirty="0"/>
              <a:t> </a:t>
            </a:r>
          </a:p>
          <a:p>
            <a:r>
              <a:rPr lang="en-GB" sz="2000" b="1" dirty="0"/>
              <a:t>3. Bob: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Receives: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Message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Trusted </a:t>
            </a:r>
            <a:r>
              <a:rPr lang="en-GB" sz="2000" dirty="0" err="1"/>
              <a:t>center’s</a:t>
            </a:r>
            <a:r>
              <a:rPr lang="en-GB" sz="2000" dirty="0"/>
              <a:t> signature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Verifies using </a:t>
            </a:r>
            <a:r>
              <a:rPr lang="en-GB" sz="2000" b="1" dirty="0" err="1"/>
              <a:t>center’s</a:t>
            </a:r>
            <a:r>
              <a:rPr lang="en-GB" sz="2000" b="1" dirty="0"/>
              <a:t> public key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4434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SERVICES </a:t>
            </a:r>
            <a:r>
              <a:rPr lang="en-GB" b="1" dirty="0">
                <a:solidFill>
                  <a:srgbClr val="7030A0"/>
                </a:solidFill>
              </a:rPr>
              <a:t>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43054" y="1753516"/>
            <a:ext cx="6712226" cy="2178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4F81BD"/>
                </a:solidFill>
                <a:latin typeface="Segoe UI Symbol" panose="020B0502040204020203" pitchFamily="34" charset="0"/>
                <a:ea typeface="MS Gothic" panose="020B0609070205080204" pitchFamily="49" charset="-128"/>
                <a:cs typeface="Segoe UI Symbol" panose="020B0502040204020203" pitchFamily="34" charset="0"/>
              </a:rPr>
              <a:t>✔</a:t>
            </a: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Result:</a:t>
            </a:r>
            <a:endParaRPr lang="en-GB" sz="2400" b="1" dirty="0">
              <a:solidFill>
                <a:srgbClr val="4F81BD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If Alice denies → center proves authenticity </a:t>
            </a:r>
            <a:endParaRPr lang="en-GB" sz="2400" dirty="0"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📌</a:t>
            </a:r>
            <a:r>
              <a:rPr lang="en-GB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Conclusion: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Nonrepudiation can be achieved using a trusted third party.</a:t>
            </a:r>
          </a:p>
        </p:txBody>
      </p:sp>
    </p:spTree>
    <p:extLst>
      <p:ext uri="{BB962C8B-B14F-4D97-AF65-F5344CB8AC3E}">
        <p14:creationId xmlns:p14="http://schemas.microsoft.com/office/powerpoint/2010/main" val="150258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SERVICES </a:t>
            </a:r>
            <a:r>
              <a:rPr lang="en-GB" b="1" dirty="0">
                <a:solidFill>
                  <a:srgbClr val="7030A0"/>
                </a:solidFill>
              </a:rPr>
              <a:t>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139686" y="1506746"/>
            <a:ext cx="744109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Confidentiality</a:t>
            </a:r>
          </a:p>
          <a:p>
            <a:r>
              <a:rPr lang="en-GB" dirty="0"/>
              <a:t>A digital signature does not provide confidential communication. If confidentiality </a:t>
            </a:r>
            <a:r>
              <a:rPr lang="en-GB" dirty="0" err="1" smtClean="0"/>
              <a:t>isrequired</a:t>
            </a:r>
            <a:r>
              <a:rPr lang="en-GB" dirty="0"/>
              <a:t>, the message and the signature must be encrypted using either a secret-key or</a:t>
            </a:r>
          </a:p>
          <a:p>
            <a:r>
              <a:rPr lang="en-GB" dirty="0"/>
              <a:t>public-key cryptosystem. Figure 13.5 shows how this extra level can be added to a </a:t>
            </a:r>
            <a:r>
              <a:rPr lang="en-GB" dirty="0" smtClean="0"/>
              <a:t>simple </a:t>
            </a:r>
            <a:r>
              <a:rPr lang="en-GB" dirty="0"/>
              <a:t>digital signature scheme.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686" y="3429000"/>
            <a:ext cx="5182323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92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82" y="1214669"/>
            <a:ext cx="7578702" cy="51416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Attacks </a:t>
            </a:r>
            <a:r>
              <a:rPr lang="en-GB" b="1" dirty="0">
                <a:solidFill>
                  <a:srgbClr val="7030A0"/>
                </a:solidFill>
              </a:rPr>
              <a:t>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82" y="1246334"/>
            <a:ext cx="866896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3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SERVICES </a:t>
            </a:r>
            <a:r>
              <a:rPr lang="en-GB" b="1" dirty="0">
                <a:solidFill>
                  <a:srgbClr val="7030A0"/>
                </a:solidFill>
              </a:rPr>
              <a:t>(Digital Signature)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82" y="1246334"/>
            <a:ext cx="866896" cy="2953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82" y="1246334"/>
            <a:ext cx="7164887" cy="32675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082" y="4513865"/>
            <a:ext cx="7164887" cy="151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670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074" y="1386032"/>
            <a:ext cx="6277851" cy="51901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Digital Signature Schemes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5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Digital Signature Schemes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82" y="1246334"/>
            <a:ext cx="866896" cy="2953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82" y="1336221"/>
            <a:ext cx="7083733" cy="20239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082" y="3304820"/>
            <a:ext cx="7083733" cy="236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46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Digital Signature Schemes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82" y="1246334"/>
            <a:ext cx="866896" cy="2953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185" y="1246334"/>
            <a:ext cx="6182588" cy="530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1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Digital Signature Schemes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268" y="1383255"/>
            <a:ext cx="7273515" cy="533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95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14" y="1417868"/>
            <a:ext cx="6699972" cy="4015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RSA Digital Signature Process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999" y="1445005"/>
            <a:ext cx="901873" cy="30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1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7030A0"/>
                </a:solidFill>
              </a:rPr>
              <a:t>RSA Signature on Message Digest</a:t>
            </a:r>
            <a:endParaRPr lang="en-GB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54" y="1474778"/>
            <a:ext cx="7327726" cy="41945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54" y="1679266"/>
            <a:ext cx="1101038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251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7030A0"/>
                </a:solidFill>
              </a:rPr>
              <a:t>RSA Signature on Message Digest</a:t>
            </a:r>
            <a:endParaRPr lang="en-GB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6746"/>
            <a:ext cx="7922712" cy="31130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53903"/>
            <a:ext cx="7922712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9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7030A0"/>
                </a:solidFill>
              </a:rPr>
              <a:t>RSA Signature on Message Digest</a:t>
            </a:r>
            <a:endParaRPr lang="en-GB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979" y="1059711"/>
            <a:ext cx="6154009" cy="52966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021" y="6231576"/>
            <a:ext cx="6207439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0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71" y="1305238"/>
            <a:ext cx="7640877" cy="49076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rgbClr val="7030A0"/>
                </a:solidFill>
              </a:rPr>
              <a:t>ElGamal</a:t>
            </a:r>
            <a:r>
              <a:rPr lang="en-GB" b="1" dirty="0">
                <a:solidFill>
                  <a:srgbClr val="7030A0"/>
                </a:solidFill>
              </a:rPr>
              <a:t> Digital Signature Scheme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1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08" y="1828799"/>
            <a:ext cx="8189859" cy="46212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rgbClr val="7030A0"/>
                </a:solidFill>
              </a:rPr>
              <a:t>ElGamal</a:t>
            </a:r>
            <a:r>
              <a:rPr lang="en-GB" b="1" dirty="0">
                <a:solidFill>
                  <a:srgbClr val="7030A0"/>
                </a:solidFill>
              </a:rPr>
              <a:t> Digital Signature Scheme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308" y="1330508"/>
            <a:ext cx="1724266" cy="4982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308" y="2082928"/>
            <a:ext cx="1247949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862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rgbClr val="7030A0"/>
                </a:solidFill>
              </a:rPr>
              <a:t>ElGamal</a:t>
            </a:r>
            <a:r>
              <a:rPr lang="en-GB" b="1" dirty="0">
                <a:solidFill>
                  <a:srgbClr val="7030A0"/>
                </a:solidFill>
              </a:rPr>
              <a:t> Digital Signature Scheme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08" y="2082928"/>
            <a:ext cx="1247949" cy="3905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308" y="1392194"/>
            <a:ext cx="7401971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6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rgbClr val="7030A0"/>
                </a:solidFill>
              </a:rPr>
              <a:t>ElGamal</a:t>
            </a:r>
            <a:r>
              <a:rPr lang="en-GB" b="1" dirty="0">
                <a:solidFill>
                  <a:srgbClr val="7030A0"/>
                </a:solidFill>
              </a:rPr>
              <a:t> Digital Signature Scheme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162" y="1539738"/>
            <a:ext cx="1247949" cy="3905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53" y="1321370"/>
            <a:ext cx="5734088" cy="54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73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rgbClr val="7030A0"/>
                </a:solidFill>
              </a:rPr>
              <a:t>ElGamal</a:t>
            </a:r>
            <a:r>
              <a:rPr lang="en-GB" b="1" dirty="0">
                <a:solidFill>
                  <a:srgbClr val="7030A0"/>
                </a:solidFill>
              </a:rPr>
              <a:t> Digital Signature Scheme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41951"/>
            <a:ext cx="7798439" cy="213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5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rgbClr val="7030A0"/>
                </a:solidFill>
              </a:rPr>
              <a:t>ElGamal</a:t>
            </a:r>
            <a:r>
              <a:rPr lang="en-GB" b="1" dirty="0">
                <a:solidFill>
                  <a:srgbClr val="7030A0"/>
                </a:solidFill>
              </a:rPr>
              <a:t> Digital Signature Scheme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12" y="1302519"/>
            <a:ext cx="7377568" cy="38126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12" y="5088174"/>
            <a:ext cx="7377568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8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18545"/>
            <a:ext cx="8080838" cy="46378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0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rgbClr val="7030A0"/>
                </a:solidFill>
              </a:rPr>
              <a:t>Schnorr</a:t>
            </a:r>
            <a:r>
              <a:rPr lang="en-GB" b="1" dirty="0">
                <a:solidFill>
                  <a:srgbClr val="7030A0"/>
                </a:solidFill>
              </a:rPr>
              <a:t> Digital Signature Scheme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18" y="909605"/>
            <a:ext cx="2019582" cy="4667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33498"/>
            <a:ext cx="1514891" cy="45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39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0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rgbClr val="7030A0"/>
                </a:solidFill>
              </a:rPr>
              <a:t>Schnorr</a:t>
            </a:r>
            <a:r>
              <a:rPr lang="en-GB" b="1" dirty="0">
                <a:solidFill>
                  <a:srgbClr val="7030A0"/>
                </a:solidFill>
              </a:rPr>
              <a:t> Digital Signature Scheme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001" y="967572"/>
            <a:ext cx="6115904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0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0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rgbClr val="7030A0"/>
                </a:solidFill>
              </a:rPr>
              <a:t>Schnorr</a:t>
            </a:r>
            <a:r>
              <a:rPr lang="en-GB" b="1" dirty="0">
                <a:solidFill>
                  <a:srgbClr val="7030A0"/>
                </a:solidFill>
              </a:rPr>
              <a:t> Digital Signature Scheme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33" y="980732"/>
            <a:ext cx="6392167" cy="24482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33" y="3420482"/>
            <a:ext cx="6392167" cy="7381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32" y="4158641"/>
            <a:ext cx="6392167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32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0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rgbClr val="7030A0"/>
                </a:solidFill>
              </a:rPr>
              <a:t>Schnorr</a:t>
            </a:r>
            <a:r>
              <a:rPr lang="en-GB" b="1" dirty="0">
                <a:solidFill>
                  <a:srgbClr val="7030A0"/>
                </a:solidFill>
              </a:rPr>
              <a:t> Digital Signature Scheme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00" y="1040690"/>
            <a:ext cx="7522326" cy="462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55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0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rgbClr val="7030A0"/>
                </a:solidFill>
              </a:rPr>
              <a:t>Schnorr</a:t>
            </a:r>
            <a:r>
              <a:rPr lang="en-GB" b="1" dirty="0">
                <a:solidFill>
                  <a:srgbClr val="7030A0"/>
                </a:solidFill>
              </a:rPr>
              <a:t> Digital Signature Scheme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14" y="1290181"/>
            <a:ext cx="7678453" cy="37773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13" y="5059595"/>
            <a:ext cx="7678453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0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Digital </a:t>
            </a:r>
            <a:r>
              <a:rPr lang="en-GB" b="1" dirty="0">
                <a:solidFill>
                  <a:srgbClr val="7030A0"/>
                </a:solidFill>
              </a:rPr>
              <a:t>Signature </a:t>
            </a:r>
            <a:r>
              <a:rPr lang="en-GB" b="1" dirty="0" smtClean="0">
                <a:solidFill>
                  <a:srgbClr val="7030A0"/>
                </a:solidFill>
              </a:rPr>
              <a:t>Standard</a:t>
            </a:r>
            <a:endParaRPr lang="en-GB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48" y="995023"/>
            <a:ext cx="6306430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45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0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Digital Signature Standard</a:t>
            </a:r>
            <a:endParaRPr lang="en-GB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84" y="1265129"/>
            <a:ext cx="7332737" cy="22490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84" y="3429000"/>
            <a:ext cx="7332737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5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0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Digital Signature Standard</a:t>
            </a:r>
            <a:endParaRPr lang="en-GB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60" y="1457049"/>
            <a:ext cx="7052154" cy="470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44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0"/>
            <a:ext cx="8229600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Digital Signature Standard</a:t>
            </a:r>
            <a:endParaRPr lang="en-GB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08" y="1143000"/>
            <a:ext cx="6325483" cy="24006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07" y="3543635"/>
            <a:ext cx="6325483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21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Elliptic Curve Digital </a:t>
            </a:r>
            <a:r>
              <a:rPr lang="en-GB" b="1" dirty="0">
                <a:solidFill>
                  <a:srgbClr val="7030A0"/>
                </a:solidFill>
              </a:rPr>
              <a:t>Signature </a:t>
            </a:r>
            <a:r>
              <a:rPr lang="en-GB" b="1" dirty="0" smtClean="0">
                <a:solidFill>
                  <a:srgbClr val="7030A0"/>
                </a:solidFill>
              </a:rPr>
              <a:t>Scheme</a:t>
            </a:r>
            <a:endParaRPr lang="en-GB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74" y="1991639"/>
            <a:ext cx="7143906" cy="24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4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Elliptic Curve Digital </a:t>
            </a:r>
            <a:r>
              <a:rPr lang="en-GB" b="1" dirty="0">
                <a:solidFill>
                  <a:srgbClr val="7030A0"/>
                </a:solidFill>
              </a:rPr>
              <a:t>Signature </a:t>
            </a:r>
            <a:r>
              <a:rPr lang="en-GB" b="1" dirty="0" smtClean="0">
                <a:solidFill>
                  <a:srgbClr val="7030A0"/>
                </a:solidFill>
              </a:rPr>
              <a:t>Scheme</a:t>
            </a:r>
            <a:endParaRPr lang="en-GB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837" y="1680918"/>
            <a:ext cx="6630325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9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Elliptic Curve Digital </a:t>
            </a:r>
            <a:r>
              <a:rPr lang="en-GB" b="1" dirty="0">
                <a:solidFill>
                  <a:srgbClr val="7030A0"/>
                </a:solidFill>
              </a:rPr>
              <a:t>Signature </a:t>
            </a:r>
            <a:r>
              <a:rPr lang="en-GB" b="1" dirty="0" smtClean="0">
                <a:solidFill>
                  <a:srgbClr val="7030A0"/>
                </a:solidFill>
              </a:rPr>
              <a:t>Scheme</a:t>
            </a:r>
            <a:endParaRPr lang="en-GB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502" y="1262888"/>
            <a:ext cx="5953956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0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rgbClr val="7030A0"/>
                </a:solidFill>
              </a:rPr>
              <a:t>Elliptic Curve Digital </a:t>
            </a:r>
            <a:r>
              <a:rPr lang="en-GB" b="1" dirty="0">
                <a:solidFill>
                  <a:srgbClr val="7030A0"/>
                </a:solidFill>
              </a:rPr>
              <a:t>Signature </a:t>
            </a:r>
            <a:r>
              <a:rPr lang="en-GB" b="1" dirty="0" smtClean="0">
                <a:solidFill>
                  <a:srgbClr val="7030A0"/>
                </a:solidFill>
              </a:rPr>
              <a:t>Scheme</a:t>
            </a:r>
            <a:endParaRPr lang="en-GB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269" y="1143000"/>
            <a:ext cx="6125430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4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7030A0"/>
                </a:solidFill>
              </a:rPr>
              <a:t>Variations &amp; Applications</a:t>
            </a:r>
            <a:endParaRPr lang="en-GB" dirty="0">
              <a:solidFill>
                <a:srgbClr val="7030A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61" y="1593463"/>
            <a:ext cx="7640877" cy="347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05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7030A0"/>
                </a:solidFill>
              </a:rPr>
              <a:t>Variations &amp; Applications</a:t>
            </a:r>
            <a:endParaRPr lang="en-GB" dirty="0">
              <a:solidFill>
                <a:srgbClr val="7030A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948" y="1417638"/>
            <a:ext cx="7340252" cy="411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17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7030A0"/>
                </a:solidFill>
              </a:rPr>
              <a:t>Variations &amp; Applications</a:t>
            </a:r>
            <a:endParaRPr lang="en-GB" dirty="0">
              <a:solidFill>
                <a:srgbClr val="7030A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97" y="1719024"/>
            <a:ext cx="7725561" cy="395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73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7030A0"/>
                </a:solidFill>
              </a:rPr>
              <a:t>Variations &amp; Applications</a:t>
            </a:r>
            <a:endParaRPr lang="en-GB" dirty="0">
              <a:solidFill>
                <a:srgbClr val="7030A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88708"/>
            <a:ext cx="8040628" cy="328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5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7030A0"/>
                </a:solidFill>
              </a:rPr>
              <a:t>Variations &amp; Applications</a:t>
            </a:r>
            <a:endParaRPr lang="en-GB" dirty="0">
              <a:solidFill>
                <a:srgbClr val="7030A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34" y="1665963"/>
            <a:ext cx="7377830" cy="358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60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4043</TotalTime>
  <Words>1251</Words>
  <Application>Microsoft Office PowerPoint</Application>
  <PresentationFormat>On-screen Show (4:3)</PresentationFormat>
  <Paragraphs>326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0" baseType="lpstr">
      <vt:lpstr>MS Gothic</vt:lpstr>
      <vt:lpstr>Arial</vt:lpstr>
      <vt:lpstr>Calibri</vt:lpstr>
      <vt:lpstr>Cambria</vt:lpstr>
      <vt:lpstr>Courier New</vt:lpstr>
      <vt:lpstr>MS Mincho</vt:lpstr>
      <vt:lpstr>Segoe UI Symbol</vt:lpstr>
      <vt:lpstr>Symbol</vt:lpstr>
      <vt:lpstr>Times New Roman</vt:lpstr>
      <vt:lpstr>Office Theme</vt:lpstr>
      <vt:lpstr>CYBER SECURITY</vt:lpstr>
      <vt:lpstr>Lecture Agenda</vt:lpstr>
      <vt:lpstr>Digital Signatures</vt:lpstr>
      <vt:lpstr>Digital Signatures</vt:lpstr>
      <vt:lpstr>Digital Signatures</vt:lpstr>
      <vt:lpstr>Digital Signatures</vt:lpstr>
      <vt:lpstr>Digital Signatures</vt:lpstr>
      <vt:lpstr>Comparison: Conventional vs Digital Signatures</vt:lpstr>
      <vt:lpstr>Comparison: Conventional vs Digital Signatures</vt:lpstr>
      <vt:lpstr>Comparison: Conventional vs Digital Signatures</vt:lpstr>
      <vt:lpstr>Comparison: Conventional vs Digital Signatures</vt:lpstr>
      <vt:lpstr>PROCESS (Digital Signature)</vt:lpstr>
      <vt:lpstr>PROCESS (Digital Signature)</vt:lpstr>
      <vt:lpstr>PROCESS (Digital Signature)</vt:lpstr>
      <vt:lpstr>PROCESS (Digital Signature)</vt:lpstr>
      <vt:lpstr>PROCESS (Digital Signature)</vt:lpstr>
      <vt:lpstr>PROCESS (Digital Signature)</vt:lpstr>
      <vt:lpstr>PROCESS (Digital Signature)</vt:lpstr>
      <vt:lpstr>SERVICES (Digital Signature)</vt:lpstr>
      <vt:lpstr>SERVICES (Digital Signature)</vt:lpstr>
      <vt:lpstr>SERVICES (Digital Signature)</vt:lpstr>
      <vt:lpstr>SERVICES (Digital Signature)</vt:lpstr>
      <vt:lpstr>SERVICES (Digital Signature)</vt:lpstr>
      <vt:lpstr>SERVICES (Digital Signature)</vt:lpstr>
      <vt:lpstr>SERVICES (Digital Signature)</vt:lpstr>
      <vt:lpstr>SERVICES (Digital Signature)</vt:lpstr>
      <vt:lpstr>Attacks (Digital Signature)</vt:lpstr>
      <vt:lpstr>SERVICES (Digital Signature)</vt:lpstr>
      <vt:lpstr>Digital Signature Schemes</vt:lpstr>
      <vt:lpstr>Digital Signature Schemes</vt:lpstr>
      <vt:lpstr>Digital Signature Schemes</vt:lpstr>
      <vt:lpstr>Digital Signature Schemes</vt:lpstr>
      <vt:lpstr>RSA Digital Signature Process</vt:lpstr>
      <vt:lpstr>RSA Signature on Message Digest</vt:lpstr>
      <vt:lpstr>RSA Signature on Message Digest</vt:lpstr>
      <vt:lpstr>RSA Signature on Message Digest</vt:lpstr>
      <vt:lpstr>ElGamal Digital Signature Scheme</vt:lpstr>
      <vt:lpstr>ElGamal Digital Signature Scheme</vt:lpstr>
      <vt:lpstr>ElGamal Digital Signature Scheme</vt:lpstr>
      <vt:lpstr>ElGamal Digital Signature Scheme</vt:lpstr>
      <vt:lpstr>ElGamal Digital Signature Scheme</vt:lpstr>
      <vt:lpstr>ElGamal Digital Signature Scheme</vt:lpstr>
      <vt:lpstr>Schnorr Digital Signature Scheme</vt:lpstr>
      <vt:lpstr>Schnorr Digital Signature Scheme</vt:lpstr>
      <vt:lpstr>Schnorr Digital Signature Scheme</vt:lpstr>
      <vt:lpstr>Schnorr Digital Signature Scheme</vt:lpstr>
      <vt:lpstr>Schnorr Digital Signature Scheme</vt:lpstr>
      <vt:lpstr>Digital Signature Standard</vt:lpstr>
      <vt:lpstr>Digital Signature Standard</vt:lpstr>
      <vt:lpstr>Digital Signature Standard</vt:lpstr>
      <vt:lpstr>Digital Signature Standard</vt:lpstr>
      <vt:lpstr>Elliptic Curve Digital Signature Scheme</vt:lpstr>
      <vt:lpstr>Elliptic Curve Digital Signature Scheme</vt:lpstr>
      <vt:lpstr>Elliptic Curve Digital Signature Scheme</vt:lpstr>
      <vt:lpstr>Elliptic Curve Digital Signature Scheme</vt:lpstr>
      <vt:lpstr>Variations &amp; Applications</vt:lpstr>
      <vt:lpstr>Variations &amp; Applications</vt:lpstr>
      <vt:lpstr>Variations &amp; Applications</vt:lpstr>
      <vt:lpstr>Variations &amp; Applications</vt:lpstr>
      <vt:lpstr>Variations &amp; Applications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PCA</dc:creator>
  <cp:keywords/>
  <dc:description>generated using python-pptx</dc:description>
  <cp:lastModifiedBy>Administrator</cp:lastModifiedBy>
  <cp:revision>138</cp:revision>
  <dcterms:created xsi:type="dcterms:W3CDTF">2013-01-27T09:14:16Z</dcterms:created>
  <dcterms:modified xsi:type="dcterms:W3CDTF">2026-05-01T06:02:11Z</dcterms:modified>
  <cp:category/>
</cp:coreProperties>
</file>