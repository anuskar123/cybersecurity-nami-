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5"/>
  </p:notesMasterIdLst>
  <p:handoutMasterIdLst>
    <p:handoutMasterId r:id="rId36"/>
  </p:handoutMasterIdLst>
  <p:sldIdLst>
    <p:sldId id="256" r:id="rId2"/>
    <p:sldId id="326" r:id="rId3"/>
    <p:sldId id="327" r:id="rId4"/>
    <p:sldId id="328" r:id="rId5"/>
    <p:sldId id="329" r:id="rId6"/>
    <p:sldId id="330" r:id="rId7"/>
    <p:sldId id="331" r:id="rId8"/>
    <p:sldId id="333" r:id="rId9"/>
    <p:sldId id="257" r:id="rId10"/>
    <p:sldId id="332" r:id="rId11"/>
    <p:sldId id="334" r:id="rId12"/>
    <p:sldId id="335" r:id="rId13"/>
    <p:sldId id="336" r:id="rId14"/>
    <p:sldId id="337" r:id="rId15"/>
    <p:sldId id="338" r:id="rId16"/>
    <p:sldId id="325" r:id="rId17"/>
    <p:sldId id="340" r:id="rId18"/>
    <p:sldId id="339" r:id="rId19"/>
    <p:sldId id="341" r:id="rId20"/>
    <p:sldId id="342" r:id="rId21"/>
    <p:sldId id="343" r:id="rId22"/>
    <p:sldId id="302" r:id="rId23"/>
    <p:sldId id="314" r:id="rId24"/>
    <p:sldId id="315" r:id="rId25"/>
    <p:sldId id="316" r:id="rId26"/>
    <p:sldId id="317" r:id="rId27"/>
    <p:sldId id="318" r:id="rId28"/>
    <p:sldId id="319" r:id="rId29"/>
    <p:sldId id="320" r:id="rId30"/>
    <p:sldId id="321" r:id="rId31"/>
    <p:sldId id="322" r:id="rId32"/>
    <p:sldId id="323" r:id="rId33"/>
    <p:sldId id="324" r:id="rId3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8" d="100"/>
          <a:sy n="108" d="100"/>
        </p:scale>
        <p:origin x="1704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01431D-19B0-4115-96BC-42F1841FB80B}" type="datetime1">
              <a:rPr lang="en-US" smtClean="0"/>
              <a:t>2/1/2026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7C659A9-B627-4A93-AB03-D8D3E231F8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4357300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375ECD-153B-4DF6-886B-7086D1541E62}" type="datetime1">
              <a:rPr lang="en-US" smtClean="0"/>
              <a:t>2/1/2026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32D632-18E0-4EC7-ACCF-D86DBE415F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165137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24375ECD-153B-4DF6-886B-7086D1541E62}" type="datetime1">
              <a:rPr lang="en-US" smtClean="0"/>
              <a:t>2/1/2026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C32D632-18E0-4EC7-ACCF-D86DBE415FAF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70809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0EB13-87B1-4357-9064-128A011212B3}" type="datetime1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B063E0-1639-4315-B594-904872C16F49}" type="datetime1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EC66B-BC68-4A44-83A0-331AAC0745D1}" type="datetime1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3A2B98-824D-40F2-96EB-05445F2F59A7}" type="datetime1">
              <a:rPr lang="en-US" smtClean="0"/>
              <a:t>2/1/2026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D081EC-1622-41C9-8CA1-1EDD4B074BDF}" type="datetime1">
              <a:rPr lang="en-US" smtClean="0"/>
              <a:t>2/1/2026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E9A63-B66C-437F-A3BC-ACFBC0CC1A05}" type="datetime1">
              <a:rPr lang="en-US" smtClean="0"/>
              <a:t>2/1/2026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7E66D1-DC48-491F-A5EF-CA4E99944BDF}" type="datetime1">
              <a:rPr lang="en-US" smtClean="0"/>
              <a:t>2/1/2026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D3071-1DF5-43E6-A132-9844F9E2A529}" type="datetime1">
              <a:rPr lang="en-US" smtClean="0"/>
              <a:t>2/1/2026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CD4C08-1871-4978-8161-6E55E3933DDF}" type="datetime1">
              <a:rPr lang="en-US" smtClean="0"/>
              <a:t>2/1/2026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B84AD7-2CD7-4BF1-9889-4FB1D4211333}" type="datetime1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DCEC04-86A5-4D64-9758-2CFEAC225331}" type="datetime1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424C3B-1C83-48BC-AAF6-51A17E28F410}" type="datetime1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847117" y="157482"/>
            <a:ext cx="10993120" cy="1143000"/>
          </a:xfrm>
        </p:spPr>
        <p:txBody>
          <a:bodyPr>
            <a:normAutofit/>
          </a:bodyPr>
          <a:lstStyle/>
          <a:p>
            <a:pPr>
              <a:defRPr sz="4200" b="1">
                <a:solidFill>
                  <a:srgbClr val="460078"/>
                </a:solidFill>
              </a:defRPr>
            </a:pPr>
            <a:r>
              <a:rPr lang="en-US" dirty="0" smtClean="0"/>
              <a:t>CYBER SECURITY</a:t>
            </a:r>
            <a:endParaRPr dirty="0"/>
          </a:p>
        </p:txBody>
      </p:sp>
      <p:pic>
        <p:nvPicPr>
          <p:cNvPr id="4" name="Picture 3" descr="A_digital_vector_graphic_displays_the_Present_Ac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0" y="5669280"/>
            <a:ext cx="1005840" cy="1508760"/>
          </a:xfrm>
          <a:prstGeom prst="rect">
            <a:avLst/>
          </a:prstGeom>
        </p:spPr>
      </p:pic>
      <p:sp>
        <p:nvSpPr>
          <p:cNvPr id="6" name="Title 1"/>
          <p:cNvSpPr txBox="1">
            <a:spLocks/>
          </p:cNvSpPr>
          <p:nvPr/>
        </p:nvSpPr>
        <p:spPr>
          <a:xfrm>
            <a:off x="345440" y="5029201"/>
            <a:ext cx="8323527" cy="15341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 sz="4200" b="1">
                <a:solidFill>
                  <a:srgbClr val="460078"/>
                </a:solidFill>
              </a:defRPr>
            </a:pPr>
            <a:r>
              <a:rPr lang="en-US" sz="3200" dirty="0" smtClean="0"/>
              <a:t>NIST Security Framework</a:t>
            </a:r>
          </a:p>
          <a:p>
            <a:pPr>
              <a:defRPr sz="4200" b="1">
                <a:solidFill>
                  <a:srgbClr val="460078"/>
                </a:solidFill>
              </a:defRPr>
            </a:pPr>
            <a:r>
              <a:rPr lang="en-US" sz="3000" b="1" dirty="0" err="1" smtClean="0">
                <a:solidFill>
                  <a:srgbClr val="460078"/>
                </a:solidFill>
              </a:rPr>
              <a:t>Er</a:t>
            </a:r>
            <a:r>
              <a:rPr lang="en-US" sz="3000" b="1" dirty="0" smtClean="0">
                <a:solidFill>
                  <a:srgbClr val="460078"/>
                </a:solidFill>
              </a:rPr>
              <a:t>. Prakash Chandra Adhikari</a:t>
            </a:r>
            <a:endParaRPr lang="en-US" sz="3000" b="1" dirty="0">
              <a:solidFill>
                <a:srgbClr val="460078"/>
              </a:solidFill>
            </a:endParaRP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38D382-49DB-4807-A586-175A2D7637E3}" type="datetime1">
              <a:rPr lang="en-US" smtClean="0"/>
              <a:t>2/1/2026</a:t>
            </a:fld>
            <a:endParaRPr lang="en-US"/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034538" y="1200943"/>
            <a:ext cx="5505214" cy="36701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1184" y="363746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7030A0"/>
                </a:solidFill>
              </a:rPr>
              <a:t>Introduction to NIST Cybersecurity Framework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57395"/>
            <a:ext cx="8123584" cy="4799276"/>
          </a:xfrm>
        </p:spPr>
        <p:txBody>
          <a:bodyPr>
            <a:normAutofit/>
          </a:bodyPr>
          <a:lstStyle/>
          <a:p>
            <a:r>
              <a:rPr lang="en-US" sz="2800" dirty="0"/>
              <a:t>The </a:t>
            </a:r>
            <a:r>
              <a:rPr lang="en-US" sz="2800" b="1" dirty="0"/>
              <a:t>NIST Cybersecurity Framework (CSF)</a:t>
            </a:r>
            <a:r>
              <a:rPr lang="en-US" sz="2800" dirty="0"/>
              <a:t> is a </a:t>
            </a:r>
            <a:r>
              <a:rPr lang="en-US" sz="2800" b="1" dirty="0"/>
              <a:t>risk-based, voluntary framework</a:t>
            </a:r>
            <a:r>
              <a:rPr lang="en-US" sz="2800" dirty="0"/>
              <a:t> developed by the </a:t>
            </a:r>
            <a:r>
              <a:rPr lang="en-US" sz="2800" b="1" dirty="0"/>
              <a:t>National Institute of Standards and Technology (NIST)</a:t>
            </a:r>
            <a:r>
              <a:rPr lang="en-US" sz="2800" dirty="0"/>
              <a:t> to help organizations </a:t>
            </a:r>
            <a:r>
              <a:rPr lang="en-US" sz="2800" b="1" dirty="0"/>
              <a:t>identify, assess, manage, and reduce cybersecurity risk</a:t>
            </a:r>
            <a:r>
              <a:rPr lang="en-US" sz="2800" dirty="0"/>
              <a:t>.</a:t>
            </a:r>
          </a:p>
          <a:p>
            <a:r>
              <a:rPr lang="en-US" sz="2800" dirty="0"/>
              <a:t>First released: </a:t>
            </a:r>
            <a:r>
              <a:rPr lang="en-US" sz="2800" b="1" dirty="0"/>
              <a:t>2014</a:t>
            </a:r>
            <a:endParaRPr lang="en-US" sz="2800" dirty="0"/>
          </a:p>
          <a:p>
            <a:r>
              <a:rPr lang="en-US" sz="2800" dirty="0"/>
              <a:t>Major update: </a:t>
            </a:r>
            <a:r>
              <a:rPr lang="en-US" sz="2800" b="1" dirty="0"/>
              <a:t>CSF 2.0 (2024)</a:t>
            </a:r>
            <a:endParaRPr lang="en-US" sz="2800" dirty="0"/>
          </a:p>
          <a:p>
            <a:r>
              <a:rPr lang="en-US" sz="2800" dirty="0"/>
              <a:t>Applicable to: </a:t>
            </a:r>
            <a:r>
              <a:rPr lang="en-US" sz="2800" b="1" dirty="0"/>
              <a:t>All sectors</a:t>
            </a:r>
            <a:r>
              <a:rPr lang="en-US" sz="2800" dirty="0"/>
              <a:t> (financial institutions, healthcare, government, SMEs, critical infrastructure</a:t>
            </a:r>
          </a:p>
          <a:p>
            <a:endParaRPr lang="en-US" sz="2800" b="1" dirty="0"/>
          </a:p>
        </p:txBody>
      </p:sp>
      <p:pic>
        <p:nvPicPr>
          <p:cNvPr id="4" name="Picture 3" descr="A_digital_vector_graphic_displays_the_Present_Ac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0" y="5669280"/>
            <a:ext cx="1005840" cy="1508760"/>
          </a:xfrm>
          <a:prstGeom prst="rect">
            <a:avLst/>
          </a:prstGeo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34A6A-9D30-4A2E-BF5A-34B0342BF62C}" type="datetime1">
              <a:rPr lang="en-US" smtClean="0"/>
              <a:t>2/1/2026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75728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1184" y="363746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rgbClr val="7030A0"/>
                </a:solidFill>
              </a:rPr>
              <a:t>Purpose of NIST </a:t>
            </a:r>
            <a:r>
              <a:rPr lang="en-US" b="1" dirty="0">
                <a:solidFill>
                  <a:srgbClr val="7030A0"/>
                </a:solidFill>
              </a:rPr>
              <a:t>Cybersecurity Framework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57395"/>
            <a:ext cx="8123584" cy="4799276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sz="2800" dirty="0"/>
              <a:t>NIST CSF helps organizations to:</a:t>
            </a:r>
          </a:p>
          <a:p>
            <a:r>
              <a:rPr lang="en-US" sz="2800" dirty="0"/>
              <a:t>Understand </a:t>
            </a:r>
            <a:r>
              <a:rPr lang="en-US" sz="2800" b="1" dirty="0"/>
              <a:t>current cybersecurity posture</a:t>
            </a:r>
            <a:endParaRPr lang="en-US" sz="2800" dirty="0"/>
          </a:p>
          <a:p>
            <a:r>
              <a:rPr lang="en-US" sz="2800" dirty="0"/>
              <a:t>Prioritize </a:t>
            </a:r>
            <a:r>
              <a:rPr lang="en-US" sz="2800" b="1" dirty="0"/>
              <a:t>cybersecurity investments</a:t>
            </a:r>
            <a:endParaRPr lang="en-US" sz="2800" dirty="0"/>
          </a:p>
          <a:p>
            <a:r>
              <a:rPr lang="en-US" sz="2800" dirty="0"/>
              <a:t>Improve </a:t>
            </a:r>
            <a:r>
              <a:rPr lang="en-US" sz="2800" b="1" dirty="0"/>
              <a:t>risk management</a:t>
            </a:r>
            <a:endParaRPr lang="en-US" sz="2800" dirty="0"/>
          </a:p>
          <a:p>
            <a:r>
              <a:rPr lang="en-US" sz="2800" dirty="0"/>
              <a:t>Communicate cybersecurity risks to </a:t>
            </a:r>
            <a:r>
              <a:rPr lang="en-US" sz="2800" b="1" dirty="0"/>
              <a:t>management and stakeholders</a:t>
            </a:r>
            <a:endParaRPr lang="en-US" sz="2800" dirty="0"/>
          </a:p>
          <a:p>
            <a:r>
              <a:rPr lang="en-US" sz="2800" dirty="0"/>
              <a:t>Prepare for, respond to, and recover from </a:t>
            </a:r>
            <a:r>
              <a:rPr lang="en-US" sz="2800" b="1" dirty="0"/>
              <a:t>cyber incidents</a:t>
            </a:r>
            <a:endParaRPr lang="en-US" sz="2800" dirty="0"/>
          </a:p>
          <a:p>
            <a:pPr marL="0" indent="0">
              <a:buNone/>
            </a:pPr>
            <a:r>
              <a:rPr lang="en-US" sz="2800" dirty="0" smtClean="0"/>
              <a:t> </a:t>
            </a:r>
            <a:r>
              <a:rPr lang="en-US" sz="2800" b="1" dirty="0"/>
              <a:t>Important:</a:t>
            </a:r>
            <a:r>
              <a:rPr lang="en-US" sz="2800" dirty="0"/>
              <a:t/>
            </a:r>
            <a:br>
              <a:rPr lang="en-US" sz="2800" dirty="0"/>
            </a:br>
            <a:r>
              <a:rPr lang="en-US" sz="2800" dirty="0"/>
              <a:t>NIST CSF is </a:t>
            </a:r>
            <a:r>
              <a:rPr lang="en-US" sz="2800" b="1" dirty="0"/>
              <a:t>NOT only for after a cyberattack</a:t>
            </a:r>
            <a:r>
              <a:rPr lang="en-US" sz="2800" dirty="0"/>
              <a:t>.</a:t>
            </a:r>
            <a:br>
              <a:rPr lang="en-US" sz="2800" dirty="0"/>
            </a:br>
            <a:r>
              <a:rPr lang="en-US" sz="2800" dirty="0"/>
              <a:t>It is used:</a:t>
            </a:r>
          </a:p>
          <a:p>
            <a:r>
              <a:rPr lang="en-US" sz="2800" b="1" dirty="0"/>
              <a:t>Before</a:t>
            </a:r>
            <a:r>
              <a:rPr lang="en-US" sz="2800" dirty="0"/>
              <a:t> an incident (prevention &amp; preparedness)</a:t>
            </a:r>
          </a:p>
          <a:p>
            <a:r>
              <a:rPr lang="en-US" sz="2800" b="1" dirty="0"/>
              <a:t>During</a:t>
            </a:r>
            <a:r>
              <a:rPr lang="en-US" sz="2800" dirty="0"/>
              <a:t> an incident (response)</a:t>
            </a:r>
          </a:p>
          <a:p>
            <a:r>
              <a:rPr lang="en-US" sz="2800" b="1" dirty="0"/>
              <a:t>After</a:t>
            </a:r>
            <a:r>
              <a:rPr lang="en-US" sz="2800" dirty="0"/>
              <a:t> an incident (recovery &amp; improvement)</a:t>
            </a:r>
          </a:p>
          <a:p>
            <a:endParaRPr lang="en-US" sz="2800" b="1" dirty="0"/>
          </a:p>
        </p:txBody>
      </p:sp>
      <p:pic>
        <p:nvPicPr>
          <p:cNvPr id="4" name="Picture 3" descr="A_digital_vector_graphic_displays_the_Present_Ac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0" y="5669280"/>
            <a:ext cx="1005840" cy="1508760"/>
          </a:xfrm>
          <a:prstGeom prst="rect">
            <a:avLst/>
          </a:prstGeo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34A6A-9D30-4A2E-BF5A-34B0342BF62C}" type="datetime1">
              <a:rPr lang="en-US" smtClean="0"/>
              <a:t>2/1/2026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60453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1184" y="363746"/>
            <a:ext cx="8229600" cy="1143000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7030A0"/>
                </a:solidFill>
              </a:rPr>
              <a:t>Core Components of NIST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57395"/>
            <a:ext cx="8123584" cy="4799276"/>
          </a:xfrm>
        </p:spPr>
        <p:txBody>
          <a:bodyPr>
            <a:normAutofit/>
          </a:bodyPr>
          <a:lstStyle/>
          <a:p>
            <a:r>
              <a:rPr lang="en-US" sz="2800" dirty="0"/>
              <a:t>NIST CSF has </a:t>
            </a:r>
            <a:r>
              <a:rPr lang="en-US" sz="2800" b="1" dirty="0"/>
              <a:t>three main components</a:t>
            </a:r>
            <a:r>
              <a:rPr lang="en-US" sz="2800" dirty="0"/>
              <a:t>:</a:t>
            </a:r>
          </a:p>
          <a:p>
            <a:r>
              <a:rPr lang="en-US" sz="2800" b="1" dirty="0"/>
              <a:t>Framework Core</a:t>
            </a:r>
            <a:endParaRPr lang="en-US" sz="2800" dirty="0"/>
          </a:p>
          <a:p>
            <a:r>
              <a:rPr lang="en-US" sz="2800" b="1" dirty="0"/>
              <a:t>Implementation Tiers</a:t>
            </a:r>
            <a:endParaRPr lang="en-US" sz="2800" dirty="0"/>
          </a:p>
          <a:p>
            <a:r>
              <a:rPr lang="en-US" sz="2800" b="1" dirty="0"/>
              <a:t>Profiles</a:t>
            </a:r>
            <a:endParaRPr lang="en-US" sz="2800" dirty="0"/>
          </a:p>
          <a:p>
            <a:pPr marL="0" indent="0">
              <a:buNone/>
            </a:pPr>
            <a:endParaRPr lang="en-US" sz="2800" b="1" dirty="0"/>
          </a:p>
        </p:txBody>
      </p:sp>
      <p:pic>
        <p:nvPicPr>
          <p:cNvPr id="4" name="Picture 3" descr="A_digital_vector_graphic_displays_the_Present_Ac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0" y="5669280"/>
            <a:ext cx="1005840" cy="1508760"/>
          </a:xfrm>
          <a:prstGeom prst="rect">
            <a:avLst/>
          </a:prstGeo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34A6A-9D30-4A2E-BF5A-34B0342BF62C}" type="datetime1">
              <a:rPr lang="en-US" smtClean="0"/>
              <a:t>2/1/2026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09772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1184" y="363746"/>
            <a:ext cx="8229600" cy="1143000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7030A0"/>
                </a:solidFill>
              </a:rPr>
              <a:t>Framework Core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57395"/>
            <a:ext cx="8123584" cy="4799276"/>
          </a:xfrm>
        </p:spPr>
        <p:txBody>
          <a:bodyPr>
            <a:normAutofit fontScale="85000" lnSpcReduction="10000"/>
          </a:bodyPr>
          <a:lstStyle/>
          <a:p>
            <a:r>
              <a:rPr lang="en-US" sz="2800" dirty="0"/>
              <a:t>The </a:t>
            </a:r>
            <a:r>
              <a:rPr lang="en-US" sz="2800" b="1" dirty="0"/>
              <a:t>Framework Core</a:t>
            </a:r>
            <a:r>
              <a:rPr lang="en-US" sz="2800" dirty="0"/>
              <a:t> is the </a:t>
            </a:r>
            <a:r>
              <a:rPr lang="en-US" sz="2800" b="1" dirty="0"/>
              <a:t>foundation</a:t>
            </a:r>
            <a:r>
              <a:rPr lang="en-US" sz="2800" dirty="0"/>
              <a:t> of NIST CSF.</a:t>
            </a:r>
            <a:br>
              <a:rPr lang="en-US" sz="2800" dirty="0"/>
            </a:br>
            <a:r>
              <a:rPr lang="en-US" sz="2800" dirty="0"/>
              <a:t>It describes </a:t>
            </a:r>
            <a:r>
              <a:rPr lang="en-US" sz="2800" b="1" dirty="0"/>
              <a:t>what cybersecurity activities should be done</a:t>
            </a:r>
            <a:r>
              <a:rPr lang="en-US" sz="2800" dirty="0"/>
              <a:t>.</a:t>
            </a:r>
          </a:p>
          <a:p>
            <a:r>
              <a:rPr lang="en-US" sz="2800" dirty="0"/>
              <a:t>Organized into </a:t>
            </a:r>
            <a:r>
              <a:rPr lang="en-US" sz="2800" b="1" dirty="0"/>
              <a:t>6 Functions</a:t>
            </a:r>
            <a:r>
              <a:rPr lang="en-US" sz="2800" dirty="0"/>
              <a:t>:</a:t>
            </a:r>
            <a:br>
              <a:rPr lang="en-US" sz="2800" dirty="0"/>
            </a:br>
            <a:r>
              <a:rPr lang="en-US" sz="2800" b="1" dirty="0"/>
              <a:t>Govern, Identify, Protect, Detect, Respond, Recover</a:t>
            </a:r>
            <a:endParaRPr lang="en-US" sz="2800" dirty="0"/>
          </a:p>
          <a:p>
            <a:r>
              <a:rPr lang="en-US" sz="2800" dirty="0"/>
              <a:t>Each function is further divided into </a:t>
            </a:r>
            <a:r>
              <a:rPr lang="en-US" sz="2800" b="1" dirty="0"/>
              <a:t>Categories</a:t>
            </a:r>
            <a:r>
              <a:rPr lang="en-US" sz="2800" dirty="0"/>
              <a:t> and </a:t>
            </a:r>
            <a:r>
              <a:rPr lang="en-US" sz="2800" b="1" dirty="0"/>
              <a:t>Subcategories</a:t>
            </a:r>
            <a:endParaRPr lang="en-US" sz="2800" dirty="0"/>
          </a:p>
          <a:p>
            <a:r>
              <a:rPr lang="en-US" sz="2800" dirty="0"/>
              <a:t>Focuses on </a:t>
            </a:r>
            <a:r>
              <a:rPr lang="en-US" sz="2800" b="1" dirty="0"/>
              <a:t>outcomes</a:t>
            </a:r>
            <a:r>
              <a:rPr lang="en-US" sz="2800" dirty="0"/>
              <a:t>, not specific technologies</a:t>
            </a:r>
          </a:p>
          <a:p>
            <a:r>
              <a:rPr lang="en-US" sz="2800" dirty="0"/>
              <a:t>🔹 </a:t>
            </a:r>
            <a:r>
              <a:rPr lang="en-US" sz="2800" b="1" dirty="0"/>
              <a:t>Purpose:</a:t>
            </a:r>
            <a:r>
              <a:rPr lang="en-US" sz="2800" dirty="0"/>
              <a:t/>
            </a:r>
            <a:br>
              <a:rPr lang="en-US" sz="2800" dirty="0"/>
            </a:br>
            <a:r>
              <a:rPr lang="en-US" sz="2800" dirty="0"/>
              <a:t>To provide a </a:t>
            </a:r>
            <a:r>
              <a:rPr lang="en-US" sz="2800" b="1" dirty="0"/>
              <a:t>standard set of cybersecurity activities</a:t>
            </a:r>
            <a:r>
              <a:rPr lang="en-US" sz="2800" dirty="0"/>
              <a:t> that help manage cyber risk.</a:t>
            </a:r>
          </a:p>
          <a:p>
            <a:r>
              <a:rPr lang="en-US" sz="2800" dirty="0"/>
              <a:t>📌 </a:t>
            </a:r>
            <a:r>
              <a:rPr lang="en-US" sz="2800" i="1" dirty="0"/>
              <a:t>Example:</a:t>
            </a:r>
            <a:r>
              <a:rPr lang="en-US" sz="2800" dirty="0"/>
              <a:t/>
            </a:r>
            <a:br>
              <a:rPr lang="en-US" sz="2800" dirty="0"/>
            </a:br>
            <a:r>
              <a:rPr lang="en-US" sz="2800" dirty="0"/>
              <a:t>“Protect” includes access control, data security, and user awareness.</a:t>
            </a:r>
          </a:p>
        </p:txBody>
      </p:sp>
      <p:pic>
        <p:nvPicPr>
          <p:cNvPr id="4" name="Picture 3" descr="A_digital_vector_graphic_displays_the_Present_Ac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0" y="5669280"/>
            <a:ext cx="1005840" cy="1508760"/>
          </a:xfrm>
          <a:prstGeom prst="rect">
            <a:avLst/>
          </a:prstGeo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34A6A-9D30-4A2E-BF5A-34B0342BF62C}" type="datetime1">
              <a:rPr lang="en-US" smtClean="0"/>
              <a:t>2/1/2026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14737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1184" y="363746"/>
            <a:ext cx="8229600" cy="1143000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7030A0"/>
                </a:solidFill>
              </a:rPr>
              <a:t>Implementation Tiers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57395"/>
            <a:ext cx="8123584" cy="4799276"/>
          </a:xfrm>
        </p:spPr>
        <p:txBody>
          <a:bodyPr>
            <a:normAutofit fontScale="77500" lnSpcReduction="20000"/>
          </a:bodyPr>
          <a:lstStyle/>
          <a:p>
            <a:r>
              <a:rPr lang="en-US" sz="2800" b="1" dirty="0" smtClean="0"/>
              <a:t>Implementation </a:t>
            </a:r>
            <a:r>
              <a:rPr lang="en-US" sz="2800" b="1" dirty="0"/>
              <a:t>Tiers</a:t>
            </a:r>
            <a:r>
              <a:rPr lang="en-US" sz="2800" dirty="0"/>
              <a:t> describe </a:t>
            </a:r>
            <a:r>
              <a:rPr lang="en-US" sz="2800" b="1" dirty="0"/>
              <a:t>how well</a:t>
            </a:r>
            <a:r>
              <a:rPr lang="en-US" sz="2800" dirty="0"/>
              <a:t> an organization manages cybersecurity risk.</a:t>
            </a:r>
          </a:p>
          <a:p>
            <a:r>
              <a:rPr lang="en-US" sz="2800" dirty="0"/>
              <a:t>They measure </a:t>
            </a:r>
            <a:r>
              <a:rPr lang="en-US" sz="2800" b="1" dirty="0"/>
              <a:t>maturity</a:t>
            </a:r>
            <a:r>
              <a:rPr lang="en-US" sz="2800" dirty="0"/>
              <a:t>, not security strength</a:t>
            </a:r>
          </a:p>
          <a:p>
            <a:r>
              <a:rPr lang="en-US" sz="2800" dirty="0"/>
              <a:t>Reflect integration of cybersecurity into </a:t>
            </a:r>
            <a:r>
              <a:rPr lang="en-US" sz="2800" b="1" dirty="0"/>
              <a:t>risk management and decision-making</a:t>
            </a:r>
            <a:endParaRPr lang="en-US" sz="2800" dirty="0"/>
          </a:p>
          <a:p>
            <a:r>
              <a:rPr lang="en-US" sz="2800" b="1" dirty="0"/>
              <a:t>Four Tiers:</a:t>
            </a:r>
            <a:endParaRPr lang="en-US" sz="2800" dirty="0"/>
          </a:p>
          <a:p>
            <a:r>
              <a:rPr lang="en-US" sz="2800" b="1" dirty="0"/>
              <a:t>Tier 1 – Partial:</a:t>
            </a:r>
            <a:r>
              <a:rPr lang="en-US" sz="2800" dirty="0"/>
              <a:t> Ad-hoc, reactive, undocumented practices</a:t>
            </a:r>
          </a:p>
          <a:p>
            <a:r>
              <a:rPr lang="en-US" sz="2800" b="1" dirty="0"/>
              <a:t>Tier 2 – Risk-Informed:</a:t>
            </a:r>
            <a:r>
              <a:rPr lang="en-US" sz="2800" dirty="0"/>
              <a:t> Some policies, limited consistency</a:t>
            </a:r>
          </a:p>
          <a:p>
            <a:r>
              <a:rPr lang="en-US" sz="2800" b="1" dirty="0"/>
              <a:t>Tier 3 – Repeatable:</a:t>
            </a:r>
            <a:r>
              <a:rPr lang="en-US" sz="2800" dirty="0"/>
              <a:t> Formal, documented, consistently applied</a:t>
            </a:r>
          </a:p>
          <a:p>
            <a:r>
              <a:rPr lang="en-US" sz="2800" b="1" dirty="0"/>
              <a:t>Tier 4 – Adaptive:</a:t>
            </a:r>
            <a:r>
              <a:rPr lang="en-US" sz="2800" dirty="0"/>
              <a:t> Proactive, continuously improving, threat-driven</a:t>
            </a:r>
          </a:p>
          <a:p>
            <a:r>
              <a:rPr lang="en-US" sz="2800" dirty="0"/>
              <a:t>🔹 </a:t>
            </a:r>
            <a:r>
              <a:rPr lang="en-US" sz="2800" b="1" dirty="0"/>
              <a:t>Purpose:</a:t>
            </a:r>
            <a:r>
              <a:rPr lang="en-US" sz="2800" dirty="0"/>
              <a:t/>
            </a:r>
            <a:br>
              <a:rPr lang="en-US" sz="2800" dirty="0"/>
            </a:br>
            <a:r>
              <a:rPr lang="en-US" sz="2800" dirty="0"/>
              <a:t>To help organizations understand their </a:t>
            </a:r>
            <a:r>
              <a:rPr lang="en-US" sz="2800" b="1" dirty="0"/>
              <a:t>current capability level</a:t>
            </a:r>
            <a:r>
              <a:rPr lang="en-US" sz="2800" dirty="0"/>
              <a:t> and plan improvement.</a:t>
            </a:r>
          </a:p>
          <a:p>
            <a:endParaRPr lang="en-US" sz="2800" dirty="0"/>
          </a:p>
        </p:txBody>
      </p:sp>
      <p:pic>
        <p:nvPicPr>
          <p:cNvPr id="4" name="Picture 3" descr="A_digital_vector_graphic_displays_the_Present_Ac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0" y="5669280"/>
            <a:ext cx="1005840" cy="1508760"/>
          </a:xfrm>
          <a:prstGeom prst="rect">
            <a:avLst/>
          </a:prstGeo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34A6A-9D30-4A2E-BF5A-34B0342BF62C}" type="datetime1">
              <a:rPr lang="en-US" smtClean="0"/>
              <a:t>2/1/2026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43791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1184" y="363746"/>
            <a:ext cx="8229600" cy="1143000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7030A0"/>
                </a:solidFill>
              </a:rPr>
              <a:t>Profiles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57395"/>
            <a:ext cx="8123584" cy="4799276"/>
          </a:xfrm>
        </p:spPr>
        <p:txBody>
          <a:bodyPr>
            <a:normAutofit fontScale="92500" lnSpcReduction="10000"/>
          </a:bodyPr>
          <a:lstStyle/>
          <a:p>
            <a:r>
              <a:rPr lang="en-US" sz="2800" dirty="0" smtClean="0"/>
              <a:t>A </a:t>
            </a:r>
            <a:r>
              <a:rPr lang="en-US" sz="2800" b="1" dirty="0"/>
              <a:t>Profile</a:t>
            </a:r>
            <a:r>
              <a:rPr lang="en-US" sz="2800" dirty="0"/>
              <a:t> aligns the Framework Core with </a:t>
            </a:r>
            <a:r>
              <a:rPr lang="en-US" sz="2800" b="1" dirty="0"/>
              <a:t>business needs, risk tolerance, and resources</a:t>
            </a:r>
            <a:r>
              <a:rPr lang="en-US" sz="2800" dirty="0"/>
              <a:t>.</a:t>
            </a:r>
          </a:p>
          <a:p>
            <a:r>
              <a:rPr lang="en-US" sz="2800" b="1" dirty="0"/>
              <a:t>Current Profile:</a:t>
            </a:r>
            <a:r>
              <a:rPr lang="en-US" sz="2800" dirty="0"/>
              <a:t> What controls and practices exist now</a:t>
            </a:r>
          </a:p>
          <a:p>
            <a:r>
              <a:rPr lang="en-US" sz="2800" b="1" dirty="0"/>
              <a:t>Target Profile:</a:t>
            </a:r>
            <a:r>
              <a:rPr lang="en-US" sz="2800" dirty="0"/>
              <a:t> What controls and practices are desired</a:t>
            </a:r>
          </a:p>
          <a:p>
            <a:r>
              <a:rPr lang="en-US" sz="2800" dirty="0"/>
              <a:t>The gap between the two helps in </a:t>
            </a:r>
            <a:r>
              <a:rPr lang="en-US" sz="2800" b="1" dirty="0"/>
              <a:t>prioritizing improvements</a:t>
            </a:r>
            <a:r>
              <a:rPr lang="en-US" sz="2800" dirty="0"/>
              <a:t>.</a:t>
            </a:r>
          </a:p>
          <a:p>
            <a:r>
              <a:rPr lang="en-US" sz="2800" dirty="0"/>
              <a:t>🔹 </a:t>
            </a:r>
            <a:r>
              <a:rPr lang="en-US" sz="2800" b="1" dirty="0"/>
              <a:t>Purpose:</a:t>
            </a:r>
            <a:r>
              <a:rPr lang="en-US" sz="2800" dirty="0"/>
              <a:t/>
            </a:r>
            <a:br>
              <a:rPr lang="en-US" sz="2800" dirty="0"/>
            </a:br>
            <a:r>
              <a:rPr lang="en-US" sz="2800" dirty="0"/>
              <a:t>To customize NIST CSF for a </a:t>
            </a:r>
            <a:r>
              <a:rPr lang="en-US" sz="2800" b="1" dirty="0"/>
              <a:t>specific organization or sector</a:t>
            </a:r>
            <a:r>
              <a:rPr lang="en-US" sz="2800" dirty="0"/>
              <a:t>.</a:t>
            </a:r>
          </a:p>
          <a:p>
            <a:r>
              <a:rPr lang="en-US" sz="2800" dirty="0"/>
              <a:t>📌 </a:t>
            </a:r>
            <a:r>
              <a:rPr lang="en-US" sz="2800" i="1" dirty="0"/>
              <a:t>Example:</a:t>
            </a:r>
            <a:r>
              <a:rPr lang="en-US" sz="2800" dirty="0"/>
              <a:t/>
            </a:r>
            <a:br>
              <a:rPr lang="en-US" sz="2800" dirty="0"/>
            </a:br>
            <a:r>
              <a:rPr lang="en-US" sz="2800" dirty="0"/>
              <a:t>A bank’s Target Profile may require stronger access control than its Current Profile</a:t>
            </a:r>
          </a:p>
          <a:p>
            <a:endParaRPr lang="en-US" sz="2800" dirty="0"/>
          </a:p>
        </p:txBody>
      </p:sp>
      <p:pic>
        <p:nvPicPr>
          <p:cNvPr id="4" name="Picture 3" descr="A_digital_vector_graphic_displays_the_Present_Ac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0" y="5669280"/>
            <a:ext cx="1005840" cy="1508760"/>
          </a:xfrm>
          <a:prstGeom prst="rect">
            <a:avLst/>
          </a:prstGeo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34A6A-9D30-4A2E-BF5A-34B0342BF62C}" type="datetime1">
              <a:rPr lang="en-US" smtClean="0"/>
              <a:t>2/1/2026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96025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1184" y="363746"/>
            <a:ext cx="8229600" cy="1143000"/>
          </a:xfrm>
        </p:spPr>
        <p:txBody>
          <a:bodyPr>
            <a:normAutofit/>
          </a:bodyPr>
          <a:lstStyle/>
          <a:p>
            <a:r>
              <a:rPr lang="en-US" b="1" dirty="0" smtClean="0">
                <a:solidFill>
                  <a:srgbClr val="7030A0"/>
                </a:solidFill>
              </a:rPr>
              <a:t>Main Theme</a:t>
            </a:r>
            <a:endParaRPr lang="en-US" b="1" dirty="0">
              <a:solidFill>
                <a:srgbClr val="7030A0"/>
              </a:solidFill>
            </a:endParaRPr>
          </a:p>
        </p:txBody>
      </p:sp>
      <p:pic>
        <p:nvPicPr>
          <p:cNvPr id="4" name="Picture 3" descr="A_digital_vector_graphic_displays_the_Present_Ac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0" y="5669280"/>
            <a:ext cx="1005840" cy="1508760"/>
          </a:xfrm>
          <a:prstGeom prst="rect">
            <a:avLst/>
          </a:prstGeo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34A6A-9D30-4A2E-BF5A-34B0342BF62C}" type="datetime1">
              <a:rPr lang="en-US" smtClean="0"/>
              <a:t>2/1/2026</a:t>
            </a:fld>
            <a:endParaRPr lang="en-US"/>
          </a:p>
        </p:txBody>
      </p:sp>
      <p:sp>
        <p:nvSpPr>
          <p:cNvPr id="7" name="Rectangle 2"/>
          <p:cNvSpPr>
            <a:spLocks noGrp="1" noChangeArrowheads="1"/>
          </p:cNvSpPr>
          <p:nvPr>
            <p:ph idx="1"/>
          </p:nvPr>
        </p:nvSpPr>
        <p:spPr bwMode="auto">
          <a:xfrm>
            <a:off x="954349" y="1291158"/>
            <a:ext cx="5317481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Framework Core: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What to do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Implementation Tiers: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How well it is done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Profiles: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Where you are vs where you want to be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92889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1184" y="363746"/>
            <a:ext cx="8229600" cy="1143000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7030A0"/>
                </a:solidFill>
              </a:rPr>
              <a:t>🔐 What is NIST CSF 2.0?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57395"/>
            <a:ext cx="8123584" cy="4799276"/>
          </a:xfrm>
        </p:spPr>
        <p:txBody>
          <a:bodyPr>
            <a:normAutofit lnSpcReduction="10000"/>
          </a:bodyPr>
          <a:lstStyle/>
          <a:p>
            <a:r>
              <a:rPr lang="en-US" sz="2800" dirty="0" smtClean="0"/>
              <a:t>NIST </a:t>
            </a:r>
            <a:r>
              <a:rPr lang="en-US" sz="2800" dirty="0"/>
              <a:t>CSF 2.0 is the </a:t>
            </a:r>
            <a:r>
              <a:rPr lang="en-US" sz="2800" b="1" dirty="0"/>
              <a:t>latest and official cybersecurity risk management framework</a:t>
            </a:r>
            <a:r>
              <a:rPr lang="en-US" sz="2800" dirty="0"/>
              <a:t> published by </a:t>
            </a:r>
            <a:r>
              <a:rPr lang="en-US" sz="2800" b="1" dirty="0"/>
              <a:t>NIST (National Institute of Standards and Technology)</a:t>
            </a:r>
            <a:r>
              <a:rPr lang="en-US" sz="2800" dirty="0"/>
              <a:t>.</a:t>
            </a:r>
          </a:p>
          <a:p>
            <a:r>
              <a:rPr lang="en-US" sz="2800" dirty="0"/>
              <a:t>It is designed to help </a:t>
            </a:r>
            <a:r>
              <a:rPr lang="en-US" sz="2800" b="1" dirty="0"/>
              <a:t>all types of organizations</a:t>
            </a:r>
            <a:r>
              <a:rPr lang="en-US" sz="2800" dirty="0"/>
              <a:t> (government, private, SMEs, critical infrastructure) to:</a:t>
            </a:r>
          </a:p>
          <a:p>
            <a:r>
              <a:rPr lang="en-US" sz="2800" dirty="0"/>
              <a:t>Manage cybersecurity risks</a:t>
            </a:r>
          </a:p>
          <a:p>
            <a:r>
              <a:rPr lang="en-US" sz="2800" dirty="0"/>
              <a:t>Improve governance and accountability</a:t>
            </a:r>
          </a:p>
          <a:p>
            <a:r>
              <a:rPr lang="en-US" sz="2800" dirty="0"/>
              <a:t>Align security with business objectives</a:t>
            </a:r>
          </a:p>
          <a:p>
            <a:r>
              <a:rPr lang="en-US" sz="2800" dirty="0"/>
              <a:t>Integrate cybersecurity into enterprise risk management (ERM)</a:t>
            </a:r>
          </a:p>
          <a:p>
            <a:pPr marL="0" indent="0" algn="just">
              <a:buNone/>
            </a:pPr>
            <a:endParaRPr lang="en-US" sz="2800" b="1" dirty="0"/>
          </a:p>
        </p:txBody>
      </p:sp>
      <p:pic>
        <p:nvPicPr>
          <p:cNvPr id="4" name="Picture 3" descr="A_digital_vector_graphic_displays_the_Present_Ac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0" y="5669280"/>
            <a:ext cx="1005840" cy="1508760"/>
          </a:xfrm>
          <a:prstGeom prst="rect">
            <a:avLst/>
          </a:prstGeo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34A6A-9D30-4A2E-BF5A-34B0342BF62C}" type="datetime1">
              <a:rPr lang="en-US" smtClean="0"/>
              <a:t>2/1/2026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87561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1184" y="363746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rgbClr val="7030A0"/>
                </a:solidFill>
              </a:rPr>
              <a:t>Where </a:t>
            </a:r>
            <a:r>
              <a:rPr lang="en-US" b="1" dirty="0">
                <a:solidFill>
                  <a:srgbClr val="7030A0"/>
                </a:solidFill>
              </a:rPr>
              <a:t>NIST Cybersecurity Framework 2.0</a:t>
            </a:r>
            <a:r>
              <a:rPr lang="en-US" dirty="0">
                <a:solidFill>
                  <a:srgbClr val="7030A0"/>
                </a:solidFill>
              </a:rPr>
              <a:t> Fits in the Cyber Lifecycle</a:t>
            </a:r>
            <a:endParaRPr lang="en-US" b="1" dirty="0">
              <a:solidFill>
                <a:srgbClr val="7030A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57395"/>
            <a:ext cx="8123584" cy="479927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b="1" dirty="0" smtClean="0"/>
              <a:t>1.Before </a:t>
            </a:r>
            <a:r>
              <a:rPr lang="en-US" sz="2800" b="1" dirty="0"/>
              <a:t>a Cyber Attack (PRIMARY USE) ✅</a:t>
            </a:r>
          </a:p>
          <a:p>
            <a:pPr marL="0" indent="0">
              <a:buNone/>
            </a:pPr>
            <a:r>
              <a:rPr lang="en-US" sz="2800" dirty="0"/>
              <a:t>This is </a:t>
            </a:r>
            <a:r>
              <a:rPr lang="en-US" sz="2800" b="1" dirty="0"/>
              <a:t>the main reason CSF exists</a:t>
            </a:r>
            <a:r>
              <a:rPr lang="en-US" sz="2800" dirty="0"/>
              <a:t>.</a:t>
            </a:r>
          </a:p>
          <a:p>
            <a:r>
              <a:rPr lang="en-US" sz="2800" b="1" dirty="0"/>
              <a:t>Functions used:</a:t>
            </a:r>
          </a:p>
          <a:p>
            <a:r>
              <a:rPr lang="en-US" sz="2800" b="1" dirty="0"/>
              <a:t>Govern</a:t>
            </a:r>
            <a:endParaRPr lang="en-US" sz="2800" dirty="0"/>
          </a:p>
          <a:p>
            <a:r>
              <a:rPr lang="en-US" sz="2800" b="1" dirty="0"/>
              <a:t>Identify</a:t>
            </a:r>
            <a:endParaRPr lang="en-US" sz="2800" dirty="0"/>
          </a:p>
          <a:p>
            <a:r>
              <a:rPr lang="en-US" sz="2800" b="1" dirty="0"/>
              <a:t>Protect</a:t>
            </a:r>
            <a:endParaRPr lang="en-US" sz="2800" dirty="0"/>
          </a:p>
          <a:p>
            <a:r>
              <a:rPr lang="en-US" sz="2800" b="1" dirty="0"/>
              <a:t>Detect</a:t>
            </a:r>
            <a:endParaRPr lang="en-US" sz="2800" dirty="0"/>
          </a:p>
          <a:p>
            <a:endParaRPr lang="en-US" sz="2800" dirty="0"/>
          </a:p>
        </p:txBody>
      </p:sp>
      <p:pic>
        <p:nvPicPr>
          <p:cNvPr id="4" name="Picture 3" descr="A_digital_vector_graphic_displays_the_Present_Ac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0" y="5669280"/>
            <a:ext cx="1005840" cy="1508760"/>
          </a:xfrm>
          <a:prstGeom prst="rect">
            <a:avLst/>
          </a:prstGeo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34A6A-9D30-4A2E-BF5A-34B0342BF62C}" type="datetime1">
              <a:rPr lang="en-US" smtClean="0"/>
              <a:t>2/1/2026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7784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1184" y="363746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rgbClr val="7030A0"/>
                </a:solidFill>
              </a:rPr>
              <a:t>Where </a:t>
            </a:r>
            <a:r>
              <a:rPr lang="en-US" b="1" dirty="0">
                <a:solidFill>
                  <a:srgbClr val="7030A0"/>
                </a:solidFill>
              </a:rPr>
              <a:t>NIST Cybersecurity Framework 2.0</a:t>
            </a:r>
            <a:r>
              <a:rPr lang="en-US" dirty="0">
                <a:solidFill>
                  <a:srgbClr val="7030A0"/>
                </a:solidFill>
              </a:rPr>
              <a:t> Fits in the Cyber Lifecycle</a:t>
            </a:r>
            <a:endParaRPr lang="en-US" b="1" dirty="0">
              <a:solidFill>
                <a:srgbClr val="7030A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57395"/>
            <a:ext cx="8123584" cy="4799276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2800" b="1" dirty="0"/>
              <a:t>What happens </a:t>
            </a:r>
            <a:r>
              <a:rPr lang="en-US" sz="2800" b="1" i="1" dirty="0"/>
              <a:t>before</a:t>
            </a:r>
            <a:r>
              <a:rPr lang="en-US" sz="2800" b="1" dirty="0"/>
              <a:t> an attack:</a:t>
            </a:r>
          </a:p>
          <a:p>
            <a:r>
              <a:rPr lang="en-US" sz="2800" dirty="0"/>
              <a:t>Define cybersecurity </a:t>
            </a:r>
            <a:r>
              <a:rPr lang="en-US" sz="2800" b="1" dirty="0"/>
              <a:t>governance and policies</a:t>
            </a:r>
            <a:endParaRPr lang="en-US" sz="2800" dirty="0"/>
          </a:p>
          <a:p>
            <a:r>
              <a:rPr lang="en-US" sz="2800" dirty="0"/>
              <a:t>Identify critical assets and risks</a:t>
            </a:r>
          </a:p>
          <a:p>
            <a:r>
              <a:rPr lang="en-US" sz="2800" dirty="0"/>
              <a:t>Implement security controls</a:t>
            </a:r>
          </a:p>
          <a:p>
            <a:r>
              <a:rPr lang="en-US" sz="2800" dirty="0"/>
              <a:t>Establish monitoring and detection</a:t>
            </a:r>
          </a:p>
          <a:p>
            <a:r>
              <a:rPr lang="en-US" sz="2800" dirty="0"/>
              <a:t>Train staff and assign responsibilities</a:t>
            </a:r>
          </a:p>
          <a:p>
            <a:pPr marL="0" indent="0">
              <a:buNone/>
            </a:pPr>
            <a:r>
              <a:rPr lang="en-US" sz="2800" dirty="0"/>
              <a:t>📌 </a:t>
            </a:r>
            <a:r>
              <a:rPr lang="en-US" sz="2800" b="1" dirty="0"/>
              <a:t>80–90% of CSF implementation work happens here</a:t>
            </a:r>
            <a:endParaRPr lang="en-US" sz="2800" dirty="0"/>
          </a:p>
          <a:p>
            <a:r>
              <a:rPr lang="en-US" sz="2800" b="1" dirty="0"/>
              <a:t>Example:</a:t>
            </a:r>
            <a:r>
              <a:rPr lang="en-US" sz="2800" dirty="0"/>
              <a:t/>
            </a:r>
            <a:br>
              <a:rPr lang="en-US" sz="2800" dirty="0"/>
            </a:br>
            <a:r>
              <a:rPr lang="en-US" sz="2800" dirty="0"/>
              <a:t>A bank implements CSF 2.0 to:</a:t>
            </a:r>
          </a:p>
          <a:p>
            <a:r>
              <a:rPr lang="en-US" sz="2800" dirty="0"/>
              <a:t>Reduce ransomware risk</a:t>
            </a:r>
          </a:p>
          <a:p>
            <a:r>
              <a:rPr lang="en-US" sz="2800" dirty="0"/>
              <a:t>Meet regulatory expectations</a:t>
            </a:r>
          </a:p>
          <a:p>
            <a:r>
              <a:rPr lang="en-US" sz="2800" dirty="0"/>
              <a:t>Prepare incident response in advance</a:t>
            </a:r>
          </a:p>
          <a:p>
            <a:endParaRPr lang="en-US" sz="2800" dirty="0"/>
          </a:p>
        </p:txBody>
      </p:sp>
      <p:pic>
        <p:nvPicPr>
          <p:cNvPr id="4" name="Picture 3" descr="A_digital_vector_graphic_displays_the_Present_Ac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0" y="5669280"/>
            <a:ext cx="1005840" cy="1508760"/>
          </a:xfrm>
          <a:prstGeom prst="rect">
            <a:avLst/>
          </a:prstGeo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34A6A-9D30-4A2E-BF5A-34B0342BF62C}" type="datetime1">
              <a:rPr lang="en-US" smtClean="0"/>
              <a:t>2/1/2026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46351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1184" y="363746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dirty="0" smtClean="0">
                <a:solidFill>
                  <a:srgbClr val="7030A0"/>
                </a:solidFill>
              </a:rPr>
              <a:t>Where </a:t>
            </a:r>
            <a:r>
              <a:rPr lang="en-US" b="1" dirty="0" smtClean="0">
                <a:solidFill>
                  <a:srgbClr val="7030A0"/>
                </a:solidFill>
              </a:rPr>
              <a:t>NIST Cybersecurity Framework 2.0</a:t>
            </a:r>
            <a:r>
              <a:rPr lang="en-US" dirty="0" smtClean="0">
                <a:solidFill>
                  <a:srgbClr val="7030A0"/>
                </a:solidFill>
              </a:rPr>
              <a:t> Fits in the Cyber Lifecycle</a:t>
            </a:r>
            <a:endParaRPr lang="en-US" b="1" dirty="0">
              <a:solidFill>
                <a:srgbClr val="7030A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57395"/>
            <a:ext cx="8123584" cy="4799276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2800" b="1" dirty="0" smtClean="0"/>
              <a:t>2.During </a:t>
            </a:r>
            <a:r>
              <a:rPr lang="en-US" sz="2800" b="1" dirty="0"/>
              <a:t>a Cyber Attack </a:t>
            </a:r>
          </a:p>
          <a:p>
            <a:r>
              <a:rPr lang="en-US" sz="2800" b="1" dirty="0"/>
              <a:t>Functions used:</a:t>
            </a:r>
          </a:p>
          <a:p>
            <a:r>
              <a:rPr lang="en-US" sz="2800" b="1" dirty="0"/>
              <a:t>Detect</a:t>
            </a:r>
            <a:endParaRPr lang="en-US" sz="2800" dirty="0"/>
          </a:p>
          <a:p>
            <a:r>
              <a:rPr lang="en-US" sz="2800" b="1" dirty="0"/>
              <a:t>Respond</a:t>
            </a:r>
            <a:endParaRPr lang="en-US" sz="2800" dirty="0"/>
          </a:p>
          <a:p>
            <a:r>
              <a:rPr lang="en-US" sz="2800" b="1" dirty="0"/>
              <a:t>What CSF helps with:</a:t>
            </a:r>
          </a:p>
          <a:p>
            <a:r>
              <a:rPr lang="en-US" sz="2800" dirty="0"/>
              <a:t>Early detection of incidents</a:t>
            </a:r>
          </a:p>
          <a:p>
            <a:r>
              <a:rPr lang="en-US" sz="2800" dirty="0"/>
              <a:t>Clear incident response roles</a:t>
            </a:r>
          </a:p>
          <a:p>
            <a:r>
              <a:rPr lang="en-US" sz="2800" dirty="0"/>
              <a:t>Containment and communication</a:t>
            </a:r>
          </a:p>
          <a:p>
            <a:r>
              <a:rPr lang="en-US" sz="2800" dirty="0"/>
              <a:t>Legal and regulatory notification</a:t>
            </a:r>
          </a:p>
          <a:p>
            <a:r>
              <a:rPr lang="en-US" sz="2800" dirty="0"/>
              <a:t>📌 CSF does </a:t>
            </a:r>
            <a:r>
              <a:rPr lang="en-US" sz="2800" b="1" dirty="0"/>
              <a:t>not replace</a:t>
            </a:r>
            <a:r>
              <a:rPr lang="en-US" sz="2800" dirty="0"/>
              <a:t> IR tools, but </a:t>
            </a:r>
            <a:r>
              <a:rPr lang="en-US" sz="2800" b="1" dirty="0"/>
              <a:t>defines the process and accountability</a:t>
            </a:r>
            <a:r>
              <a:rPr lang="en-US" sz="2800" dirty="0"/>
              <a:t>.</a:t>
            </a:r>
          </a:p>
          <a:p>
            <a:endParaRPr lang="en-US" sz="2800" dirty="0"/>
          </a:p>
        </p:txBody>
      </p:sp>
      <p:pic>
        <p:nvPicPr>
          <p:cNvPr id="4" name="Picture 3" descr="A_digital_vector_graphic_displays_the_Present_Ac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0" y="5669280"/>
            <a:ext cx="1005840" cy="1508760"/>
          </a:xfrm>
          <a:prstGeom prst="rect">
            <a:avLst/>
          </a:prstGeo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34A6A-9D30-4A2E-BF5A-34B0342BF62C}" type="datetime1">
              <a:rPr lang="en-US" smtClean="0"/>
              <a:t>2/1/2026</a:t>
            </a:fld>
            <a:endParaRPr lang="en-US"/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0" y="0"/>
            <a:ext cx="9144000" cy="15875"/>
          </a:xfrm>
          <a:prstGeom prst="rect">
            <a:avLst/>
          </a:prstGeom>
          <a:solidFill>
            <a:srgbClr val="000000"/>
          </a:solidFill>
          <a:ln w="9525">
            <a:solidFill>
              <a:schemeClr val="tx1"/>
            </a:solidFill>
            <a:prstDash val="solid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0" y="15875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9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2️⃣ During a Cyber Attack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73860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1184" y="363746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dirty="0" smtClean="0">
                <a:solidFill>
                  <a:srgbClr val="7030A0"/>
                </a:solidFill>
              </a:rPr>
              <a:t>Where </a:t>
            </a:r>
            <a:r>
              <a:rPr lang="en-US" b="1" dirty="0" smtClean="0">
                <a:solidFill>
                  <a:srgbClr val="7030A0"/>
                </a:solidFill>
              </a:rPr>
              <a:t>NIST Cybersecurity Framework 2.0</a:t>
            </a:r>
            <a:r>
              <a:rPr lang="en-US" dirty="0" smtClean="0">
                <a:solidFill>
                  <a:srgbClr val="7030A0"/>
                </a:solidFill>
              </a:rPr>
              <a:t> Fits in the Cyber Lifecycle</a:t>
            </a:r>
            <a:endParaRPr lang="en-US" b="1" dirty="0">
              <a:solidFill>
                <a:srgbClr val="7030A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57395"/>
            <a:ext cx="8123584" cy="4799276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2800" b="1" dirty="0" smtClean="0"/>
              <a:t>3.After </a:t>
            </a:r>
            <a:r>
              <a:rPr lang="en-US" sz="2800" b="1" dirty="0"/>
              <a:t>a Cyber Attack </a:t>
            </a:r>
          </a:p>
          <a:p>
            <a:r>
              <a:rPr lang="en-US" sz="2800" b="1" dirty="0"/>
              <a:t>Functions used:</a:t>
            </a:r>
          </a:p>
          <a:p>
            <a:r>
              <a:rPr lang="en-US" sz="2800" b="1" dirty="0"/>
              <a:t>Recover</a:t>
            </a:r>
            <a:endParaRPr lang="en-US" sz="2800" dirty="0"/>
          </a:p>
          <a:p>
            <a:r>
              <a:rPr lang="en-US" sz="2800" b="1" dirty="0"/>
              <a:t>Govern</a:t>
            </a:r>
            <a:r>
              <a:rPr lang="en-US" sz="2800" dirty="0"/>
              <a:t> (feedback loop)</a:t>
            </a:r>
          </a:p>
          <a:p>
            <a:r>
              <a:rPr lang="en-US" sz="2800" b="1" dirty="0"/>
              <a:t>What happens </a:t>
            </a:r>
            <a:r>
              <a:rPr lang="en-US" sz="2800" b="1" i="1" dirty="0"/>
              <a:t>after</a:t>
            </a:r>
            <a:r>
              <a:rPr lang="en-US" sz="2800" b="1" dirty="0"/>
              <a:t> an attack:</a:t>
            </a:r>
          </a:p>
          <a:p>
            <a:r>
              <a:rPr lang="en-US" sz="2800" dirty="0"/>
              <a:t>Restore systems and services</a:t>
            </a:r>
          </a:p>
          <a:p>
            <a:r>
              <a:rPr lang="en-US" sz="2800" dirty="0"/>
              <a:t>Perform lessons-learned review</a:t>
            </a:r>
          </a:p>
          <a:p>
            <a:r>
              <a:rPr lang="en-US" sz="2800" dirty="0"/>
              <a:t>Update risk register</a:t>
            </a:r>
          </a:p>
          <a:p>
            <a:r>
              <a:rPr lang="en-US" sz="2800" dirty="0"/>
              <a:t>Improve controls and policies</a:t>
            </a:r>
          </a:p>
          <a:p>
            <a:r>
              <a:rPr lang="en-US" sz="2800" dirty="0"/>
              <a:t>Raise maturity tier if needed</a:t>
            </a:r>
          </a:p>
          <a:p>
            <a:pPr marL="0" indent="0">
              <a:buNone/>
            </a:pPr>
            <a:r>
              <a:rPr lang="en-US" sz="2800" dirty="0"/>
              <a:t>📌 CSF is used to </a:t>
            </a:r>
            <a:r>
              <a:rPr lang="en-US" sz="2800" b="1" dirty="0"/>
              <a:t>strengthen posture after incidents</a:t>
            </a:r>
            <a:r>
              <a:rPr lang="en-US" sz="2800" dirty="0"/>
              <a:t>, not just respond once.</a:t>
            </a:r>
          </a:p>
          <a:p>
            <a:endParaRPr lang="en-US" sz="2800" dirty="0"/>
          </a:p>
        </p:txBody>
      </p:sp>
      <p:pic>
        <p:nvPicPr>
          <p:cNvPr id="4" name="Picture 3" descr="A_digital_vector_graphic_displays_the_Present_Ac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0" y="5669280"/>
            <a:ext cx="1005840" cy="1508760"/>
          </a:xfrm>
          <a:prstGeom prst="rect">
            <a:avLst/>
          </a:prstGeo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34A6A-9D30-4A2E-BF5A-34B0342BF62C}" type="datetime1">
              <a:rPr lang="en-US" smtClean="0"/>
              <a:t>2/1/2026</a:t>
            </a:fld>
            <a:endParaRPr lang="en-US"/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0" y="0"/>
            <a:ext cx="9144000" cy="15875"/>
          </a:xfrm>
          <a:prstGeom prst="rect">
            <a:avLst/>
          </a:prstGeom>
          <a:solidFill>
            <a:srgbClr val="000000"/>
          </a:solidFill>
          <a:ln w="9525">
            <a:solidFill>
              <a:schemeClr val="tx1"/>
            </a:solidFill>
            <a:prstDash val="solid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0" y="15875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9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2️⃣ During a Cyber Attack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96451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1184" y="363746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dirty="0" smtClean="0">
                <a:solidFill>
                  <a:srgbClr val="7030A0"/>
                </a:solidFill>
              </a:rPr>
              <a:t>Where </a:t>
            </a:r>
            <a:r>
              <a:rPr lang="en-US" b="1" dirty="0" smtClean="0">
                <a:solidFill>
                  <a:srgbClr val="7030A0"/>
                </a:solidFill>
              </a:rPr>
              <a:t>NIST Cybersecurity Framework 2.0</a:t>
            </a:r>
            <a:r>
              <a:rPr lang="en-US" dirty="0" smtClean="0">
                <a:solidFill>
                  <a:srgbClr val="7030A0"/>
                </a:solidFill>
              </a:rPr>
              <a:t> Fits in the Cyber Lifecycle</a:t>
            </a:r>
            <a:endParaRPr lang="en-US" b="1" dirty="0">
              <a:solidFill>
                <a:srgbClr val="7030A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6381" y="1457395"/>
            <a:ext cx="8123584" cy="479927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/>
              <a:t>When Do Organizations Usually Start CSF</a:t>
            </a:r>
            <a:r>
              <a:rPr lang="en-US" sz="2800" dirty="0" smtClean="0"/>
              <a:t>?</a:t>
            </a:r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endParaRPr lang="en-US" sz="2800" dirty="0" smtClean="0"/>
          </a:p>
          <a:p>
            <a:pPr marL="0" indent="0">
              <a:buNone/>
            </a:pPr>
            <a:endParaRPr lang="en-US" sz="2800" dirty="0"/>
          </a:p>
        </p:txBody>
      </p:sp>
      <p:pic>
        <p:nvPicPr>
          <p:cNvPr id="4" name="Picture 3" descr="A_digital_vector_graphic_displays_the_Present_Ac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0" y="5669280"/>
            <a:ext cx="1005840" cy="1508760"/>
          </a:xfrm>
          <a:prstGeom prst="rect">
            <a:avLst/>
          </a:prstGeo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34A6A-9D30-4A2E-BF5A-34B0342BF62C}" type="datetime1">
              <a:rPr lang="en-US" smtClean="0"/>
              <a:t>2/1/2026</a:t>
            </a:fld>
            <a:endParaRPr lang="en-US"/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0" y="0"/>
            <a:ext cx="9144000" cy="15875"/>
          </a:xfrm>
          <a:prstGeom prst="rect">
            <a:avLst/>
          </a:prstGeom>
          <a:solidFill>
            <a:srgbClr val="000000"/>
          </a:solidFill>
          <a:ln w="9525">
            <a:solidFill>
              <a:schemeClr val="tx1"/>
            </a:solidFill>
            <a:prstDash val="solid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0" y="15875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9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2️⃣ During a Cyber Attack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418995"/>
              </p:ext>
            </p:extLst>
          </p:nvPr>
        </p:nvGraphicFramePr>
        <p:xfrm>
          <a:off x="351184" y="2142144"/>
          <a:ext cx="7000044" cy="265179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500022">
                  <a:extLst>
                    <a:ext uri="{9D8B030D-6E8A-4147-A177-3AD203B41FA5}">
                      <a16:colId xmlns:a16="http://schemas.microsoft.com/office/drawing/2014/main" val="852484159"/>
                    </a:ext>
                  </a:extLst>
                </a:gridCol>
                <a:gridCol w="3500022">
                  <a:extLst>
                    <a:ext uri="{9D8B030D-6E8A-4147-A177-3AD203B41FA5}">
                      <a16:colId xmlns:a16="http://schemas.microsoft.com/office/drawing/2014/main" val="2939949599"/>
                    </a:ext>
                  </a:extLst>
                </a:gridCol>
              </a:tblGrid>
              <a:tr h="44196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b="1" u="none" strike="noStrike">
                          <a:effectLst/>
                        </a:rPr>
                        <a:t>Scenario</a:t>
                      </a:r>
                      <a:endParaRPr lang="en-US" sz="2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b="1" u="none" strike="noStrike" dirty="0">
                          <a:effectLst/>
                        </a:rPr>
                        <a:t>CSF Implementation</a:t>
                      </a:r>
                      <a:endParaRPr lang="en-US" sz="2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996883481"/>
                  </a:ext>
                </a:extLst>
              </a:tr>
              <a:tr h="441966">
                <a:tc>
                  <a:txBody>
                    <a:bodyPr/>
                    <a:lstStyle/>
                    <a:p>
                      <a:pPr algn="l" fontAlgn="ctr"/>
                      <a:r>
                        <a:rPr lang="en-US" sz="2400" u="none" strike="noStrike">
                          <a:effectLst/>
                        </a:rPr>
                        <a:t>No incident yet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400" u="none" strike="noStrike">
                          <a:effectLst/>
                        </a:rPr>
                        <a:t>✅ Best practice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865159597"/>
                  </a:ext>
                </a:extLst>
              </a:tr>
              <a:tr h="441966">
                <a:tc>
                  <a:txBody>
                    <a:bodyPr/>
                    <a:lstStyle/>
                    <a:p>
                      <a:pPr algn="l" fontAlgn="ctr"/>
                      <a:r>
                        <a:rPr lang="en-US" sz="2400" u="none" strike="noStrike">
                          <a:effectLst/>
                        </a:rPr>
                        <a:t>Regulatory requirement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400" u="none" strike="noStrike">
                          <a:effectLst/>
                        </a:rPr>
                        <a:t>✅ Common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878750184"/>
                  </a:ext>
                </a:extLst>
              </a:tr>
              <a:tr h="441966">
                <a:tc>
                  <a:txBody>
                    <a:bodyPr/>
                    <a:lstStyle/>
                    <a:p>
                      <a:pPr algn="l" fontAlgn="ctr"/>
                      <a:r>
                        <a:rPr lang="en-US" sz="2400" u="none" strike="noStrike">
                          <a:effectLst/>
                        </a:rPr>
                        <a:t>After ransomware attack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400" u="none" strike="noStrike">
                          <a:effectLst/>
                        </a:rPr>
                        <a:t>✅ Very common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511304214"/>
                  </a:ext>
                </a:extLst>
              </a:tr>
              <a:tr h="441966">
                <a:tc>
                  <a:txBody>
                    <a:bodyPr/>
                    <a:lstStyle/>
                    <a:p>
                      <a:pPr algn="l" fontAlgn="ctr"/>
                      <a:r>
                        <a:rPr lang="en-US" sz="2400" u="none" strike="noStrike">
                          <a:effectLst/>
                        </a:rPr>
                        <a:t>Audit finding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400" u="none" strike="noStrike">
                          <a:effectLst/>
                        </a:rPr>
                        <a:t>✅ Common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579372665"/>
                  </a:ext>
                </a:extLst>
              </a:tr>
              <a:tr h="441966">
                <a:tc>
                  <a:txBody>
                    <a:bodyPr/>
                    <a:lstStyle/>
                    <a:p>
                      <a:pPr algn="l" fontAlgn="ctr"/>
                      <a:r>
                        <a:rPr lang="en-US" sz="2400" u="none" strike="noStrike">
                          <a:effectLst/>
                        </a:rPr>
                        <a:t>Digital transformation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400" u="none" strike="noStrike" dirty="0">
                          <a:effectLst/>
                        </a:rPr>
                        <a:t>✅ Recommended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3481997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204344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1184" y="363746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dirty="0" smtClean="0">
                <a:solidFill>
                  <a:srgbClr val="7030A0"/>
                </a:solidFill>
              </a:rPr>
              <a:t>Where </a:t>
            </a:r>
            <a:r>
              <a:rPr lang="en-US" b="1" dirty="0" smtClean="0">
                <a:solidFill>
                  <a:srgbClr val="7030A0"/>
                </a:solidFill>
              </a:rPr>
              <a:t>NIST Cybersecurity Framework 2.0</a:t>
            </a:r>
            <a:r>
              <a:rPr lang="en-US" dirty="0" smtClean="0">
                <a:solidFill>
                  <a:srgbClr val="7030A0"/>
                </a:solidFill>
              </a:rPr>
              <a:t> Fits in the Cyber Lifecycle</a:t>
            </a:r>
            <a:endParaRPr lang="en-US" b="1" dirty="0">
              <a:solidFill>
                <a:srgbClr val="7030A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43596"/>
            <a:ext cx="8123584" cy="479927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b="1" dirty="0"/>
              <a:t>Why People Think It’s “After an Attack”</a:t>
            </a:r>
          </a:p>
          <a:p>
            <a:pPr marL="0" indent="0">
              <a:buNone/>
            </a:pPr>
            <a:r>
              <a:rPr lang="en-US" sz="2800" dirty="0"/>
              <a:t>Because many organizations:</a:t>
            </a:r>
          </a:p>
          <a:p>
            <a:r>
              <a:rPr lang="en-US" sz="2800" dirty="0"/>
              <a:t>Ignore cybersecurity until an incident happens</a:t>
            </a:r>
          </a:p>
          <a:p>
            <a:r>
              <a:rPr lang="en-US" sz="2800" dirty="0"/>
              <a:t>Then adopt CSF as a </a:t>
            </a:r>
            <a:r>
              <a:rPr lang="en-US" sz="2800" b="1" dirty="0"/>
              <a:t>corrective framework</a:t>
            </a:r>
            <a:endParaRPr lang="en-US" sz="2800" dirty="0"/>
          </a:p>
          <a:p>
            <a:pPr marL="0" indent="0">
              <a:buNone/>
            </a:pPr>
            <a:r>
              <a:rPr lang="en-US" sz="2800" dirty="0" smtClean="0"/>
              <a:t>➡️ </a:t>
            </a:r>
            <a:r>
              <a:rPr lang="en-US" sz="2800" b="1" dirty="0" smtClean="0"/>
              <a:t>That </a:t>
            </a:r>
            <a:r>
              <a:rPr lang="en-US" sz="2800" b="1" dirty="0"/>
              <a:t>is reactive use, not intended use</a:t>
            </a:r>
            <a:endParaRPr lang="en-US" sz="2800" dirty="0"/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endParaRPr lang="en-US" sz="2800" dirty="0" smtClean="0"/>
          </a:p>
          <a:p>
            <a:pPr marL="0" indent="0">
              <a:buNone/>
            </a:pPr>
            <a:endParaRPr lang="en-US" sz="2800" dirty="0"/>
          </a:p>
        </p:txBody>
      </p:sp>
      <p:pic>
        <p:nvPicPr>
          <p:cNvPr id="4" name="Picture 3" descr="A_digital_vector_graphic_displays_the_Present_Ac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0" y="5669280"/>
            <a:ext cx="1005840" cy="1508760"/>
          </a:xfrm>
          <a:prstGeom prst="rect">
            <a:avLst/>
          </a:prstGeo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34A6A-9D30-4A2E-BF5A-34B0342BF62C}" type="datetime1">
              <a:rPr lang="en-US" smtClean="0"/>
              <a:t>2/1/2026</a:t>
            </a:fld>
            <a:endParaRPr lang="en-US"/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0" y="0"/>
            <a:ext cx="9144000" cy="15875"/>
          </a:xfrm>
          <a:prstGeom prst="rect">
            <a:avLst/>
          </a:prstGeom>
          <a:solidFill>
            <a:srgbClr val="000000"/>
          </a:solidFill>
          <a:ln w="9525">
            <a:solidFill>
              <a:schemeClr val="tx1"/>
            </a:solidFill>
            <a:prstDash val="solid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0" y="15875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9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2️⃣ During a Cyber Attack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73967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4192" y="544665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7030A0"/>
                </a:solidFill>
              </a:rPr>
              <a:t>Preventive vs Reactive Functions in</a:t>
            </a:r>
            <a:br>
              <a:rPr lang="en-US" b="1" dirty="0">
                <a:solidFill>
                  <a:srgbClr val="7030A0"/>
                </a:solidFill>
              </a:rPr>
            </a:br>
            <a:r>
              <a:rPr lang="en-US" b="1" dirty="0">
                <a:solidFill>
                  <a:srgbClr val="7030A0"/>
                </a:solidFill>
              </a:rPr>
              <a:t>NIST Cybersecurity Framework 2.0</a:t>
            </a:r>
            <a:r>
              <a:rPr lang="en-US" b="1" dirty="0"/>
              <a:t/>
            </a:r>
            <a:br>
              <a:rPr lang="en-US" b="1" dirty="0"/>
            </a:br>
            <a:endParaRPr lang="en-US" b="1" dirty="0">
              <a:solidFill>
                <a:srgbClr val="7030A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57395"/>
            <a:ext cx="8123584" cy="4799276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sz="2800" b="1" dirty="0" smtClean="0"/>
              <a:t>PREVENTIVE </a:t>
            </a:r>
            <a:r>
              <a:rPr lang="en-US" sz="2800" b="1" dirty="0"/>
              <a:t>FUNCTIONS</a:t>
            </a:r>
          </a:p>
          <a:p>
            <a:r>
              <a:rPr lang="en-US" sz="2800" i="1" dirty="0"/>
              <a:t>(Before an attack – reduce likelihood &amp; impact)</a:t>
            </a:r>
            <a:endParaRPr lang="en-US" sz="2800" dirty="0"/>
          </a:p>
          <a:p>
            <a:pPr marL="0" indent="0">
              <a:buNone/>
            </a:pPr>
            <a:r>
              <a:rPr lang="en-US" sz="2800" b="1" dirty="0" smtClean="0"/>
              <a:t>1.GOVERN (Strategic </a:t>
            </a:r>
            <a:r>
              <a:rPr lang="en-US" sz="2800" b="1" dirty="0"/>
              <a:t>Prevention)</a:t>
            </a:r>
          </a:p>
          <a:p>
            <a:r>
              <a:rPr lang="en-US" sz="2800" b="1" dirty="0"/>
              <a:t>Nature:</a:t>
            </a:r>
            <a:r>
              <a:rPr lang="en-US" sz="2800" dirty="0"/>
              <a:t> Preventive (Foundational)</a:t>
            </a:r>
          </a:p>
          <a:p>
            <a:pPr marL="0" indent="0">
              <a:buNone/>
            </a:pPr>
            <a:r>
              <a:rPr lang="en-US" sz="2800" b="1" dirty="0"/>
              <a:t>Why preventive:</a:t>
            </a:r>
            <a:endParaRPr lang="en-US" sz="2800" dirty="0"/>
          </a:p>
          <a:p>
            <a:r>
              <a:rPr lang="en-US" sz="2800" dirty="0"/>
              <a:t>Establishes </a:t>
            </a:r>
            <a:r>
              <a:rPr lang="en-US" sz="2800" b="1" dirty="0"/>
              <a:t>policies, roles, accountability</a:t>
            </a:r>
            <a:endParaRPr lang="en-US" sz="2800" dirty="0"/>
          </a:p>
          <a:p>
            <a:r>
              <a:rPr lang="en-US" sz="2800" dirty="0"/>
              <a:t>Aligns cybersecurity with </a:t>
            </a:r>
            <a:r>
              <a:rPr lang="en-US" sz="2800" b="1" dirty="0"/>
              <a:t>risk appetite</a:t>
            </a:r>
            <a:endParaRPr lang="en-US" sz="2800" dirty="0"/>
          </a:p>
          <a:p>
            <a:r>
              <a:rPr lang="en-US" sz="2800" dirty="0"/>
              <a:t>Ensures funding, oversight, and compliance</a:t>
            </a:r>
          </a:p>
          <a:p>
            <a:pPr marL="0" indent="0">
              <a:buNone/>
            </a:pPr>
            <a:r>
              <a:rPr lang="en-US" sz="2800" b="1" dirty="0"/>
              <a:t>Examples:</a:t>
            </a:r>
            <a:endParaRPr lang="en-US" sz="2800" dirty="0"/>
          </a:p>
          <a:p>
            <a:r>
              <a:rPr lang="en-US" sz="2800" dirty="0"/>
              <a:t>Board-approved cyber risk policy</a:t>
            </a:r>
          </a:p>
          <a:p>
            <a:r>
              <a:rPr lang="en-US" sz="2800" dirty="0"/>
              <a:t>Defined ransomware response authority</a:t>
            </a:r>
          </a:p>
          <a:p>
            <a:r>
              <a:rPr lang="en-US" sz="2800" dirty="0"/>
              <a:t>Third-party risk governance</a:t>
            </a:r>
          </a:p>
          <a:p>
            <a:r>
              <a:rPr lang="en-US" sz="2800" dirty="0"/>
              <a:t>📌 </a:t>
            </a:r>
            <a:r>
              <a:rPr lang="en-US" sz="2800" i="1" dirty="0"/>
              <a:t>No governance → high probability of failure.</a:t>
            </a:r>
            <a:endParaRPr lang="en-US" sz="2800" dirty="0"/>
          </a:p>
          <a:p>
            <a:pPr marL="0" indent="0" algn="just">
              <a:buNone/>
            </a:pPr>
            <a:endParaRPr lang="en-US" sz="2800" b="1" dirty="0"/>
          </a:p>
        </p:txBody>
      </p:sp>
      <p:pic>
        <p:nvPicPr>
          <p:cNvPr id="4" name="Picture 3" descr="A_digital_vector_graphic_displays_the_Present_Ac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0" y="5669280"/>
            <a:ext cx="1005840" cy="1508760"/>
          </a:xfrm>
          <a:prstGeom prst="rect">
            <a:avLst/>
          </a:prstGeo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34A6A-9D30-4A2E-BF5A-34B0342BF62C}" type="datetime1">
              <a:rPr lang="en-US" smtClean="0"/>
              <a:t>2/1/2026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165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4192" y="544665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7030A0"/>
                </a:solidFill>
              </a:rPr>
              <a:t>Preventive vs Reactive Functions in</a:t>
            </a:r>
            <a:br>
              <a:rPr lang="en-US" b="1" dirty="0">
                <a:solidFill>
                  <a:srgbClr val="7030A0"/>
                </a:solidFill>
              </a:rPr>
            </a:br>
            <a:r>
              <a:rPr lang="en-US" b="1" dirty="0">
                <a:solidFill>
                  <a:srgbClr val="7030A0"/>
                </a:solidFill>
              </a:rPr>
              <a:t>NIST Cybersecurity Framework 2.0</a:t>
            </a:r>
            <a:r>
              <a:rPr lang="en-US" b="1" dirty="0"/>
              <a:t/>
            </a:r>
            <a:br>
              <a:rPr lang="en-US" b="1" dirty="0"/>
            </a:br>
            <a:endParaRPr lang="en-US" b="1" dirty="0">
              <a:solidFill>
                <a:srgbClr val="7030A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57395"/>
            <a:ext cx="8123584" cy="4799276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800" b="1" dirty="0" smtClean="0"/>
              <a:t>2.IDENTIFY </a:t>
            </a:r>
            <a:r>
              <a:rPr lang="en-US" sz="2800" b="1" dirty="0"/>
              <a:t>(Risk Prevention)</a:t>
            </a:r>
          </a:p>
          <a:p>
            <a:pPr marL="0" indent="0">
              <a:buNone/>
            </a:pPr>
            <a:r>
              <a:rPr lang="en-US" sz="2800" b="1" dirty="0"/>
              <a:t>Nature:</a:t>
            </a:r>
            <a:r>
              <a:rPr lang="en-US" sz="2800" dirty="0"/>
              <a:t> Preventive</a:t>
            </a:r>
          </a:p>
          <a:p>
            <a:pPr marL="0" indent="0">
              <a:buNone/>
            </a:pPr>
            <a:r>
              <a:rPr lang="en-US" sz="2800" b="1" dirty="0"/>
              <a:t>Why preventive:</a:t>
            </a:r>
            <a:endParaRPr lang="en-US" sz="2800" dirty="0"/>
          </a:p>
          <a:p>
            <a:r>
              <a:rPr lang="en-US" sz="2800" dirty="0"/>
              <a:t>Identifies assets, data, threats, and risks </a:t>
            </a:r>
            <a:r>
              <a:rPr lang="en-US" sz="2800" b="1" dirty="0"/>
              <a:t>before exploitation</a:t>
            </a:r>
            <a:endParaRPr lang="en-US" sz="2800" dirty="0"/>
          </a:p>
          <a:p>
            <a:r>
              <a:rPr lang="en-US" sz="2800" dirty="0"/>
              <a:t>Enables prioritization of critical systems</a:t>
            </a:r>
          </a:p>
          <a:p>
            <a:pPr marL="0" indent="0">
              <a:buNone/>
            </a:pPr>
            <a:r>
              <a:rPr lang="en-US" sz="2800" b="1" dirty="0"/>
              <a:t>Examples:</a:t>
            </a:r>
            <a:endParaRPr lang="en-US" sz="2800" dirty="0"/>
          </a:p>
          <a:p>
            <a:r>
              <a:rPr lang="en-US" sz="2800" dirty="0"/>
              <a:t>Asset inventory</a:t>
            </a:r>
          </a:p>
          <a:p>
            <a:r>
              <a:rPr lang="en-US" sz="2800" dirty="0"/>
              <a:t>Data classification</a:t>
            </a:r>
          </a:p>
          <a:p>
            <a:r>
              <a:rPr lang="en-US" sz="2800" dirty="0"/>
              <a:t>Risk assessment &amp; BIA</a:t>
            </a:r>
          </a:p>
          <a:p>
            <a:pPr marL="0" indent="0" algn="just">
              <a:buNone/>
            </a:pPr>
            <a:endParaRPr lang="en-US" sz="2800" b="1" dirty="0"/>
          </a:p>
        </p:txBody>
      </p:sp>
      <p:pic>
        <p:nvPicPr>
          <p:cNvPr id="4" name="Picture 3" descr="A_digital_vector_graphic_displays_the_Present_Ac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0" y="5669280"/>
            <a:ext cx="1005840" cy="1508760"/>
          </a:xfrm>
          <a:prstGeom prst="rect">
            <a:avLst/>
          </a:prstGeo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34A6A-9D30-4A2E-BF5A-34B0342BF62C}" type="datetime1">
              <a:rPr lang="en-US" smtClean="0"/>
              <a:t>2/1/2026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818272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4192" y="544665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7030A0"/>
                </a:solidFill>
              </a:rPr>
              <a:t>Preventive vs Reactive Functions in</a:t>
            </a:r>
            <a:br>
              <a:rPr lang="en-US" b="1" dirty="0">
                <a:solidFill>
                  <a:srgbClr val="7030A0"/>
                </a:solidFill>
              </a:rPr>
            </a:br>
            <a:r>
              <a:rPr lang="en-US" b="1" dirty="0">
                <a:solidFill>
                  <a:srgbClr val="7030A0"/>
                </a:solidFill>
              </a:rPr>
              <a:t>NIST Cybersecurity Framework 2.0</a:t>
            </a:r>
            <a:r>
              <a:rPr lang="en-US" b="1" dirty="0"/>
              <a:t/>
            </a:r>
            <a:br>
              <a:rPr lang="en-US" b="1" dirty="0"/>
            </a:br>
            <a:endParaRPr lang="en-US" b="1" dirty="0">
              <a:solidFill>
                <a:srgbClr val="7030A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57395"/>
            <a:ext cx="8123584" cy="479927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b="1" dirty="0" smtClean="0"/>
              <a:t>3.PROTECT </a:t>
            </a:r>
            <a:r>
              <a:rPr lang="en-US" sz="2800" b="1" dirty="0"/>
              <a:t>(Control-Based Prevention)</a:t>
            </a:r>
          </a:p>
          <a:p>
            <a:r>
              <a:rPr lang="en-US" sz="2800" b="1" dirty="0"/>
              <a:t>Nature:</a:t>
            </a:r>
            <a:r>
              <a:rPr lang="en-US" sz="2800" dirty="0"/>
              <a:t> Preventive</a:t>
            </a:r>
          </a:p>
          <a:p>
            <a:pPr marL="0" indent="0">
              <a:buNone/>
            </a:pPr>
            <a:r>
              <a:rPr lang="en-US" sz="2800" b="1" dirty="0"/>
              <a:t>Why preventive:</a:t>
            </a:r>
            <a:endParaRPr lang="en-US" sz="2800" dirty="0"/>
          </a:p>
          <a:p>
            <a:r>
              <a:rPr lang="en-US" sz="2800" dirty="0"/>
              <a:t>Implements safeguards to </a:t>
            </a:r>
            <a:r>
              <a:rPr lang="en-US" sz="2800" b="1" dirty="0"/>
              <a:t>stop or limit attacks</a:t>
            </a:r>
            <a:endParaRPr lang="en-US" sz="2800" dirty="0"/>
          </a:p>
          <a:p>
            <a:pPr marL="0" indent="0">
              <a:buNone/>
            </a:pPr>
            <a:r>
              <a:rPr lang="en-US" sz="2800" b="1" dirty="0"/>
              <a:t>Examples:</a:t>
            </a:r>
            <a:endParaRPr lang="en-US" sz="2800" dirty="0"/>
          </a:p>
          <a:p>
            <a:r>
              <a:rPr lang="en-US" sz="2800" dirty="0"/>
              <a:t>MFA, access control</a:t>
            </a:r>
          </a:p>
          <a:p>
            <a:r>
              <a:rPr lang="en-US" sz="2800" dirty="0"/>
              <a:t>Backup strategy</a:t>
            </a:r>
          </a:p>
          <a:p>
            <a:r>
              <a:rPr lang="en-US" sz="2800" dirty="0"/>
              <a:t>Security awareness training</a:t>
            </a:r>
          </a:p>
          <a:p>
            <a:r>
              <a:rPr lang="en-US" sz="2800" dirty="0"/>
              <a:t>Network segmentation</a:t>
            </a:r>
          </a:p>
          <a:p>
            <a:pPr marL="0" indent="0" algn="just">
              <a:buNone/>
            </a:pPr>
            <a:endParaRPr lang="en-US" sz="2800" b="1" dirty="0"/>
          </a:p>
        </p:txBody>
      </p:sp>
      <p:pic>
        <p:nvPicPr>
          <p:cNvPr id="4" name="Picture 3" descr="A_digital_vector_graphic_displays_the_Present_Ac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0" y="5669280"/>
            <a:ext cx="1005840" cy="1508760"/>
          </a:xfrm>
          <a:prstGeom prst="rect">
            <a:avLst/>
          </a:prstGeo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34A6A-9D30-4A2E-BF5A-34B0342BF62C}" type="datetime1">
              <a:rPr lang="en-US" smtClean="0"/>
              <a:t>2/1/2026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795845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4192" y="544665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7030A0"/>
                </a:solidFill>
              </a:rPr>
              <a:t>Preventive vs Reactive Functions in</a:t>
            </a:r>
            <a:br>
              <a:rPr lang="en-US" b="1" dirty="0">
                <a:solidFill>
                  <a:srgbClr val="7030A0"/>
                </a:solidFill>
              </a:rPr>
            </a:br>
            <a:r>
              <a:rPr lang="en-US" b="1" dirty="0">
                <a:solidFill>
                  <a:srgbClr val="7030A0"/>
                </a:solidFill>
              </a:rPr>
              <a:t>NIST Cybersecurity Framework 2.0</a:t>
            </a:r>
            <a:r>
              <a:rPr lang="en-US" b="1" dirty="0"/>
              <a:t/>
            </a:r>
            <a:br>
              <a:rPr lang="en-US" b="1" dirty="0"/>
            </a:br>
            <a:endParaRPr lang="en-US" b="1" dirty="0">
              <a:solidFill>
                <a:srgbClr val="7030A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57395"/>
            <a:ext cx="8123584" cy="4799276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sz="2800" b="1" dirty="0" smtClean="0"/>
              <a:t> </a:t>
            </a:r>
            <a:r>
              <a:rPr lang="en-US" sz="2800" b="1" dirty="0"/>
              <a:t>DETECTIVE FUNCTION</a:t>
            </a:r>
          </a:p>
          <a:p>
            <a:r>
              <a:rPr lang="en-US" sz="2800" i="1" dirty="0"/>
              <a:t>(Bridges prevention and reaction)</a:t>
            </a:r>
            <a:endParaRPr lang="en-US" sz="2800" dirty="0"/>
          </a:p>
          <a:p>
            <a:pPr marL="0" indent="0">
              <a:buNone/>
            </a:pPr>
            <a:r>
              <a:rPr lang="en-US" sz="2800" b="1" dirty="0" smtClean="0"/>
              <a:t>4.DETECT</a:t>
            </a:r>
            <a:endParaRPr lang="en-US" sz="2800" b="1" dirty="0"/>
          </a:p>
          <a:p>
            <a:pPr marL="0" indent="0">
              <a:buNone/>
            </a:pPr>
            <a:r>
              <a:rPr lang="en-US" sz="2800" b="1" dirty="0"/>
              <a:t>Nature:</a:t>
            </a:r>
            <a:r>
              <a:rPr lang="en-US" sz="2800" dirty="0"/>
              <a:t> Preventive + Reactive (Early-Warning)</a:t>
            </a:r>
          </a:p>
          <a:p>
            <a:pPr marL="0" indent="0">
              <a:buNone/>
            </a:pPr>
            <a:r>
              <a:rPr lang="en-US" sz="2800" b="1" dirty="0"/>
              <a:t>Why both:</a:t>
            </a:r>
            <a:endParaRPr lang="en-US" sz="2800" dirty="0"/>
          </a:p>
          <a:p>
            <a:r>
              <a:rPr lang="en-US" sz="2800" dirty="0"/>
              <a:t>Does not stop attacks</a:t>
            </a:r>
          </a:p>
          <a:p>
            <a:r>
              <a:rPr lang="en-US" sz="2800" b="1" dirty="0"/>
              <a:t>Reduces dwell time</a:t>
            </a:r>
            <a:endParaRPr lang="en-US" sz="2800" dirty="0"/>
          </a:p>
          <a:p>
            <a:r>
              <a:rPr lang="en-US" sz="2800" dirty="0"/>
              <a:t>Enables faster response</a:t>
            </a:r>
          </a:p>
          <a:p>
            <a:pPr marL="0" indent="0">
              <a:buNone/>
            </a:pPr>
            <a:r>
              <a:rPr lang="en-US" sz="2800" b="1" dirty="0"/>
              <a:t>Examples:</a:t>
            </a:r>
            <a:endParaRPr lang="en-US" sz="2800" dirty="0"/>
          </a:p>
          <a:p>
            <a:r>
              <a:rPr lang="en-US" sz="2800" dirty="0"/>
              <a:t>SIEM alerts</a:t>
            </a:r>
          </a:p>
          <a:p>
            <a:r>
              <a:rPr lang="en-US" sz="2800" dirty="0"/>
              <a:t>Log monitoring</a:t>
            </a:r>
          </a:p>
          <a:p>
            <a:r>
              <a:rPr lang="en-US" sz="2800" dirty="0"/>
              <a:t>Anomaly detection</a:t>
            </a:r>
          </a:p>
          <a:p>
            <a:r>
              <a:rPr lang="en-US" sz="2800" dirty="0"/>
              <a:t>📌 </a:t>
            </a:r>
            <a:r>
              <a:rPr lang="en-US" sz="2800" i="1" dirty="0"/>
              <a:t>Early detection = less damage.</a:t>
            </a:r>
            <a:endParaRPr lang="en-US" sz="2800" dirty="0"/>
          </a:p>
          <a:p>
            <a:pPr marL="0" indent="0" algn="just">
              <a:buNone/>
            </a:pPr>
            <a:endParaRPr lang="en-US" sz="2800" b="1" dirty="0"/>
          </a:p>
        </p:txBody>
      </p:sp>
      <p:pic>
        <p:nvPicPr>
          <p:cNvPr id="4" name="Picture 3" descr="A_digital_vector_graphic_displays_the_Present_Ac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0" y="5669280"/>
            <a:ext cx="1005840" cy="1508760"/>
          </a:xfrm>
          <a:prstGeom prst="rect">
            <a:avLst/>
          </a:prstGeo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34A6A-9D30-4A2E-BF5A-34B0342BF62C}" type="datetime1">
              <a:rPr lang="en-US" smtClean="0"/>
              <a:t>2/1/2026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39489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4192" y="544665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7030A0"/>
                </a:solidFill>
              </a:rPr>
              <a:t>Preventive vs Reactive Functions in</a:t>
            </a:r>
            <a:br>
              <a:rPr lang="en-US" b="1" dirty="0">
                <a:solidFill>
                  <a:srgbClr val="7030A0"/>
                </a:solidFill>
              </a:rPr>
            </a:br>
            <a:r>
              <a:rPr lang="en-US" b="1" dirty="0">
                <a:solidFill>
                  <a:srgbClr val="7030A0"/>
                </a:solidFill>
              </a:rPr>
              <a:t>NIST Cybersecurity Framework 2.0</a:t>
            </a:r>
            <a:r>
              <a:rPr lang="en-US" b="1" dirty="0"/>
              <a:t/>
            </a:r>
            <a:br>
              <a:rPr lang="en-US" b="1" dirty="0"/>
            </a:br>
            <a:endParaRPr lang="en-US" b="1" dirty="0">
              <a:solidFill>
                <a:srgbClr val="7030A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57395"/>
            <a:ext cx="8123584" cy="4799276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2800" b="1" dirty="0" smtClean="0"/>
              <a:t>REACTIVE </a:t>
            </a:r>
            <a:r>
              <a:rPr lang="en-US" sz="2800" b="1" dirty="0"/>
              <a:t>FUNCTIONS</a:t>
            </a:r>
          </a:p>
          <a:p>
            <a:r>
              <a:rPr lang="en-US" sz="2800" i="1" dirty="0"/>
              <a:t>(During &amp; after an attack – damage control &amp; recovery)</a:t>
            </a:r>
            <a:endParaRPr lang="en-US" sz="2800" dirty="0"/>
          </a:p>
          <a:p>
            <a:pPr marL="0" indent="0">
              <a:buNone/>
            </a:pPr>
            <a:r>
              <a:rPr lang="en-US" sz="2800" b="1" dirty="0" smtClean="0"/>
              <a:t>5.RESPOND</a:t>
            </a:r>
            <a:endParaRPr lang="en-US" sz="2800" b="1" dirty="0"/>
          </a:p>
          <a:p>
            <a:pPr marL="0" indent="0">
              <a:buNone/>
            </a:pPr>
            <a:r>
              <a:rPr lang="en-US" sz="2800" b="1" dirty="0"/>
              <a:t>Nature:</a:t>
            </a:r>
            <a:r>
              <a:rPr lang="en-US" sz="2800" dirty="0"/>
              <a:t> Reactive</a:t>
            </a:r>
          </a:p>
          <a:p>
            <a:pPr marL="0" indent="0">
              <a:buNone/>
            </a:pPr>
            <a:r>
              <a:rPr lang="en-US" sz="2800" b="1" dirty="0"/>
              <a:t>Why reactive:</a:t>
            </a:r>
            <a:endParaRPr lang="en-US" sz="2800" dirty="0"/>
          </a:p>
          <a:p>
            <a:r>
              <a:rPr lang="en-US" sz="2800" dirty="0"/>
              <a:t>Activated </a:t>
            </a:r>
            <a:r>
              <a:rPr lang="en-US" sz="2800" b="1" dirty="0"/>
              <a:t>after an incident is detected</a:t>
            </a:r>
            <a:endParaRPr lang="en-US" sz="2800" dirty="0"/>
          </a:p>
          <a:p>
            <a:r>
              <a:rPr lang="en-US" sz="2800" dirty="0"/>
              <a:t>Focuses on containment, eradication, communication</a:t>
            </a:r>
          </a:p>
          <a:p>
            <a:pPr marL="0" indent="0">
              <a:buNone/>
            </a:pPr>
            <a:r>
              <a:rPr lang="en-US" sz="2800" b="1" dirty="0"/>
              <a:t>Examples:</a:t>
            </a:r>
            <a:endParaRPr lang="en-US" sz="2800" dirty="0"/>
          </a:p>
          <a:p>
            <a:r>
              <a:rPr lang="en-US" sz="2800" dirty="0"/>
              <a:t>Incident response execution</a:t>
            </a:r>
          </a:p>
          <a:p>
            <a:r>
              <a:rPr lang="en-US" sz="2800" dirty="0"/>
              <a:t>Regulatory notification</a:t>
            </a:r>
          </a:p>
          <a:p>
            <a:r>
              <a:rPr lang="en-US" sz="2800" dirty="0"/>
              <a:t>Ransomware containment</a:t>
            </a:r>
          </a:p>
          <a:p>
            <a:pPr marL="0" indent="0" algn="just">
              <a:buNone/>
            </a:pPr>
            <a:endParaRPr lang="en-US" sz="2800" b="1" dirty="0"/>
          </a:p>
        </p:txBody>
      </p:sp>
      <p:pic>
        <p:nvPicPr>
          <p:cNvPr id="4" name="Picture 3" descr="A_digital_vector_graphic_displays_the_Present_Ac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0" y="5669280"/>
            <a:ext cx="1005840" cy="1508760"/>
          </a:xfrm>
          <a:prstGeom prst="rect">
            <a:avLst/>
          </a:prstGeo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34A6A-9D30-4A2E-BF5A-34B0342BF62C}" type="datetime1">
              <a:rPr lang="en-US" smtClean="0"/>
              <a:t>2/1/2026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885098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4192" y="544665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7030A0"/>
                </a:solidFill>
              </a:rPr>
              <a:t>Preventive vs Reactive Functions in</a:t>
            </a:r>
            <a:br>
              <a:rPr lang="en-US" b="1" dirty="0">
                <a:solidFill>
                  <a:srgbClr val="7030A0"/>
                </a:solidFill>
              </a:rPr>
            </a:br>
            <a:r>
              <a:rPr lang="en-US" b="1" dirty="0">
                <a:solidFill>
                  <a:srgbClr val="7030A0"/>
                </a:solidFill>
              </a:rPr>
              <a:t>NIST Cybersecurity Framework 2.0</a:t>
            </a:r>
            <a:r>
              <a:rPr lang="en-US" b="1" dirty="0"/>
              <a:t/>
            </a:r>
            <a:br>
              <a:rPr lang="en-US" b="1" dirty="0"/>
            </a:br>
            <a:endParaRPr lang="en-US" b="1" dirty="0">
              <a:solidFill>
                <a:srgbClr val="7030A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57395"/>
            <a:ext cx="8123584" cy="479927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b="1" dirty="0" smtClean="0"/>
              <a:t>6. </a:t>
            </a:r>
            <a:r>
              <a:rPr lang="en-US" sz="2800" b="1" dirty="0"/>
              <a:t>RECOVER</a:t>
            </a:r>
          </a:p>
          <a:p>
            <a:r>
              <a:rPr lang="en-US" sz="2800" b="1" dirty="0"/>
              <a:t>Nature:</a:t>
            </a:r>
            <a:r>
              <a:rPr lang="en-US" sz="2800" dirty="0"/>
              <a:t> Reactive + Corrective</a:t>
            </a:r>
          </a:p>
          <a:p>
            <a:pPr marL="0" indent="0">
              <a:buNone/>
            </a:pPr>
            <a:r>
              <a:rPr lang="en-US" sz="2800" b="1" dirty="0"/>
              <a:t>Why reactive:</a:t>
            </a:r>
            <a:endParaRPr lang="en-US" sz="2800" dirty="0"/>
          </a:p>
          <a:p>
            <a:r>
              <a:rPr lang="en-US" sz="2800" dirty="0"/>
              <a:t>Restores systems and services</a:t>
            </a:r>
          </a:p>
          <a:p>
            <a:r>
              <a:rPr lang="en-US" sz="2800" dirty="0"/>
              <a:t>Improves resilience for the future</a:t>
            </a:r>
          </a:p>
          <a:p>
            <a:pPr marL="0" indent="0">
              <a:buNone/>
            </a:pPr>
            <a:r>
              <a:rPr lang="en-US" sz="2800" b="1" dirty="0"/>
              <a:t>Examples:</a:t>
            </a:r>
            <a:endParaRPr lang="en-US" sz="2800" dirty="0"/>
          </a:p>
          <a:p>
            <a:r>
              <a:rPr lang="en-US" sz="2800" dirty="0"/>
              <a:t>System restoration</a:t>
            </a:r>
          </a:p>
          <a:p>
            <a:r>
              <a:rPr lang="en-US" sz="2800" dirty="0"/>
              <a:t>DR/BCP activation</a:t>
            </a:r>
          </a:p>
          <a:p>
            <a:r>
              <a:rPr lang="en-US" sz="2800" dirty="0"/>
              <a:t>Lessons learned &amp; improvement</a:t>
            </a:r>
          </a:p>
          <a:p>
            <a:pPr marL="0" indent="0" algn="just">
              <a:buNone/>
            </a:pPr>
            <a:endParaRPr lang="en-US" sz="2800" b="1" dirty="0"/>
          </a:p>
        </p:txBody>
      </p:sp>
      <p:pic>
        <p:nvPicPr>
          <p:cNvPr id="4" name="Picture 3" descr="A_digital_vector_graphic_displays_the_Present_Ac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0" y="5669280"/>
            <a:ext cx="1005840" cy="1508760"/>
          </a:xfrm>
          <a:prstGeom prst="rect">
            <a:avLst/>
          </a:prstGeo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34A6A-9D30-4A2E-BF5A-34B0342BF62C}" type="datetime1">
              <a:rPr lang="en-US" smtClean="0"/>
              <a:t>2/1/2026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367142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1184" y="363746"/>
            <a:ext cx="8229600" cy="1143000"/>
          </a:xfrm>
        </p:spPr>
        <p:txBody>
          <a:bodyPr>
            <a:normAutofit fontScale="90000"/>
          </a:bodyPr>
          <a:lstStyle/>
          <a:p>
            <a:pPr>
              <a:defRPr sz="4200" b="1">
                <a:solidFill>
                  <a:srgbClr val="460078"/>
                </a:solidFill>
              </a:defRPr>
            </a:pPr>
            <a:r>
              <a:rPr lang="en-US" dirty="0"/>
              <a:t>Why Security Frameworks Are Important</a:t>
            </a:r>
            <a:endParaRPr lang="en-US" b="1" dirty="0">
              <a:solidFill>
                <a:srgbClr val="460078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57395"/>
            <a:ext cx="8123584" cy="4799276"/>
          </a:xfrm>
        </p:spPr>
        <p:txBody>
          <a:bodyPr>
            <a:normAutofit/>
          </a:bodyPr>
          <a:lstStyle/>
          <a:p>
            <a:pPr>
              <a:defRPr sz="1800">
                <a:solidFill>
                  <a:srgbClr val="202020"/>
                </a:solidFill>
              </a:defRPr>
            </a:pPr>
            <a:r>
              <a:rPr lang="en-US" sz="2800" dirty="0"/>
              <a:t>They provide consistency in security practices</a:t>
            </a:r>
          </a:p>
          <a:p>
            <a:pPr>
              <a:defRPr sz="1800">
                <a:solidFill>
                  <a:srgbClr val="202020"/>
                </a:solidFill>
              </a:defRPr>
            </a:pPr>
            <a:r>
              <a:rPr lang="en-US" sz="2800" dirty="0"/>
              <a:t>Support compliance with legal and regulatory requirements</a:t>
            </a:r>
          </a:p>
          <a:p>
            <a:pPr>
              <a:defRPr sz="1800">
                <a:solidFill>
                  <a:srgbClr val="202020"/>
                </a:solidFill>
              </a:defRPr>
            </a:pPr>
            <a:r>
              <a:rPr lang="en-US" sz="2800" dirty="0"/>
              <a:t>Help </a:t>
            </a:r>
            <a:r>
              <a:rPr lang="en-US" sz="2800" dirty="0" err="1"/>
              <a:t>organisations</a:t>
            </a:r>
            <a:r>
              <a:rPr lang="en-US" sz="2800" dirty="0"/>
              <a:t> identify and manage risks systematically</a:t>
            </a:r>
          </a:p>
          <a:p>
            <a:pPr marL="0" indent="0" algn="just">
              <a:buNone/>
            </a:pPr>
            <a:endParaRPr lang="en-US" sz="2800" b="1" dirty="0"/>
          </a:p>
        </p:txBody>
      </p:sp>
      <p:pic>
        <p:nvPicPr>
          <p:cNvPr id="4" name="Picture 3" descr="A_digital_vector_graphic_displays_the_Present_Ac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0" y="5669280"/>
            <a:ext cx="1005840" cy="1508760"/>
          </a:xfrm>
          <a:prstGeom prst="rect">
            <a:avLst/>
          </a:prstGeo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34A6A-9D30-4A2E-BF5A-34B0342BF62C}" type="datetime1">
              <a:rPr lang="en-US" smtClean="0"/>
              <a:t>2/1/2026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349162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1184" y="363746"/>
            <a:ext cx="8229600" cy="1143000"/>
          </a:xfrm>
        </p:spPr>
        <p:txBody>
          <a:bodyPr>
            <a:normAutofit fontScale="90000"/>
          </a:bodyPr>
          <a:lstStyle/>
          <a:p>
            <a:pPr>
              <a:defRPr sz="4200" b="1">
                <a:solidFill>
                  <a:srgbClr val="460078"/>
                </a:solidFill>
              </a:defRPr>
            </a:pPr>
            <a:r>
              <a:rPr lang="en-US" dirty="0"/>
              <a:t>Key Components of a Security Framework</a:t>
            </a:r>
            <a:endParaRPr lang="en-US" b="1" dirty="0">
              <a:solidFill>
                <a:srgbClr val="460078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57395"/>
            <a:ext cx="8123584" cy="4799276"/>
          </a:xfrm>
        </p:spPr>
        <p:txBody>
          <a:bodyPr>
            <a:normAutofit/>
          </a:bodyPr>
          <a:lstStyle/>
          <a:p>
            <a:pPr>
              <a:defRPr sz="1800">
                <a:solidFill>
                  <a:srgbClr val="202020"/>
                </a:solidFill>
              </a:defRPr>
            </a:pPr>
            <a:r>
              <a:rPr lang="en-US" sz="2800" dirty="0"/>
              <a:t>Security policies define rules and expectations</a:t>
            </a:r>
          </a:p>
          <a:p>
            <a:pPr>
              <a:defRPr sz="1800">
                <a:solidFill>
                  <a:srgbClr val="202020"/>
                </a:solidFill>
              </a:defRPr>
            </a:pPr>
            <a:r>
              <a:rPr lang="en-US" sz="2800" dirty="0"/>
              <a:t>Standards and guidelines support policy implementation</a:t>
            </a:r>
          </a:p>
          <a:p>
            <a:pPr>
              <a:defRPr sz="1800">
                <a:solidFill>
                  <a:srgbClr val="202020"/>
                </a:solidFill>
              </a:defRPr>
            </a:pPr>
            <a:r>
              <a:rPr lang="en-US" sz="2800" dirty="0"/>
              <a:t>Controls enforce protection mechanisms</a:t>
            </a:r>
          </a:p>
          <a:p>
            <a:pPr marL="0" indent="0" algn="just">
              <a:buNone/>
            </a:pPr>
            <a:endParaRPr lang="en-US" sz="2800" b="1" dirty="0"/>
          </a:p>
        </p:txBody>
      </p:sp>
      <p:pic>
        <p:nvPicPr>
          <p:cNvPr id="4" name="Picture 3" descr="A_digital_vector_graphic_displays_the_Present_Ac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0" y="5669280"/>
            <a:ext cx="1005840" cy="1508760"/>
          </a:xfrm>
          <a:prstGeom prst="rect">
            <a:avLst/>
          </a:prstGeo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34A6A-9D30-4A2E-BF5A-34B0342BF62C}" type="datetime1">
              <a:rPr lang="en-US" smtClean="0"/>
              <a:t>2/1/2026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84416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1184" y="363746"/>
            <a:ext cx="8229600" cy="1143000"/>
          </a:xfrm>
        </p:spPr>
        <p:txBody>
          <a:bodyPr>
            <a:normAutofit/>
          </a:bodyPr>
          <a:lstStyle/>
          <a:p>
            <a:pPr>
              <a:defRPr sz="4200" b="1">
                <a:solidFill>
                  <a:srgbClr val="460078"/>
                </a:solidFill>
              </a:defRPr>
            </a:pPr>
            <a:r>
              <a:rPr lang="en-US" dirty="0"/>
              <a:t>Security Governance</a:t>
            </a:r>
            <a:endParaRPr lang="en-US" b="1" dirty="0">
              <a:solidFill>
                <a:srgbClr val="460078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57395"/>
            <a:ext cx="8123584" cy="4799276"/>
          </a:xfrm>
        </p:spPr>
        <p:txBody>
          <a:bodyPr>
            <a:normAutofit/>
          </a:bodyPr>
          <a:lstStyle/>
          <a:p>
            <a:pPr>
              <a:defRPr sz="1800">
                <a:solidFill>
                  <a:srgbClr val="202020"/>
                </a:solidFill>
              </a:defRPr>
            </a:pPr>
            <a:r>
              <a:rPr lang="en-US" sz="2800" dirty="0"/>
              <a:t>Governance defines responsibility and accountability for security</a:t>
            </a:r>
          </a:p>
          <a:p>
            <a:pPr>
              <a:defRPr sz="1800">
                <a:solidFill>
                  <a:srgbClr val="202020"/>
                </a:solidFill>
              </a:defRPr>
            </a:pPr>
            <a:r>
              <a:rPr lang="en-US" sz="2800" dirty="0"/>
              <a:t>Senior management oversight is essential</a:t>
            </a:r>
          </a:p>
          <a:p>
            <a:pPr>
              <a:defRPr sz="1800">
                <a:solidFill>
                  <a:srgbClr val="202020"/>
                </a:solidFill>
              </a:defRPr>
            </a:pPr>
            <a:r>
              <a:rPr lang="en-US" sz="2800" dirty="0"/>
              <a:t>Clear roles improve decision-making and risk ownership</a:t>
            </a:r>
          </a:p>
        </p:txBody>
      </p:sp>
      <p:pic>
        <p:nvPicPr>
          <p:cNvPr id="4" name="Picture 3" descr="A_digital_vector_graphic_displays_the_Present_Ac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0" y="5669280"/>
            <a:ext cx="1005840" cy="1508760"/>
          </a:xfrm>
          <a:prstGeom prst="rect">
            <a:avLst/>
          </a:prstGeo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34A6A-9D30-4A2E-BF5A-34B0342BF62C}" type="datetime1">
              <a:rPr lang="en-US" smtClean="0"/>
              <a:t>2/1/2026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620806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1184" y="363746"/>
            <a:ext cx="8229600" cy="1143000"/>
          </a:xfrm>
        </p:spPr>
        <p:txBody>
          <a:bodyPr>
            <a:normAutofit/>
          </a:bodyPr>
          <a:lstStyle/>
          <a:p>
            <a:pPr>
              <a:defRPr sz="4200" b="1">
                <a:solidFill>
                  <a:srgbClr val="460078"/>
                </a:solidFill>
              </a:defRPr>
            </a:pPr>
            <a:r>
              <a:rPr lang="en-US" dirty="0"/>
              <a:t>Risk Management Fundamentals</a:t>
            </a:r>
            <a:endParaRPr lang="en-US" b="1" dirty="0">
              <a:solidFill>
                <a:srgbClr val="460078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57395"/>
            <a:ext cx="8123584" cy="4799276"/>
          </a:xfrm>
        </p:spPr>
        <p:txBody>
          <a:bodyPr>
            <a:normAutofit/>
          </a:bodyPr>
          <a:lstStyle/>
          <a:p>
            <a:pPr>
              <a:defRPr sz="1800">
                <a:solidFill>
                  <a:srgbClr val="202020"/>
                </a:solidFill>
              </a:defRPr>
            </a:pPr>
            <a:r>
              <a:rPr lang="en-US" sz="2800" dirty="0"/>
              <a:t>Risk is the likelihood of a threat exploiting a vulnerability</a:t>
            </a:r>
          </a:p>
          <a:p>
            <a:pPr>
              <a:defRPr sz="1800">
                <a:solidFill>
                  <a:srgbClr val="202020"/>
                </a:solidFill>
              </a:defRPr>
            </a:pPr>
            <a:r>
              <a:rPr lang="en-US" sz="2800" dirty="0"/>
              <a:t>Risk management identifies, analyses, and mitigates risks</a:t>
            </a:r>
          </a:p>
          <a:p>
            <a:pPr>
              <a:defRPr sz="1800">
                <a:solidFill>
                  <a:srgbClr val="202020"/>
                </a:solidFill>
              </a:defRPr>
            </a:pPr>
            <a:r>
              <a:rPr lang="en-US" sz="2800" dirty="0"/>
              <a:t>Frameworks embed risk management into security planning</a:t>
            </a:r>
          </a:p>
        </p:txBody>
      </p:sp>
      <p:pic>
        <p:nvPicPr>
          <p:cNvPr id="4" name="Picture 3" descr="A_digital_vector_graphic_displays_the_Present_Ac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0" y="5669280"/>
            <a:ext cx="1005840" cy="1508760"/>
          </a:xfrm>
          <a:prstGeom prst="rect">
            <a:avLst/>
          </a:prstGeo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34A6A-9D30-4A2E-BF5A-34B0342BF62C}" type="datetime1">
              <a:rPr lang="en-US" smtClean="0"/>
              <a:t>2/1/2026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556602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1184" y="363746"/>
            <a:ext cx="8229600" cy="1143000"/>
          </a:xfrm>
        </p:spPr>
        <p:txBody>
          <a:bodyPr>
            <a:normAutofit/>
          </a:bodyPr>
          <a:lstStyle/>
          <a:p>
            <a:pPr>
              <a:defRPr sz="4200" b="1">
                <a:solidFill>
                  <a:srgbClr val="460078"/>
                </a:solidFill>
              </a:defRPr>
            </a:pPr>
            <a:r>
              <a:rPr lang="en-US" dirty="0"/>
              <a:t>Risk Assessment Process</a:t>
            </a:r>
            <a:endParaRPr lang="en-US" b="1" dirty="0">
              <a:solidFill>
                <a:srgbClr val="460078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57395"/>
            <a:ext cx="8123584" cy="4799276"/>
          </a:xfrm>
        </p:spPr>
        <p:txBody>
          <a:bodyPr>
            <a:normAutofit/>
          </a:bodyPr>
          <a:lstStyle/>
          <a:p>
            <a:pPr>
              <a:defRPr sz="1800">
                <a:solidFill>
                  <a:srgbClr val="202020"/>
                </a:solidFill>
              </a:defRPr>
            </a:pPr>
            <a:r>
              <a:rPr lang="en-US" sz="2800" dirty="0"/>
              <a:t>Identify assets and threats</a:t>
            </a:r>
          </a:p>
          <a:p>
            <a:pPr>
              <a:defRPr sz="1800">
                <a:solidFill>
                  <a:srgbClr val="202020"/>
                </a:solidFill>
              </a:defRPr>
            </a:pPr>
            <a:r>
              <a:rPr lang="en-US" sz="2800" dirty="0"/>
              <a:t>Assess vulnerabilities and potential impact</a:t>
            </a:r>
          </a:p>
          <a:p>
            <a:pPr>
              <a:defRPr sz="1800">
                <a:solidFill>
                  <a:srgbClr val="202020"/>
                </a:solidFill>
              </a:defRPr>
            </a:pPr>
            <a:r>
              <a:rPr lang="en-US" sz="2800" dirty="0" err="1"/>
              <a:t>Prioritise</a:t>
            </a:r>
            <a:r>
              <a:rPr lang="en-US" sz="2800" dirty="0"/>
              <a:t> risks based on likelihood and severity</a:t>
            </a:r>
          </a:p>
        </p:txBody>
      </p:sp>
      <p:pic>
        <p:nvPicPr>
          <p:cNvPr id="4" name="Picture 3" descr="A_digital_vector_graphic_displays_the_Present_Ac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0" y="5669280"/>
            <a:ext cx="1005840" cy="1508760"/>
          </a:xfrm>
          <a:prstGeom prst="rect">
            <a:avLst/>
          </a:prstGeo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34A6A-9D30-4A2E-BF5A-34B0342BF62C}" type="datetime1">
              <a:rPr lang="en-US" smtClean="0"/>
              <a:t>2/1/2026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389052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1184" y="363746"/>
            <a:ext cx="8229600" cy="1143000"/>
          </a:xfrm>
        </p:spPr>
        <p:txBody>
          <a:bodyPr>
            <a:normAutofit/>
          </a:bodyPr>
          <a:lstStyle/>
          <a:p>
            <a:pPr>
              <a:defRPr sz="4200" b="1">
                <a:solidFill>
                  <a:srgbClr val="460078"/>
                </a:solidFill>
              </a:defRPr>
            </a:pPr>
            <a:r>
              <a:rPr lang="en-US" dirty="0"/>
              <a:t>Security Policies</a:t>
            </a:r>
            <a:endParaRPr lang="en-US" b="1" dirty="0">
              <a:solidFill>
                <a:srgbClr val="460078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57395"/>
            <a:ext cx="8123584" cy="4799276"/>
          </a:xfrm>
        </p:spPr>
        <p:txBody>
          <a:bodyPr>
            <a:normAutofit/>
          </a:bodyPr>
          <a:lstStyle/>
          <a:p>
            <a:pPr>
              <a:defRPr sz="1800">
                <a:solidFill>
                  <a:srgbClr val="202020"/>
                </a:solidFill>
              </a:defRPr>
            </a:pPr>
            <a:r>
              <a:rPr lang="en-US" sz="2800" dirty="0"/>
              <a:t>Policies define acceptable and unacceptable </a:t>
            </a:r>
            <a:r>
              <a:rPr lang="en-US" sz="2800" dirty="0" err="1"/>
              <a:t>behaviour</a:t>
            </a:r>
            <a:endParaRPr lang="en-US" sz="2800" dirty="0"/>
          </a:p>
          <a:p>
            <a:pPr>
              <a:defRPr sz="1800">
                <a:solidFill>
                  <a:srgbClr val="202020"/>
                </a:solidFill>
              </a:defRPr>
            </a:pPr>
            <a:r>
              <a:rPr lang="en-US" sz="2800" dirty="0"/>
              <a:t>They guide employees and system users</a:t>
            </a:r>
          </a:p>
          <a:p>
            <a:pPr>
              <a:defRPr sz="1800">
                <a:solidFill>
                  <a:srgbClr val="202020"/>
                </a:solidFill>
              </a:defRPr>
            </a:pPr>
            <a:r>
              <a:rPr lang="en-US" sz="2800" dirty="0"/>
              <a:t>Policies must be clear, enforceable, and reviewed regularly</a:t>
            </a:r>
          </a:p>
          <a:p>
            <a:pPr>
              <a:defRPr sz="1800">
                <a:solidFill>
                  <a:srgbClr val="202020"/>
                </a:solidFill>
              </a:defRPr>
            </a:pPr>
            <a:endParaRPr lang="en-US" sz="2800" dirty="0"/>
          </a:p>
        </p:txBody>
      </p:sp>
      <p:pic>
        <p:nvPicPr>
          <p:cNvPr id="4" name="Picture 3" descr="A_digital_vector_graphic_displays_the_Present_Ac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0" y="5669280"/>
            <a:ext cx="1005840" cy="1508760"/>
          </a:xfrm>
          <a:prstGeom prst="rect">
            <a:avLst/>
          </a:prstGeo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34A6A-9D30-4A2E-BF5A-34B0342BF62C}" type="datetime1">
              <a:rPr lang="en-US" smtClean="0"/>
              <a:t>2/1/2026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453963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1184" y="363746"/>
            <a:ext cx="8229600" cy="1143000"/>
          </a:xfrm>
        </p:spPr>
        <p:txBody>
          <a:bodyPr>
            <a:normAutofit/>
          </a:bodyPr>
          <a:lstStyle/>
          <a:p>
            <a:pPr>
              <a:defRPr sz="4200" b="1">
                <a:solidFill>
                  <a:srgbClr val="460078"/>
                </a:solidFill>
              </a:defRPr>
            </a:pPr>
            <a:r>
              <a:rPr lang="en-US" dirty="0"/>
              <a:t>Security Controls</a:t>
            </a:r>
            <a:endParaRPr lang="en-US" b="1" dirty="0">
              <a:solidFill>
                <a:srgbClr val="460078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57395"/>
            <a:ext cx="8123584" cy="4799276"/>
          </a:xfrm>
        </p:spPr>
        <p:txBody>
          <a:bodyPr>
            <a:normAutofit/>
          </a:bodyPr>
          <a:lstStyle/>
          <a:p>
            <a:pPr>
              <a:defRPr sz="1800">
                <a:solidFill>
                  <a:srgbClr val="202020"/>
                </a:solidFill>
              </a:defRPr>
            </a:pPr>
            <a:r>
              <a:rPr lang="en-US" sz="2800" dirty="0"/>
              <a:t>Technical controls include firewalls and encryption</a:t>
            </a:r>
          </a:p>
          <a:p>
            <a:pPr>
              <a:defRPr sz="1800">
                <a:solidFill>
                  <a:srgbClr val="202020"/>
                </a:solidFill>
              </a:defRPr>
            </a:pPr>
            <a:r>
              <a:rPr lang="en-US" sz="2800" dirty="0"/>
              <a:t>Administrative controls include policies and training</a:t>
            </a:r>
          </a:p>
          <a:p>
            <a:pPr>
              <a:defRPr sz="1800">
                <a:solidFill>
                  <a:srgbClr val="202020"/>
                </a:solidFill>
              </a:defRPr>
            </a:pPr>
            <a:r>
              <a:rPr lang="en-US" sz="2800" dirty="0"/>
              <a:t>Physical controls protect facilities and hardware</a:t>
            </a:r>
          </a:p>
          <a:p>
            <a:pPr>
              <a:defRPr sz="1800">
                <a:solidFill>
                  <a:srgbClr val="202020"/>
                </a:solidFill>
              </a:defRPr>
            </a:pPr>
            <a:endParaRPr lang="en-US" sz="2800" dirty="0"/>
          </a:p>
        </p:txBody>
      </p:sp>
      <p:pic>
        <p:nvPicPr>
          <p:cNvPr id="4" name="Picture 3" descr="A_digital_vector_graphic_displays_the_Present_Ac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0" y="5669280"/>
            <a:ext cx="1005840" cy="1508760"/>
          </a:xfrm>
          <a:prstGeom prst="rect">
            <a:avLst/>
          </a:prstGeo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34A6A-9D30-4A2E-BF5A-34B0342BF62C}" type="datetime1">
              <a:rPr lang="en-US" smtClean="0"/>
              <a:t>2/1/2026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078889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1184" y="363746"/>
            <a:ext cx="8229600" cy="1143000"/>
          </a:xfrm>
        </p:spPr>
        <p:txBody>
          <a:bodyPr>
            <a:normAutofit/>
          </a:bodyPr>
          <a:lstStyle/>
          <a:p>
            <a:pPr>
              <a:defRPr sz="4200" b="1">
                <a:solidFill>
                  <a:srgbClr val="460078"/>
                </a:solidFill>
              </a:defRPr>
            </a:pPr>
            <a:r>
              <a:rPr lang="en-US" dirty="0"/>
              <a:t>NIST Cybersecurity Framework</a:t>
            </a:r>
            <a:endParaRPr lang="en-US" b="1" dirty="0">
              <a:solidFill>
                <a:srgbClr val="460078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57395"/>
            <a:ext cx="8123584" cy="4799276"/>
          </a:xfrm>
        </p:spPr>
        <p:txBody>
          <a:bodyPr>
            <a:normAutofit/>
          </a:bodyPr>
          <a:lstStyle/>
          <a:p>
            <a:pPr>
              <a:defRPr sz="1800">
                <a:solidFill>
                  <a:srgbClr val="202020"/>
                </a:solidFill>
              </a:defRPr>
            </a:pPr>
            <a:r>
              <a:rPr lang="en-US" sz="2800" dirty="0"/>
              <a:t>Widely used international security framework</a:t>
            </a:r>
          </a:p>
          <a:p>
            <a:pPr>
              <a:defRPr sz="1800">
                <a:solidFill>
                  <a:srgbClr val="202020"/>
                </a:solidFill>
              </a:defRPr>
            </a:pPr>
            <a:r>
              <a:rPr lang="en-US" sz="2800" dirty="0"/>
              <a:t>Five core functions: Identify, Protect, Detect, Respond, Recover</a:t>
            </a:r>
          </a:p>
          <a:p>
            <a:pPr>
              <a:defRPr sz="1800">
                <a:solidFill>
                  <a:srgbClr val="202020"/>
                </a:solidFill>
              </a:defRPr>
            </a:pPr>
            <a:r>
              <a:rPr lang="en-US" sz="2800" dirty="0"/>
              <a:t>Supports risk-based security management</a:t>
            </a:r>
          </a:p>
          <a:p>
            <a:pPr>
              <a:defRPr sz="1800">
                <a:solidFill>
                  <a:srgbClr val="202020"/>
                </a:solidFill>
              </a:defRPr>
            </a:pPr>
            <a:endParaRPr lang="en-US" sz="2800" dirty="0"/>
          </a:p>
        </p:txBody>
      </p:sp>
      <p:pic>
        <p:nvPicPr>
          <p:cNvPr id="4" name="Picture 3" descr="A_digital_vector_graphic_displays_the_Present_Ac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0" y="5669280"/>
            <a:ext cx="1005840" cy="1508760"/>
          </a:xfrm>
          <a:prstGeom prst="rect">
            <a:avLst/>
          </a:prstGeo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34A6A-9D30-4A2E-BF5A-34B0342BF62C}" type="datetime1">
              <a:rPr lang="en-US" smtClean="0"/>
              <a:t>2/1/2026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545905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1184" y="363746"/>
            <a:ext cx="8229600" cy="1143000"/>
          </a:xfrm>
        </p:spPr>
        <p:txBody>
          <a:bodyPr>
            <a:normAutofit/>
          </a:bodyPr>
          <a:lstStyle/>
          <a:p>
            <a:pPr>
              <a:defRPr sz="4200" b="1">
                <a:solidFill>
                  <a:srgbClr val="460078"/>
                </a:solidFill>
              </a:defRPr>
            </a:pPr>
            <a:r>
              <a:rPr lang="en-US" dirty="0"/>
              <a:t>ISO/IEC 27001 Framework</a:t>
            </a:r>
            <a:endParaRPr lang="en-US" b="1" dirty="0">
              <a:solidFill>
                <a:srgbClr val="460078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57395"/>
            <a:ext cx="8123584" cy="4799276"/>
          </a:xfrm>
        </p:spPr>
        <p:txBody>
          <a:bodyPr>
            <a:normAutofit/>
          </a:bodyPr>
          <a:lstStyle/>
          <a:p>
            <a:pPr>
              <a:defRPr sz="1800">
                <a:solidFill>
                  <a:srgbClr val="202020"/>
                </a:solidFill>
              </a:defRPr>
            </a:pPr>
            <a:r>
              <a:rPr lang="en-US" sz="2800" dirty="0"/>
              <a:t>International standard for information security management</a:t>
            </a:r>
          </a:p>
          <a:p>
            <a:pPr>
              <a:defRPr sz="1800">
                <a:solidFill>
                  <a:srgbClr val="202020"/>
                </a:solidFill>
              </a:defRPr>
            </a:pPr>
            <a:r>
              <a:rPr lang="en-US" sz="2800" dirty="0"/>
              <a:t>Focuses on Information Security Management Systems (ISMS)</a:t>
            </a:r>
          </a:p>
          <a:p>
            <a:pPr>
              <a:defRPr sz="1800">
                <a:solidFill>
                  <a:srgbClr val="202020"/>
                </a:solidFill>
              </a:defRPr>
            </a:pPr>
            <a:r>
              <a:rPr lang="en-US" sz="2800" dirty="0" err="1"/>
              <a:t>Emphasises</a:t>
            </a:r>
            <a:r>
              <a:rPr lang="en-US" sz="2800" dirty="0"/>
              <a:t> continual improvement</a:t>
            </a:r>
          </a:p>
          <a:p>
            <a:pPr>
              <a:defRPr sz="1800">
                <a:solidFill>
                  <a:srgbClr val="202020"/>
                </a:solidFill>
              </a:defRPr>
            </a:pPr>
            <a:endParaRPr lang="en-US" sz="2800" dirty="0"/>
          </a:p>
        </p:txBody>
      </p:sp>
      <p:pic>
        <p:nvPicPr>
          <p:cNvPr id="4" name="Picture 3" descr="A_digital_vector_graphic_displays_the_Present_Ac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0" y="5669280"/>
            <a:ext cx="1005840" cy="1508760"/>
          </a:xfrm>
          <a:prstGeom prst="rect">
            <a:avLst/>
          </a:prstGeo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34A6A-9D30-4A2E-BF5A-34B0342BF62C}" type="datetime1">
              <a:rPr lang="en-US" smtClean="0"/>
              <a:t>2/1/2026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080768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1184" y="363746"/>
            <a:ext cx="8229600" cy="1143000"/>
          </a:xfrm>
        </p:spPr>
        <p:txBody>
          <a:bodyPr>
            <a:normAutofit/>
          </a:bodyPr>
          <a:lstStyle/>
          <a:p>
            <a:pPr>
              <a:defRPr sz="4200" b="1">
                <a:solidFill>
                  <a:srgbClr val="460078"/>
                </a:solidFill>
              </a:defRPr>
            </a:pPr>
            <a:r>
              <a:rPr lang="en-US" dirty="0"/>
              <a:t>Other Security Frameworks</a:t>
            </a:r>
            <a:endParaRPr lang="en-US" b="1" dirty="0">
              <a:solidFill>
                <a:srgbClr val="460078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57395"/>
            <a:ext cx="8123584" cy="4799276"/>
          </a:xfrm>
        </p:spPr>
        <p:txBody>
          <a:bodyPr>
            <a:normAutofit/>
          </a:bodyPr>
          <a:lstStyle/>
          <a:p>
            <a:pPr>
              <a:defRPr sz="1800">
                <a:solidFill>
                  <a:srgbClr val="202020"/>
                </a:solidFill>
              </a:defRPr>
            </a:pPr>
            <a:r>
              <a:rPr lang="en-US" sz="2800" dirty="0"/>
              <a:t>COBIT focuses on IT governance</a:t>
            </a:r>
          </a:p>
          <a:p>
            <a:pPr>
              <a:defRPr sz="1800">
                <a:solidFill>
                  <a:srgbClr val="202020"/>
                </a:solidFill>
              </a:defRPr>
            </a:pPr>
            <a:r>
              <a:rPr lang="en-US" sz="2800" dirty="0"/>
              <a:t>PCI DSS addresses payment card security</a:t>
            </a:r>
          </a:p>
          <a:p>
            <a:pPr>
              <a:defRPr sz="1800">
                <a:solidFill>
                  <a:srgbClr val="202020"/>
                </a:solidFill>
              </a:defRPr>
            </a:pPr>
            <a:r>
              <a:rPr lang="en-US" sz="2800" dirty="0"/>
              <a:t>Framework selection depends on </a:t>
            </a:r>
            <a:r>
              <a:rPr lang="en-US" sz="2800" dirty="0" err="1"/>
              <a:t>organisational</a:t>
            </a:r>
            <a:r>
              <a:rPr lang="en-US" sz="2800" dirty="0"/>
              <a:t> needs</a:t>
            </a:r>
          </a:p>
          <a:p>
            <a:pPr>
              <a:defRPr sz="1800">
                <a:solidFill>
                  <a:srgbClr val="202020"/>
                </a:solidFill>
              </a:defRPr>
            </a:pPr>
            <a:endParaRPr lang="en-US" sz="2800" dirty="0"/>
          </a:p>
        </p:txBody>
      </p:sp>
      <p:pic>
        <p:nvPicPr>
          <p:cNvPr id="4" name="Picture 3" descr="A_digital_vector_graphic_displays_the_Present_Ac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0" y="5669280"/>
            <a:ext cx="1005840" cy="1508760"/>
          </a:xfrm>
          <a:prstGeom prst="rect">
            <a:avLst/>
          </a:prstGeo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34A6A-9D30-4A2E-BF5A-34B0342BF62C}" type="datetime1">
              <a:rPr lang="en-US" smtClean="0"/>
              <a:t>2/1/2026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903175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1184" y="363746"/>
            <a:ext cx="8229600" cy="1143000"/>
          </a:xfrm>
        </p:spPr>
        <p:txBody>
          <a:bodyPr>
            <a:normAutofit/>
          </a:bodyPr>
          <a:lstStyle/>
          <a:p>
            <a:pPr>
              <a:defRPr sz="4200" b="1">
                <a:solidFill>
                  <a:srgbClr val="460078"/>
                </a:solidFill>
              </a:defRPr>
            </a:pPr>
            <a:r>
              <a:rPr lang="en-US" dirty="0"/>
              <a:t>Applying Frameworks in Practice</a:t>
            </a:r>
            <a:endParaRPr lang="en-US" b="1" dirty="0">
              <a:solidFill>
                <a:srgbClr val="460078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57395"/>
            <a:ext cx="8123584" cy="4799276"/>
          </a:xfrm>
        </p:spPr>
        <p:txBody>
          <a:bodyPr>
            <a:normAutofit/>
          </a:bodyPr>
          <a:lstStyle/>
          <a:p>
            <a:pPr>
              <a:defRPr sz="1800">
                <a:solidFill>
                  <a:srgbClr val="202020"/>
                </a:solidFill>
              </a:defRPr>
            </a:pPr>
            <a:r>
              <a:rPr lang="en-US" sz="2800" dirty="0"/>
              <a:t>Frameworks must be tailored to the </a:t>
            </a:r>
            <a:r>
              <a:rPr lang="en-US" sz="2800" dirty="0" err="1"/>
              <a:t>organisation</a:t>
            </a:r>
            <a:endParaRPr lang="en-US" sz="2800" dirty="0"/>
          </a:p>
          <a:p>
            <a:pPr>
              <a:defRPr sz="1800">
                <a:solidFill>
                  <a:srgbClr val="202020"/>
                </a:solidFill>
              </a:defRPr>
            </a:pPr>
            <a:r>
              <a:rPr lang="en-US" sz="2800" dirty="0"/>
              <a:t>Risk appetite and business context are critical</a:t>
            </a:r>
          </a:p>
          <a:p>
            <a:pPr>
              <a:defRPr sz="1800">
                <a:solidFill>
                  <a:srgbClr val="202020"/>
                </a:solidFill>
              </a:defRPr>
            </a:pPr>
            <a:r>
              <a:rPr lang="en-US" sz="2800" dirty="0"/>
              <a:t>Continuous monitoring and improvement are required</a:t>
            </a:r>
          </a:p>
          <a:p>
            <a:pPr>
              <a:defRPr sz="1800">
                <a:solidFill>
                  <a:srgbClr val="202020"/>
                </a:solidFill>
              </a:defRPr>
            </a:pPr>
            <a:endParaRPr lang="en-US" sz="2800" dirty="0"/>
          </a:p>
        </p:txBody>
      </p:sp>
      <p:pic>
        <p:nvPicPr>
          <p:cNvPr id="4" name="Picture 3" descr="A_digital_vector_graphic_displays_the_Present_Ac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0" y="5669280"/>
            <a:ext cx="1005840" cy="1508760"/>
          </a:xfrm>
          <a:prstGeom prst="rect">
            <a:avLst/>
          </a:prstGeo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34A6A-9D30-4A2E-BF5A-34B0342BF62C}" type="datetime1">
              <a:rPr lang="en-US" smtClean="0"/>
              <a:t>2/1/2026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0851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1184" y="363746"/>
            <a:ext cx="8229600" cy="1143000"/>
          </a:xfrm>
        </p:spPr>
        <p:txBody>
          <a:bodyPr>
            <a:normAutofit/>
          </a:bodyPr>
          <a:lstStyle/>
          <a:p>
            <a:pPr>
              <a:defRPr sz="4200" b="1">
                <a:solidFill>
                  <a:srgbClr val="460078"/>
                </a:solidFill>
              </a:defRPr>
            </a:pPr>
            <a:r>
              <a:rPr lang="en-US" dirty="0"/>
              <a:t>Challenges in Using Frameworks</a:t>
            </a:r>
            <a:endParaRPr lang="en-US" b="1" dirty="0">
              <a:solidFill>
                <a:srgbClr val="460078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57395"/>
            <a:ext cx="8123584" cy="4799276"/>
          </a:xfrm>
        </p:spPr>
        <p:txBody>
          <a:bodyPr>
            <a:normAutofit/>
          </a:bodyPr>
          <a:lstStyle/>
          <a:p>
            <a:pPr>
              <a:defRPr sz="1800">
                <a:solidFill>
                  <a:srgbClr val="202020"/>
                </a:solidFill>
              </a:defRPr>
            </a:pPr>
            <a:r>
              <a:rPr lang="en-US" sz="2800" dirty="0"/>
              <a:t>Complexity and cost of implementation</a:t>
            </a:r>
          </a:p>
          <a:p>
            <a:pPr>
              <a:defRPr sz="1800">
                <a:solidFill>
                  <a:srgbClr val="202020"/>
                </a:solidFill>
              </a:defRPr>
            </a:pPr>
            <a:r>
              <a:rPr lang="en-US" sz="2800" dirty="0"/>
              <a:t>Lack of </a:t>
            </a:r>
            <a:r>
              <a:rPr lang="en-US" sz="2800" dirty="0" smtClean="0"/>
              <a:t>organizational </a:t>
            </a:r>
            <a:r>
              <a:rPr lang="en-US" sz="2800" dirty="0"/>
              <a:t>support</a:t>
            </a:r>
          </a:p>
          <a:p>
            <a:pPr>
              <a:defRPr sz="1800">
                <a:solidFill>
                  <a:srgbClr val="202020"/>
                </a:solidFill>
              </a:defRPr>
            </a:pPr>
            <a:r>
              <a:rPr lang="en-US" sz="2800" dirty="0"/>
              <a:t>Keeping frameworks updated with evolving threats</a:t>
            </a:r>
          </a:p>
          <a:p>
            <a:pPr>
              <a:defRPr sz="1800">
                <a:solidFill>
                  <a:srgbClr val="202020"/>
                </a:solidFill>
              </a:defRPr>
            </a:pPr>
            <a:endParaRPr lang="en-US" sz="2800" dirty="0"/>
          </a:p>
        </p:txBody>
      </p:sp>
      <p:pic>
        <p:nvPicPr>
          <p:cNvPr id="4" name="Picture 3" descr="A_digital_vector_graphic_displays_the_Present_Aca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0" y="5669280"/>
            <a:ext cx="1005840" cy="1508760"/>
          </a:xfrm>
          <a:prstGeom prst="rect">
            <a:avLst/>
          </a:prstGeo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34A6A-9D30-4A2E-BF5A-34B0342BF62C}" type="datetime1">
              <a:rPr lang="en-US" smtClean="0"/>
              <a:t>2/1/2026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29600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886</TotalTime>
  <Words>1279</Words>
  <Application>Microsoft Office PowerPoint</Application>
  <PresentationFormat>On-screen Show (4:3)</PresentationFormat>
  <Paragraphs>281</Paragraphs>
  <Slides>33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6" baseType="lpstr">
      <vt:lpstr>Arial</vt:lpstr>
      <vt:lpstr>Calibri</vt:lpstr>
      <vt:lpstr>Office Theme</vt:lpstr>
      <vt:lpstr>CYBER SECURITY</vt:lpstr>
      <vt:lpstr>Introduction to NIST Cybersecurity Framework</vt:lpstr>
      <vt:lpstr>Purpose of NIST Cybersecurity Framework</vt:lpstr>
      <vt:lpstr>Core Components of NIST CSF</vt:lpstr>
      <vt:lpstr>Framework Core</vt:lpstr>
      <vt:lpstr>Implementation Tiers</vt:lpstr>
      <vt:lpstr>Profiles</vt:lpstr>
      <vt:lpstr>Main Theme</vt:lpstr>
      <vt:lpstr>🔐 What is NIST CSF 2.0?</vt:lpstr>
      <vt:lpstr>Where NIST Cybersecurity Framework 2.0 Fits in the Cyber Lifecycle</vt:lpstr>
      <vt:lpstr>Where NIST Cybersecurity Framework 2.0 Fits in the Cyber Lifecycle</vt:lpstr>
      <vt:lpstr>Where NIST Cybersecurity Framework 2.0 Fits in the Cyber Lifecycle</vt:lpstr>
      <vt:lpstr>Where NIST Cybersecurity Framework 2.0 Fits in the Cyber Lifecycle</vt:lpstr>
      <vt:lpstr>Where NIST Cybersecurity Framework 2.0 Fits in the Cyber Lifecycle</vt:lpstr>
      <vt:lpstr>Where NIST Cybersecurity Framework 2.0 Fits in the Cyber Lifecycle</vt:lpstr>
      <vt:lpstr>Preventive vs Reactive Functions in NIST Cybersecurity Framework 2.0 </vt:lpstr>
      <vt:lpstr>Preventive vs Reactive Functions in NIST Cybersecurity Framework 2.0 </vt:lpstr>
      <vt:lpstr>Preventive vs Reactive Functions in NIST Cybersecurity Framework 2.0 </vt:lpstr>
      <vt:lpstr>Preventive vs Reactive Functions in NIST Cybersecurity Framework 2.0 </vt:lpstr>
      <vt:lpstr>Preventive vs Reactive Functions in NIST Cybersecurity Framework 2.0 </vt:lpstr>
      <vt:lpstr>Preventive vs Reactive Functions in NIST Cybersecurity Framework 2.0 </vt:lpstr>
      <vt:lpstr>Why Security Frameworks Are Important</vt:lpstr>
      <vt:lpstr>Key Components of a Security Framework</vt:lpstr>
      <vt:lpstr>Security Governance</vt:lpstr>
      <vt:lpstr>Risk Management Fundamentals</vt:lpstr>
      <vt:lpstr>Risk Assessment Process</vt:lpstr>
      <vt:lpstr>Security Policies</vt:lpstr>
      <vt:lpstr>Security Controls</vt:lpstr>
      <vt:lpstr>NIST Cybersecurity Framework</vt:lpstr>
      <vt:lpstr>ISO/IEC 27001 Framework</vt:lpstr>
      <vt:lpstr>Other Security Frameworks</vt:lpstr>
      <vt:lpstr>Applying Frameworks in Practice</vt:lpstr>
      <vt:lpstr>Challenges in Using Frameworks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PCA</dc:creator>
  <cp:keywords/>
  <dc:description>generated using python-pptx</dc:description>
  <cp:lastModifiedBy>Administrator</cp:lastModifiedBy>
  <cp:revision>68</cp:revision>
  <dcterms:created xsi:type="dcterms:W3CDTF">2013-01-27T09:14:16Z</dcterms:created>
  <dcterms:modified xsi:type="dcterms:W3CDTF">2026-02-01T10:22:41Z</dcterms:modified>
  <cp:category/>
</cp:coreProperties>
</file>