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rels" ContentType="application/vnd.openxmlformats-package.relationships+xml"/>
  <Default Extension="emf" ContentType="image/x-emf"/>
  <Default Extension="gif" ContentType="image/gif"/>
  <Default Extension="wdp" ContentType="image/vnd.ms-photo"/>
  <Default Extension="wav" ContentType="audio/wav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3385"/>
    <a:srgbClr val="44508E"/>
    <a:srgbClr val="D9E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005" autoAdjust="0"/>
  </p:normalViewPr>
  <p:slideViewPr>
    <p:cSldViewPr>
      <p:cViewPr>
        <p:scale>
          <a:sx n="99" d="100"/>
          <a:sy n="99" d="100"/>
        </p:scale>
        <p:origin x="-1752" y="-12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" name="explode.wav"/>
          </p:stSnd>
        </p:sndAc>
      </p:transition>
    </mc:Choice>
    <mc:Fallback xmlns="">
      <p:transition spd="slow">
        <p:sndAc>
          <p:stSnd>
            <p:snd r:embed="rId3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audio" Target="../media/audio1.wav"/><Relationship Id="rId14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BFE7F5-25F8-41FA-B9BC-17E18B27B1D5}" type="datetimeFigureOut">
              <a:rPr lang="en-US" smtClean="0"/>
              <a:t>25/10/17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70DD143-9BEA-446A-AD97-DC2D8E7195E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500">
        <p:sndAc>
          <p:stSnd>
            <p:snd r:embed="rId13" name="explode.wav"/>
          </p:stSnd>
        </p:sndAc>
      </p:transition>
    </mc:Choice>
    <mc:Fallback xmlns="">
      <p:transition spd="slow">
        <p:sndAc>
          <p:stSnd>
            <p:snd r:embed="rId14" name="explode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audio" Target="../media/audio3.wav"/><Relationship Id="rId1" Type="http://schemas.openxmlformats.org/officeDocument/2006/relationships/slideLayout" Target="../slideLayouts/slideLayout5.xml"/><Relationship Id="rId2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4" Type="http://schemas.openxmlformats.org/officeDocument/2006/relationships/audio" Target="../media/audio4.wav"/><Relationship Id="rId1" Type="http://schemas.openxmlformats.org/officeDocument/2006/relationships/slideLayout" Target="../slideLayouts/slideLayout4.xml"/><Relationship Id="rId2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microsoft.com/office/2007/relationships/hdphoto" Target="../media/hdphoto2.wdp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pPr marL="182880" indent="0">
              <a:buNone/>
            </a:pPr>
            <a:r>
              <a:rPr lang="en-US" dirty="0" smtClean="0"/>
              <a:t>   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</a:t>
            </a:r>
            <a:r>
              <a:rPr lang="en-US" dirty="0" smtClean="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95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</a:rPr>
              <a:t>Malicious Code</a:t>
            </a:r>
            <a:endParaRPr lang="en-US" dirty="0">
              <a:gradFill>
                <a:gsLst>
                  <a:gs pos="0">
                    <a:schemeClr val="bg1">
                      <a:lumMod val="95000"/>
                    </a:schemeClr>
                  </a:gs>
                  <a:gs pos="95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94865"/>
            <a:ext cx="1924326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74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sndAc>
          <p:stSnd>
            <p:snd r:embed="rId2" name="computer typing.WAV"/>
          </p:stSnd>
        </p:sndAc>
      </p:transition>
    </mc:Choice>
    <mc:Fallback xmlns="">
      <p:transition spd="slow">
        <p:sndAc>
          <p:stSnd>
            <p:snd r:embed="rId4" name="computer typing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998" b="-14998"/>
          <a:stretch/>
        </p:blipFill>
        <p:spPr bwMode="auto">
          <a:xfrm>
            <a:off x="-8966" y="-1143000"/>
            <a:ext cx="9152965" cy="915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964" y="-72614"/>
            <a:ext cx="8449235" cy="6930614"/>
          </a:xfrm>
          <a:effectLst>
            <a:outerShdw blurRad="50800" dist="38100" dir="2700000" algn="tl" rotWithShape="0">
              <a:schemeClr val="bg1">
                <a:alpha val="83000"/>
              </a:schemeClr>
            </a:outerShdw>
          </a:effectLst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200" u="sng" dirty="0" smtClean="0">
                <a:solidFill>
                  <a:srgbClr val="FF0000"/>
                </a:solidFill>
              </a:rPr>
              <a:t>Objectives:</a:t>
            </a:r>
          </a:p>
          <a:p>
            <a:r>
              <a:rPr lang="en-US" sz="2600" b="1" dirty="0" smtClean="0"/>
              <a:t>Identify what Malicious code is</a:t>
            </a:r>
          </a:p>
          <a:p>
            <a:r>
              <a:rPr lang="en-US" sz="2600" b="1" dirty="0" smtClean="0"/>
              <a:t>Know the categories of Malicious code</a:t>
            </a:r>
          </a:p>
          <a:p>
            <a:r>
              <a:rPr lang="en-US" sz="2600" b="1" dirty="0" smtClean="0"/>
              <a:t>Introduce you to the parts of Malicious software</a:t>
            </a:r>
          </a:p>
          <a:p>
            <a:r>
              <a:rPr lang="en-US" sz="2600" b="1" dirty="0" smtClean="0"/>
              <a:t>Know </a:t>
            </a:r>
            <a:r>
              <a:rPr lang="en-US" sz="2600" b="1" dirty="0" smtClean="0"/>
              <a:t>what is a</a:t>
            </a:r>
            <a:r>
              <a:rPr lang="en-US" sz="2600" b="1" dirty="0" smtClean="0"/>
              <a:t> </a:t>
            </a:r>
            <a:r>
              <a:rPr lang="en-US" sz="2600" b="1" dirty="0" smtClean="0"/>
              <a:t>computer virus </a:t>
            </a:r>
          </a:p>
          <a:p>
            <a:endParaRPr lang="en-US" sz="2600" b="1" dirty="0" smtClean="0"/>
          </a:p>
          <a:p>
            <a:endParaRPr lang="en-US" sz="2600" b="1" dirty="0"/>
          </a:p>
          <a:p>
            <a:endParaRPr lang="en-US" sz="2600" b="1" dirty="0" smtClean="0"/>
          </a:p>
          <a:p>
            <a:endParaRPr lang="en-US" sz="2600" b="1" dirty="0"/>
          </a:p>
          <a:p>
            <a:endParaRPr lang="en-US" sz="2600" b="1" dirty="0" smtClean="0"/>
          </a:p>
          <a:p>
            <a:r>
              <a:rPr lang="en-US" sz="2600" b="1" dirty="0" smtClean="0"/>
              <a:t>Identify the 4 Phases of a Virus</a:t>
            </a:r>
          </a:p>
          <a:p>
            <a:r>
              <a:rPr lang="en-US" sz="2600" b="1" dirty="0" smtClean="0"/>
              <a:t>Briefly review the anatomy of a Virus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55202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7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3229"/>
            <a:ext cx="9144000" cy="10281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00" y="2057400"/>
            <a:ext cx="6934200" cy="944562"/>
          </a:xfrm>
        </p:spPr>
        <p:txBody>
          <a:bodyPr/>
          <a:lstStyle/>
          <a:p>
            <a:r>
              <a:rPr lang="en-US" b="0" dirty="0" smtClean="0">
                <a:gradFill>
                  <a:gsLst>
                    <a:gs pos="0">
                      <a:srgbClr val="8488C4"/>
                    </a:gs>
                    <a:gs pos="53000">
                      <a:srgbClr val="D4DEFF"/>
                    </a:gs>
                    <a:gs pos="83000">
                      <a:srgbClr val="D4DEFF"/>
                    </a:gs>
                    <a:gs pos="100000">
                      <a:srgbClr val="96AB94"/>
                    </a:gs>
                  </a:gsLst>
                  <a:lin ang="5400000" scaled="0"/>
                </a:gradFill>
              </a:rPr>
              <a:t>A broad category of software threats to your network and systems</a:t>
            </a:r>
            <a:endParaRPr lang="en-US" dirty="0">
              <a:gradFill>
                <a:gsLst>
                  <a:gs pos="0">
                    <a:srgbClr val="8488C4"/>
                  </a:gs>
                  <a:gs pos="53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>
          <a:xfrm>
            <a:off x="4495800" y="3429000"/>
            <a:ext cx="4267200" cy="2743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Modifies or destroys data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dirty="0" smtClean="0">
                <a:solidFill>
                  <a:schemeClr val="bg1"/>
                </a:solidFill>
              </a:rPr>
              <a:t>teals data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dirty="0" smtClean="0">
                <a:solidFill>
                  <a:schemeClr val="bg1"/>
                </a:solidFill>
              </a:rPr>
              <a:t>llows unauthorized access,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Exploits or damages a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63286" y="304800"/>
            <a:ext cx="7097486" cy="1143000"/>
          </a:xfrm>
        </p:spPr>
        <p:txBody>
          <a:bodyPr/>
          <a:lstStyle/>
          <a:p>
            <a:r>
              <a:rPr lang="en-US" dirty="0" smtClean="0">
                <a:gradFill>
                  <a:gsLst>
                    <a:gs pos="0">
                      <a:srgbClr val="8488C4"/>
                    </a:gs>
                    <a:gs pos="53000">
                      <a:srgbClr val="D4DEFF"/>
                    </a:gs>
                    <a:gs pos="83000">
                      <a:srgbClr val="D4DEFF"/>
                    </a:gs>
                    <a:gs pos="100000">
                      <a:srgbClr val="96AB94"/>
                    </a:gs>
                  </a:gsLst>
                  <a:lin ang="5400000" scaled="0"/>
                </a:gradFill>
              </a:rPr>
              <a:t>What is malicious code?</a:t>
            </a:r>
            <a:endParaRPr lang="en-US" dirty="0">
              <a:gradFill>
                <a:gsLst>
                  <a:gs pos="0">
                    <a:srgbClr val="8488C4"/>
                  </a:gs>
                  <a:gs pos="53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27756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  <p:sndAc>
          <p:stSnd>
            <p:snd r:embed="rId2" name="Laugh.WAV"/>
          </p:stSnd>
        </p:sndAc>
      </p:transition>
    </mc:Choice>
    <mc:Fallback xmlns="">
      <p:transition spd="slow">
        <p:fade/>
        <p:sndAc>
          <p:stSnd>
            <p:snd r:embed="rId5" name="Laugh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5943600"/>
            <a:ext cx="7772401" cy="109556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 </a:t>
            </a:r>
            <a:r>
              <a:rPr lang="en-US" dirty="0" smtClean="0">
                <a:solidFill>
                  <a:srgbClr val="FF000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Programmed Threats</a:t>
            </a:r>
            <a:endParaRPr lang="en-US" dirty="0">
              <a:solidFill>
                <a:srgbClr val="FF0000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0"/>
            <a:ext cx="3962400" cy="34747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A Computer Program is designed to achieve a particular function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477000" y="152400"/>
            <a:ext cx="3346704" cy="4191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b="1" i="1" u="sng" dirty="0" smtClean="0">
                <a:solidFill>
                  <a:srgbClr val="FFC000"/>
                </a:solidFill>
              </a:rPr>
              <a:t>Maliciou</a:t>
            </a:r>
            <a:r>
              <a:rPr lang="en-US" sz="3600" b="1" dirty="0" smtClean="0">
                <a:solidFill>
                  <a:srgbClr val="FFC000"/>
                </a:solidFill>
              </a:rPr>
              <a:t>s</a:t>
            </a:r>
            <a:r>
              <a:rPr lang="en-US" sz="3600" dirty="0" smtClean="0">
                <a:solidFill>
                  <a:srgbClr val="FFC000"/>
                </a:solidFill>
              </a:rPr>
              <a:t> when </a:t>
            </a:r>
            <a:r>
              <a:rPr lang="en-US" sz="3600" dirty="0" smtClean="0">
                <a:solidFill>
                  <a:srgbClr val="FFC000"/>
                </a:solidFill>
              </a:rPr>
              <a:t>is </a:t>
            </a:r>
            <a:r>
              <a:rPr lang="en-US" sz="3600" dirty="0" smtClean="0">
                <a:solidFill>
                  <a:srgbClr val="FFC000"/>
                </a:solidFill>
              </a:rPr>
              <a:t>designed to cause 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smtClean="0">
                <a:solidFill>
                  <a:srgbClr val="FFC000"/>
                </a:solidFill>
              </a:rPr>
              <a:t>  adverse effects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5" name="Picture 2" descr="C:\Program Files\Microsoft Office\MEDIA\CAGCAT10\j030052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3632791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108" y="2971800"/>
            <a:ext cx="6995963" cy="3875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489" y="0"/>
            <a:ext cx="6512511" cy="1981200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Two categories of Malicious Code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-1219200"/>
            <a:ext cx="3346704" cy="6553200"/>
          </a:xfrm>
        </p:spPr>
        <p:txBody>
          <a:bodyPr/>
          <a:lstStyle/>
          <a:p>
            <a:pPr marL="45720" indent="0">
              <a:buNone/>
            </a:pPr>
            <a:endParaRPr lang="en-US" b="1" dirty="0" smtClean="0"/>
          </a:p>
          <a:p>
            <a:pPr marL="45720" indent="0">
              <a:buNone/>
            </a:pPr>
            <a:endParaRPr lang="en-US" b="1" dirty="0" smtClean="0"/>
          </a:p>
          <a:p>
            <a:pPr marL="45720" indent="0">
              <a:buNone/>
            </a:pPr>
            <a:endParaRPr lang="en-US" b="1" dirty="0"/>
          </a:p>
          <a:p>
            <a:pPr marL="45720" indent="0">
              <a:buNone/>
            </a:pPr>
            <a:r>
              <a:rPr lang="en-US" b="1" dirty="0" smtClean="0"/>
              <a:t>Independent: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Self contained program that can be scheduled and ran by the operating system</a:t>
            </a:r>
          </a:p>
          <a:p>
            <a:pPr marL="45720" indent="0">
              <a:buNone/>
            </a:pPr>
            <a:r>
              <a:rPr lang="en-US" b="1" dirty="0" smtClean="0"/>
              <a:t>Needs Host Program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essential fragments of programs that can not exist independently of some actual application program, utility, or system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3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95" y="3352800"/>
            <a:ext cx="2895600" cy="295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43000" y="762000"/>
            <a:ext cx="4038600" cy="3505200"/>
          </a:xfr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Parts Of Malicious Software</a:t>
            </a:r>
            <a:endParaRPr lang="en-US" dirty="0">
              <a:solidFill>
                <a:schemeClr val="bg1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381000"/>
            <a:ext cx="3346704" cy="522732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Trap Doors: </a:t>
            </a:r>
            <a:r>
              <a:rPr lang="en-US" sz="1600" dirty="0" smtClean="0"/>
              <a:t>Secret </a:t>
            </a:r>
            <a:r>
              <a:rPr lang="en-US" sz="1600" dirty="0" smtClean="0"/>
              <a:t>entry</a:t>
            </a:r>
            <a:endParaRPr lang="en-US" dirty="0"/>
          </a:p>
          <a:p>
            <a:r>
              <a:rPr lang="en-US" dirty="0" smtClean="0"/>
              <a:t>Logic Bombs: </a:t>
            </a:r>
            <a:r>
              <a:rPr lang="en-US" sz="1600" dirty="0" smtClean="0"/>
              <a:t>code embedded in a </a:t>
            </a:r>
            <a:r>
              <a:rPr lang="en-US" sz="1600" dirty="0" smtClean="0"/>
              <a:t>program</a:t>
            </a:r>
            <a:endParaRPr lang="en-US" dirty="0" smtClean="0"/>
          </a:p>
          <a:p>
            <a:r>
              <a:rPr lang="en-US" dirty="0" smtClean="0"/>
              <a:t>Trojan Horses: </a:t>
            </a:r>
            <a:r>
              <a:rPr lang="en-US" sz="1600" dirty="0" smtClean="0"/>
              <a:t>security breaking program </a:t>
            </a:r>
            <a:endParaRPr lang="en-US" sz="1600" dirty="0" smtClean="0"/>
          </a:p>
          <a:p>
            <a:r>
              <a:rPr lang="en-US" dirty="0"/>
              <a:t>Zombies: </a:t>
            </a:r>
            <a:r>
              <a:rPr lang="en-US" sz="2400" dirty="0"/>
              <a:t>takes over another internet- attached computer </a:t>
            </a:r>
          </a:p>
          <a:p>
            <a:r>
              <a:rPr lang="en-US" dirty="0" smtClean="0"/>
              <a:t>Viruses</a:t>
            </a:r>
            <a:r>
              <a:rPr lang="en-US" dirty="0"/>
              <a:t>: </a:t>
            </a:r>
            <a:r>
              <a:rPr lang="en-US" sz="2400" dirty="0"/>
              <a:t>Infects other programs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86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2" name="bomb.WAV"/>
          </p:stSnd>
        </p:sndAc>
      </p:transition>
    </mc:Choice>
    <mc:Fallback xmlns="">
      <p:transition>
        <p:sndAc>
          <p:stSnd>
            <p:snd r:embed="rId4" name="bomb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779" y="1512775"/>
            <a:ext cx="3667291" cy="462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3657600" cy="1143000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25400"/>
              <a:extrusionClr>
                <a:schemeClr val="bg1"/>
              </a:extrusionClr>
            </a:sp3d>
          </a:bodyPr>
          <a:lstStyle/>
          <a:p>
            <a:pPr marL="0" indent="0">
              <a:buNone/>
            </a:pPr>
            <a:r>
              <a:rPr lang="en-US" sz="3200" dirty="0" smtClean="0">
                <a:effectLst>
                  <a:glow rad="304800">
                    <a:schemeClr val="accent2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Computer </a:t>
            </a:r>
            <a:r>
              <a:rPr lang="en-US" sz="3200" dirty="0" smtClean="0">
                <a:effectLst>
                  <a:glow rad="304800">
                    <a:schemeClr val="accent2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Virus</a:t>
            </a:r>
            <a:endParaRPr lang="en-US" sz="3200" dirty="0">
              <a:effectLst>
                <a:glow rad="304800">
                  <a:schemeClr val="accent2">
                    <a:satMod val="175000"/>
                    <a:alpha val="40000"/>
                  </a:schemeClr>
                </a:glo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85800" y="1295400"/>
            <a:ext cx="3346704" cy="460016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US" sz="1400" dirty="0" smtClean="0"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a:endParaRPr>
          </a:p>
          <a:p>
            <a:pPr marL="45720" indent="0">
              <a:buNone/>
            </a:pP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-Instructions stored in host program</a:t>
            </a:r>
          </a:p>
          <a:p>
            <a:pPr marL="45720" indent="0">
              <a:buNone/>
            </a:pPr>
            <a:endParaRPr lang="en-US" sz="1900" dirty="0" smtClean="0">
              <a:ln>
                <a:solidFill>
                  <a:schemeClr val="bg1">
                    <a:lumMod val="50000"/>
                    <a:alpha val="48000"/>
                  </a:schemeClr>
                </a:solidFill>
              </a:ln>
              <a:solidFill>
                <a:schemeClr val="accent6"/>
              </a:solidFill>
            </a:endParaRPr>
          </a:p>
          <a:p>
            <a:pPr marL="45720" indent="0">
              <a:buNone/>
            </a:pP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-Active when host is executed</a:t>
            </a:r>
          </a:p>
          <a:p>
            <a:pPr marL="45720" indent="0">
              <a:buNone/>
            </a:pPr>
            <a:endParaRPr lang="en-US" sz="1900" dirty="0" smtClean="0">
              <a:ln>
                <a:solidFill>
                  <a:schemeClr val="bg1">
                    <a:lumMod val="50000"/>
                    <a:alpha val="48000"/>
                  </a:schemeClr>
                </a:solidFill>
              </a:ln>
              <a:solidFill>
                <a:schemeClr val="accent6"/>
              </a:solidFill>
            </a:endParaRPr>
          </a:p>
          <a:p>
            <a:pPr marL="45720" indent="0">
              <a:buNone/>
            </a:pP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-Replicate when host </a:t>
            </a: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program is </a:t>
            </a: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executed</a:t>
            </a:r>
            <a:endParaRPr lang="en-US" sz="1900" dirty="0">
              <a:ln>
                <a:solidFill>
                  <a:schemeClr val="bg1">
                    <a:lumMod val="50000"/>
                    <a:alpha val="48000"/>
                  </a:schemeClr>
                </a:solidFill>
              </a:ln>
              <a:solidFill>
                <a:schemeClr val="accent6"/>
              </a:solidFill>
            </a:endParaRPr>
          </a:p>
          <a:p>
            <a:pPr marL="45720" indent="0">
              <a:buNone/>
            </a:pPr>
            <a:endParaRPr lang="en-US" sz="1900" dirty="0" smtClean="0">
              <a:ln>
                <a:solidFill>
                  <a:schemeClr val="bg1">
                    <a:lumMod val="50000"/>
                    <a:alpha val="48000"/>
                  </a:schemeClr>
                </a:solidFill>
              </a:ln>
              <a:solidFill>
                <a:schemeClr val="accent6"/>
              </a:solidFill>
            </a:endParaRPr>
          </a:p>
          <a:p>
            <a:pPr marL="45720" indent="0">
              <a:buNone/>
            </a:pPr>
            <a:r>
              <a:rPr lang="en-US" sz="1900" dirty="0" smtClean="0">
                <a:ln>
                  <a:solidFill>
                    <a:schemeClr val="bg1">
                      <a:lumMod val="50000"/>
                      <a:alpha val="48000"/>
                    </a:schemeClr>
                  </a:solidFill>
                </a:ln>
                <a:solidFill>
                  <a:schemeClr val="accent6"/>
                </a:solidFill>
              </a:rPr>
              <a:t>Now infects other programs</a:t>
            </a:r>
            <a:endParaRPr lang="en-US" sz="1900" dirty="0">
              <a:ln>
                <a:solidFill>
                  <a:schemeClr val="bg1">
                    <a:lumMod val="50000"/>
                    <a:alpha val="48000"/>
                  </a:schemeClr>
                </a:solidFill>
              </a:ln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9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296399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138948"/>
            <a:ext cx="2228850" cy="268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376360"/>
            <a:ext cx="28575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3962400"/>
            <a:ext cx="2686050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14499"/>
            <a:ext cx="26670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283911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Four Phases of a Virus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725704"/>
            <a:ext cx="9753600" cy="53797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 smtClean="0"/>
              <a:t>        </a:t>
            </a:r>
            <a:r>
              <a:rPr lang="en-US" b="1" dirty="0" smtClean="0">
                <a:solidFill>
                  <a:schemeClr val="accent6"/>
                </a:solidFill>
              </a:rPr>
              <a:t>1. Dormant Phase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 smtClean="0"/>
              <a:t>                                                                  </a:t>
            </a:r>
            <a:r>
              <a:rPr lang="en-US" b="1" dirty="0" smtClean="0">
                <a:solidFill>
                  <a:schemeClr val="bg1"/>
                </a:solidFill>
              </a:rPr>
              <a:t>3. Triggering </a:t>
            </a:r>
            <a:r>
              <a:rPr lang="en-US" b="1" dirty="0">
                <a:solidFill>
                  <a:schemeClr val="bg1"/>
                </a:solidFill>
              </a:rPr>
              <a:t>Phase</a:t>
            </a:r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b="1" dirty="0" smtClean="0">
                <a:solidFill>
                  <a:srgbClr val="623385"/>
                </a:solidFill>
              </a:rPr>
              <a:t>2. Propagation Phase</a:t>
            </a:r>
          </a:p>
          <a:p>
            <a:pPr marL="45720" indent="0">
              <a:buNone/>
            </a:pPr>
            <a:r>
              <a:rPr lang="en-US" b="1" dirty="0">
                <a:solidFill>
                  <a:srgbClr val="623385"/>
                </a:solidFill>
              </a:rPr>
              <a:t>                                                                    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4. Execution Phase</a:t>
            </a:r>
          </a:p>
          <a:p>
            <a:pPr marL="45720" indent="0">
              <a:buNone/>
            </a:pPr>
            <a:endParaRPr lang="en-US" b="1" dirty="0" smtClean="0">
              <a:solidFill>
                <a:srgbClr val="623385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      </a:t>
            </a:r>
          </a:p>
        </p:txBody>
      </p:sp>
      <p:pic>
        <p:nvPicPr>
          <p:cNvPr id="5122" name="Picture 2" descr="C:\Users\qtjq\AppData\Local\Microsoft\Windows\Temporary Internet Files\Content.IE5\25463NUB\MM900288872[1]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"/>
            <a:ext cx="72390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75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00" y="0"/>
            <a:ext cx="1227739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6400" y="914400"/>
            <a:ext cx="2590800" cy="5791200"/>
          </a:xfrm>
        </p:spPr>
        <p:txBody>
          <a:bodyPr vert="wordArtVer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52400"/>
            <a:ext cx="9144000" cy="716280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r>
              <a:rPr lang="en-US" b="1" dirty="0" smtClean="0">
                <a:solidFill>
                  <a:srgbClr val="D9E5D3"/>
                </a:solidFill>
              </a:rPr>
              <a:t>                              Virus </a:t>
            </a:r>
            <a:r>
              <a:rPr lang="en-US" b="1" dirty="0">
                <a:solidFill>
                  <a:srgbClr val="D9E5D3"/>
                </a:solidFill>
              </a:rPr>
              <a:t>Structure has four </a:t>
            </a:r>
            <a:r>
              <a:rPr lang="en-US" b="1" dirty="0" smtClean="0">
                <a:solidFill>
                  <a:srgbClr val="D9E5D3"/>
                </a:solidFill>
              </a:rPr>
              <a:t>parts</a:t>
            </a:r>
            <a:endParaRPr lang="en-US" b="1" dirty="0">
              <a:solidFill>
                <a:srgbClr val="D9E5D3"/>
              </a:solidFill>
            </a:endParaRPr>
          </a:p>
          <a:p>
            <a:pPr marL="45720" indent="0">
              <a:buNone/>
            </a:pPr>
            <a:r>
              <a:rPr lang="en-US" sz="1800" b="1" dirty="0">
                <a:solidFill>
                  <a:srgbClr val="D9E5D3"/>
                </a:solidFill>
              </a:rPr>
              <a:t>1-  Mark can prevent re-infection attempts</a:t>
            </a:r>
          </a:p>
          <a:p>
            <a:pPr marL="45720" indent="0">
              <a:buNone/>
            </a:pPr>
            <a:r>
              <a:rPr lang="en-US" sz="1800" b="1" dirty="0" smtClean="0">
                <a:solidFill>
                  <a:srgbClr val="D9E5D3"/>
                </a:solidFill>
              </a:rPr>
              <a:t>            2-  </a:t>
            </a:r>
            <a:r>
              <a:rPr lang="en-US" sz="1800" b="1" dirty="0">
                <a:solidFill>
                  <a:srgbClr val="D9E5D3"/>
                </a:solidFill>
              </a:rPr>
              <a:t>Infection Mechanism causes spread to other files</a:t>
            </a:r>
          </a:p>
          <a:p>
            <a:pPr marL="45720" indent="0">
              <a:buNone/>
            </a:pPr>
            <a:r>
              <a:rPr lang="en-US" sz="1800" b="1" dirty="0" smtClean="0">
                <a:solidFill>
                  <a:srgbClr val="D9E5D3"/>
                </a:solidFill>
              </a:rPr>
              <a:t>                           3-  </a:t>
            </a:r>
            <a:r>
              <a:rPr lang="en-US" sz="1800" b="1" dirty="0">
                <a:solidFill>
                  <a:srgbClr val="D9E5D3"/>
                </a:solidFill>
              </a:rPr>
              <a:t>Trigger are conditions for delivering payload</a:t>
            </a:r>
          </a:p>
          <a:p>
            <a:pPr marL="45720" indent="0">
              <a:buNone/>
            </a:pPr>
            <a:r>
              <a:rPr lang="en-US" sz="1800" b="1" dirty="0" smtClean="0">
                <a:solidFill>
                  <a:srgbClr val="D9E5D3"/>
                </a:solidFill>
              </a:rPr>
              <a:t>                                          4-  </a:t>
            </a:r>
            <a:r>
              <a:rPr lang="en-US" sz="1800" b="1" dirty="0">
                <a:solidFill>
                  <a:srgbClr val="D9E5D3"/>
                </a:solidFill>
              </a:rPr>
              <a:t>Payload is the possible damage to infected computer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3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236</TotalTime>
  <Words>273</Words>
  <Application>Microsoft Macintosh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Slipstream</vt:lpstr>
      <vt:lpstr>                 Malicious Code</vt:lpstr>
      <vt:lpstr>PowerPoint Presentation</vt:lpstr>
      <vt:lpstr>What is malicious code?</vt:lpstr>
      <vt:lpstr> Programmed Threats</vt:lpstr>
      <vt:lpstr>Two categories of Malicious Code</vt:lpstr>
      <vt:lpstr>Parts Of Malicious Software</vt:lpstr>
      <vt:lpstr>Computer Virus</vt:lpstr>
      <vt:lpstr>Four Phases of a Virus  </vt:lpstr>
      <vt:lpstr>PowerPoint Presentation</vt:lpstr>
    </vt:vector>
  </TitlesOfParts>
  <Company>IUP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Brittany Lynn Polca</dc:creator>
  <cp:lastModifiedBy>amir</cp:lastModifiedBy>
  <cp:revision>25</cp:revision>
  <dcterms:created xsi:type="dcterms:W3CDTF">2011-12-01T14:39:48Z</dcterms:created>
  <dcterms:modified xsi:type="dcterms:W3CDTF">2017-10-24T23:46:19Z</dcterms:modified>
</cp:coreProperties>
</file>