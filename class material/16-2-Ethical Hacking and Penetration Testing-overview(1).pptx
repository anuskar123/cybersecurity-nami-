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84" r:id="rId10"/>
    <p:sldId id="285" r:id="rId11"/>
    <p:sldId id="275" r:id="rId12"/>
    <p:sldId id="276" r:id="rId13"/>
    <p:sldId id="277" r:id="rId14"/>
    <p:sldId id="281" r:id="rId15"/>
    <p:sldId id="282" r:id="rId16"/>
    <p:sldId id="283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AFAD7-7215-4619-9CDB-FE3DEF0CB20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4B1DA-B483-46B3-9E74-36AB13A34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81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68C01EF-B05E-43B7-A2F5-A27A26F40CE6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1776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3E1F5A-55E3-4257-8F4A-E697D92724A4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887756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9C74C22-9D36-4058-918B-23BB22DF9E81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128965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E35A2C7-F693-40E5-9AEB-C5C6064D54BE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352147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5290CF9-5D4A-4D6A-A30C-44BED1DE0A97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63952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354B448-B0AC-497A-8F6F-E6D9513ACB1C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89526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3C8AD12-439F-4BD2-8D9F-34EA1FAE11C5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79493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09EE2D-C76E-451E-904E-8FDC3FCE448B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15519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86F065A-DA31-4E49-8234-2ED36CA1CB2A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05052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EBADC45-FFA8-4A1A-B756-EC097D468194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27918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F9BF08A-72AB-45B3-BD31-C2694EDF3AEA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80842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29735C1-D0CA-45D6-BE6A-BA6BAF2BA3B6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28831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B5DC2A-BC0D-4718-9AFD-F9448729A300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36872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B5DC2A-BC0D-4718-9AFD-F9448729A300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97596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272-088D-4B60-972B-C47ED40269D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4904-28D9-4445-A468-FABBE1F36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908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272-088D-4B60-972B-C47ED40269D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4904-28D9-4445-A468-FABBE1F36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89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272-088D-4B60-972B-C47ED40269D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4904-28D9-4445-A468-FABBE1F36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73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272-088D-4B60-972B-C47ED40269D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4904-28D9-4445-A468-FABBE1F36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468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272-088D-4B60-972B-C47ED40269D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4904-28D9-4445-A468-FABBE1F36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282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272-088D-4B60-972B-C47ED40269D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4904-28D9-4445-A468-FABBE1F36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93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272-088D-4B60-972B-C47ED40269D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4904-28D9-4445-A468-FABBE1F36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961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272-088D-4B60-972B-C47ED40269D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4904-28D9-4445-A468-FABBE1F36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302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272-088D-4B60-972B-C47ED40269D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4904-28D9-4445-A468-FABBE1F36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42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272-088D-4B60-972B-C47ED40269D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4904-28D9-4445-A468-FABBE1F36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215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272-088D-4B60-972B-C47ED40269D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4904-28D9-4445-A468-FABBE1F36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103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Hands-On Ethical Hacking and Network Defense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AEA9CB1-13F4-4955-AB1B-5A99CC5B54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095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24272-088D-4B60-972B-C47ED40269DD}" type="datetimeFigureOut">
              <a:rPr lang="en-GB" smtClean="0"/>
              <a:t>28/10/2016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84904-28D9-4445-A468-FABBE1F36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10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2133600" y="1447800"/>
            <a:ext cx="8001000" cy="22098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Ethical Hacking and Penetration Testing </a:t>
            </a:r>
          </a:p>
        </p:txBody>
      </p:sp>
      <p:sp>
        <p:nvSpPr>
          <p:cNvPr id="40963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4953000"/>
            <a:ext cx="8077200" cy="14478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400" i="1" dirty="0" smtClean="0"/>
              <a:t>Ethical </a:t>
            </a:r>
            <a:r>
              <a:rPr lang="en-US" altLang="en-US" sz="3400" i="1" dirty="0"/>
              <a:t>Hacking Overview</a:t>
            </a:r>
          </a:p>
        </p:txBody>
      </p:sp>
      <p:sp>
        <p:nvSpPr>
          <p:cNvPr id="40965" name="TextBox 4"/>
          <p:cNvSpPr txBox="1">
            <a:spLocks noChangeArrowheads="1"/>
          </p:cNvSpPr>
          <p:nvPr/>
        </p:nvSpPr>
        <p:spPr bwMode="auto">
          <a:xfrm>
            <a:off x="7696200" y="6172200"/>
            <a:ext cx="2819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000">
                <a:solidFill>
                  <a:srgbClr val="FFFFFF"/>
                </a:solidFill>
                <a:latin typeface="Times New Roman" panose="02020603050405020304" pitchFamily="18" charset="0"/>
              </a:rPr>
              <a:t>Last modified 8-21-14</a:t>
            </a:r>
          </a:p>
        </p:txBody>
      </p:sp>
    </p:spTree>
    <p:extLst>
      <p:ext uri="{BB962C8B-B14F-4D97-AF65-F5344CB8AC3E}">
        <p14:creationId xmlns:p14="http://schemas.microsoft.com/office/powerpoint/2010/main" val="189273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8077200" cy="10668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Introduction to Ethical Hacking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229600" cy="51054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en-US" sz="2700" dirty="0"/>
              <a:t>Ethical hackers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dirty="0"/>
              <a:t>Employed by companies to perform penetration tests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en-US" sz="2700" dirty="0"/>
              <a:t>Penetration test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dirty="0"/>
              <a:t>Legal attempt to break into a company</a:t>
            </a:r>
            <a:r>
              <a:rPr lang="ja-JP" altLang="en-US" dirty="0"/>
              <a:t>’</a:t>
            </a:r>
            <a:r>
              <a:rPr lang="en-US" altLang="ja-JP" dirty="0"/>
              <a:t>s network to find its weakest link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dirty="0"/>
              <a:t>Tester only reports findings, does not solve problems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en-US" sz="2700" dirty="0"/>
              <a:t>Security test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dirty="0"/>
              <a:t>More than an attempt to break in; also includes analyzing company</a:t>
            </a:r>
            <a:r>
              <a:rPr lang="ja-JP" altLang="en-US" dirty="0"/>
              <a:t>’</a:t>
            </a:r>
            <a:r>
              <a:rPr lang="en-US" altLang="ja-JP" dirty="0"/>
              <a:t>s security policy and procedures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dirty="0"/>
              <a:t>Tester offers solutions to secure or protect the network</a:t>
            </a:r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952F80C4-8F37-4820-9BFE-4AFD6483343D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2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99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8077200" cy="1295400"/>
          </a:xfrm>
        </p:spPr>
        <p:txBody>
          <a:bodyPr>
            <a:normAutofit fontScale="9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The Role of Security and Penetration Testers 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05000"/>
            <a:ext cx="8305800" cy="4343400"/>
          </a:xfrm>
        </p:spPr>
        <p:txBody>
          <a:bodyPr rtlCol="0">
            <a:normAutofit/>
          </a:bodyPr>
          <a:lstStyle/>
          <a:p>
            <a:pPr marL="438912" indent="-32004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 2"/>
              <a:buChar char=""/>
              <a:defRPr/>
            </a:pPr>
            <a:r>
              <a:rPr lang="en-US" dirty="0" smtClean="0">
                <a:ea typeface="+mn-ea"/>
                <a:cs typeface="+mn-cs"/>
              </a:rPr>
              <a:t>Experienced </a:t>
            </a:r>
            <a:r>
              <a:rPr lang="en-US" dirty="0" smtClean="0">
                <a:ea typeface="+mn-ea"/>
                <a:cs typeface="+mn-cs"/>
              </a:rPr>
              <a:t>penetration testers write programs or scripts using these languages</a:t>
            </a:r>
          </a:p>
          <a:p>
            <a:pPr marL="731520" lvl="1" indent="-27432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defRPr/>
            </a:pPr>
            <a:r>
              <a:rPr lang="en-US" dirty="0" smtClean="0">
                <a:ea typeface="+mn-ea"/>
              </a:rPr>
              <a:t>Practical Extraction and Report Language (Perl), C, C++, Python, JavaScript, Visual Basic, SQL, and many </a:t>
            </a:r>
            <a:r>
              <a:rPr lang="en-US" dirty="0" smtClean="0">
                <a:ea typeface="+mn-ea"/>
              </a:rPr>
              <a:t>others</a:t>
            </a:r>
          </a:p>
          <a:p>
            <a:pPr marL="731520" lvl="1" indent="-27432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defRPr/>
            </a:pPr>
            <a:endParaRPr lang="en-US" dirty="0" smtClean="0">
              <a:ea typeface="+mn-ea"/>
            </a:endParaRPr>
          </a:p>
        </p:txBody>
      </p:sp>
      <p:sp>
        <p:nvSpPr>
          <p:cNvPr id="5017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F4D83311-9B5E-4852-B450-29C747DCFBA8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3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1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2510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It Takes Time to Become a Hacker</a:t>
            </a:r>
            <a:endParaRPr lang="en-US" dirty="0">
              <a:solidFill>
                <a:schemeClr val="accent1">
                  <a:satMod val="150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5222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This module alone won</a:t>
            </a:r>
            <a:r>
              <a:rPr lang="ja-JP" altLang="en-US" dirty="0" smtClean="0"/>
              <a:t>’</a:t>
            </a:r>
            <a:r>
              <a:rPr lang="en-US" altLang="ja-JP" dirty="0" smtClean="0"/>
              <a:t>t make you a hacker, or an expert</a:t>
            </a:r>
          </a:p>
          <a:p>
            <a:pPr eaLnBrk="1" hangingPunct="1"/>
            <a:r>
              <a:rPr lang="en-US" altLang="en-US" dirty="0" smtClean="0"/>
              <a:t>It usually takes years of study and experience to earn respect in the hacker community</a:t>
            </a:r>
          </a:p>
          <a:p>
            <a:pPr eaLnBrk="1" hangingPunct="1"/>
            <a:r>
              <a:rPr lang="en-US" altLang="en-US" dirty="0" smtClean="0"/>
              <a:t>It</a:t>
            </a:r>
            <a:r>
              <a:rPr lang="ja-JP" altLang="en-US" dirty="0" smtClean="0"/>
              <a:t>’</a:t>
            </a:r>
            <a:r>
              <a:rPr lang="en-US" altLang="ja-JP" dirty="0" smtClean="0"/>
              <a:t>s a hobby, a lifestyle, and an attitude</a:t>
            </a:r>
          </a:p>
          <a:p>
            <a:pPr lvl="1" eaLnBrk="1" hangingPunct="1"/>
            <a:r>
              <a:rPr lang="en-US" altLang="en-US" dirty="0" smtClean="0"/>
              <a:t>A drive to figure out how things work</a:t>
            </a:r>
          </a:p>
        </p:txBody>
      </p:sp>
      <p:sp>
        <p:nvSpPr>
          <p:cNvPr id="5222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0EDD529F-CC88-467D-811E-283911A6327B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4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13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8077200" cy="1295400"/>
          </a:xfrm>
        </p:spPr>
        <p:txBody>
          <a:bodyPr>
            <a:normAutofit fontScale="9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The Role of Security and Penetration Testers </a:t>
            </a: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05000"/>
            <a:ext cx="8305800" cy="4343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Tiger Team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Sponsored individuals with specific expertise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Test system security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Tiger box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Collection of OSs and hacking tools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Usually on a laptop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Helps penetration testers and security testers conduct vulnerabilities assessments and attacks</a:t>
            </a:r>
          </a:p>
        </p:txBody>
      </p:sp>
      <p:sp>
        <p:nvSpPr>
          <p:cNvPr id="53251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6C7B82C4-BDD3-4D71-90FB-D8FA74122E72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5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03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25106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Penetration-Testing Methodologies</a:t>
            </a: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8229600" cy="457200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White box model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Tester is told everything about the network topology and technology</a:t>
            </a:r>
          </a:p>
          <a:p>
            <a:pPr lvl="2" indent="-2730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"/>
            </a:pPr>
            <a:r>
              <a:rPr lang="en-US" altLang="en-US" smtClean="0"/>
              <a:t>Network diagram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Tester is authorized to interview IT personnel and company employees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Makes tester</a:t>
            </a:r>
            <a:r>
              <a:rPr lang="ja-JP" altLang="en-US" smtClean="0"/>
              <a:t>’</a:t>
            </a:r>
            <a:r>
              <a:rPr lang="en-US" altLang="ja-JP" smtClean="0"/>
              <a:t>s job a little easier</a:t>
            </a:r>
            <a:endParaRPr lang="en-US" altLang="en-US" smtClean="0"/>
          </a:p>
        </p:txBody>
      </p:sp>
      <p:sp>
        <p:nvSpPr>
          <p:cNvPr id="5529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A34E7EA2-91D7-4686-A863-87095D858DF1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6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50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25106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Penetration-Testing Methodologies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8229600" cy="4572000"/>
          </a:xfrm>
        </p:spPr>
        <p:txBody>
          <a:bodyPr rtlCol="0">
            <a:normAutofit/>
          </a:bodyPr>
          <a:lstStyle/>
          <a:p>
            <a:pPr marL="438912" indent="-32004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 2"/>
              <a:buChar char=""/>
              <a:defRPr/>
            </a:pPr>
            <a:r>
              <a:rPr lang="en-US" dirty="0" smtClean="0">
                <a:ea typeface="+mn-ea"/>
                <a:cs typeface="+mn-cs"/>
              </a:rPr>
              <a:t>Black box model</a:t>
            </a:r>
          </a:p>
          <a:p>
            <a:pPr marL="731520" lvl="1" indent="-27432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defRPr/>
            </a:pPr>
            <a:r>
              <a:rPr lang="en-US" dirty="0" smtClean="0">
                <a:ea typeface="+mn-ea"/>
              </a:rPr>
              <a:t>Company staff does not know about the test</a:t>
            </a:r>
          </a:p>
          <a:p>
            <a:pPr marL="731520" lvl="1" indent="-27432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defRPr/>
            </a:pPr>
            <a:r>
              <a:rPr lang="en-US" dirty="0" smtClean="0">
                <a:ea typeface="+mn-ea"/>
              </a:rPr>
              <a:t>Tester is not given details about the network</a:t>
            </a:r>
          </a:p>
          <a:p>
            <a:pPr marL="996696" lvl="2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/>
              <a:buChar char="▪"/>
              <a:defRPr/>
            </a:pPr>
            <a:r>
              <a:rPr lang="en-US" dirty="0" smtClean="0">
                <a:ea typeface="+mn-ea"/>
              </a:rPr>
              <a:t>Burden is on the tester to find these details</a:t>
            </a:r>
          </a:p>
          <a:p>
            <a:pPr marL="731520" lvl="1" indent="-27432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defRPr/>
            </a:pPr>
            <a:r>
              <a:rPr lang="en-US" dirty="0" smtClean="0">
                <a:ea typeface="+mn-ea"/>
              </a:rPr>
              <a:t>Tests if security personnel are able to detect an attack</a:t>
            </a:r>
          </a:p>
        </p:txBody>
      </p:sp>
      <p:sp>
        <p:nvSpPr>
          <p:cNvPr id="6041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AE1110E3-C1E5-4207-B30D-065CEC2CBE67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7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92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25106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200" dirty="0">
                <a:solidFill>
                  <a:schemeClr val="accent1">
                    <a:satMod val="150000"/>
                  </a:schemeClr>
                </a:solidFill>
              </a:rPr>
              <a:t>Penetration-Testing Methodologies </a:t>
            </a: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8229600" cy="45720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Gray box model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Hybrid of the white and black box models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Company gives tester partial information</a:t>
            </a:r>
          </a:p>
        </p:txBody>
      </p:sp>
      <p:sp>
        <p:nvSpPr>
          <p:cNvPr id="62467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D5FC894F-6612-44DC-9706-04B6A4BA4C9D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8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32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satMod val="150000"/>
                  </a:schemeClr>
                </a:solidFill>
              </a:rPr>
              <a:t>Penetration-Testing goals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Determine feasibility of a particular set of attack methods</a:t>
            </a:r>
          </a:p>
          <a:p>
            <a:endParaRPr lang="en-GB" dirty="0" smtClean="0"/>
          </a:p>
          <a:p>
            <a:r>
              <a:rPr lang="en-GB" dirty="0" smtClean="0"/>
              <a:t>Identify high-risk vulnerabilities from a combination of lower-risk vulnerabilities exploited in a particular sequence</a:t>
            </a:r>
          </a:p>
          <a:p>
            <a:endParaRPr lang="en-GB" dirty="0" smtClean="0"/>
          </a:p>
          <a:p>
            <a:r>
              <a:rPr lang="en-GB" dirty="0" smtClean="0"/>
              <a:t>Identify vulnerabilities that may be difficult or impossible to detect with automated network or application vulnerability scanning software</a:t>
            </a:r>
          </a:p>
          <a:p>
            <a:endParaRPr lang="en-GB" dirty="0" smtClean="0"/>
          </a:p>
          <a:p>
            <a:r>
              <a:rPr lang="en-GB" dirty="0" smtClean="0"/>
              <a:t>Assess the magnitude of potential business and operational impacts of successful attacks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972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satMod val="150000"/>
                  </a:schemeClr>
                </a:solidFill>
              </a:rPr>
              <a:t>Penetration-Testing goals   </a:t>
            </a:r>
            <a:r>
              <a:rPr lang="en-US" sz="2400" dirty="0" smtClean="0">
                <a:solidFill>
                  <a:schemeClr val="accent1">
                    <a:satMod val="150000"/>
                  </a:schemeClr>
                </a:solidFill>
              </a:rPr>
              <a:t>cont.</a:t>
            </a:r>
            <a:endParaRPr lang="en-GB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Test the ability of network defenders to detect and respond to attacks</a:t>
            </a:r>
          </a:p>
          <a:p>
            <a:endParaRPr lang="en-GB" dirty="0" smtClean="0"/>
          </a:p>
          <a:p>
            <a:r>
              <a:rPr lang="en-GB" dirty="0" smtClean="0"/>
              <a:t>Provide evidence to support increased investments in security personnel and technology</a:t>
            </a:r>
          </a:p>
          <a:p>
            <a:endParaRPr lang="en-GB" dirty="0" smtClean="0"/>
          </a:p>
          <a:p>
            <a:r>
              <a:rPr lang="en-GB" dirty="0" smtClean="0"/>
              <a:t>Report to the system owner. </a:t>
            </a:r>
          </a:p>
          <a:p>
            <a:pPr lvl="1"/>
            <a:r>
              <a:rPr lang="en-GB" dirty="0" smtClean="0"/>
              <a:t>Penetration test reports should also assess potential impacts to the organization and suggest countermeasures to reduce risk.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06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25106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What You Can Do Legally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524000"/>
            <a:ext cx="8534400" cy="4724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Laws involving technology change as rapidly as technology itself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Find what is legal for you locally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Laws change from place to place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Be aware of what is allowed and what is not allowed</a:t>
            </a:r>
          </a:p>
        </p:txBody>
      </p:sp>
      <p:sp>
        <p:nvSpPr>
          <p:cNvPr id="76803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CD0F104C-AFE5-407C-B751-5875E43C63C7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11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07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25106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Laws of the Land</a:t>
            </a:r>
          </a:p>
        </p:txBody>
      </p:sp>
      <p:sp>
        <p:nvSpPr>
          <p:cNvPr id="788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752600"/>
            <a:ext cx="8382000" cy="44958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Tools on your computer might be illegal to possess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Know the (local) law before installing hacking tools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Written words are open to interpretation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Governments are getting more serious about punishment for cybercrimes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 smtClean="0"/>
          </a:p>
        </p:txBody>
      </p:sp>
      <p:sp>
        <p:nvSpPr>
          <p:cNvPr id="78851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BB6D38ED-A099-4890-9755-2EB20CF6DDC8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12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02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25106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Is Port Scanning Legal?</a:t>
            </a:r>
          </a:p>
        </p:txBody>
      </p:sp>
      <p:sp>
        <p:nvSpPr>
          <p:cNvPr id="809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/>
              <a:t>Some </a:t>
            </a:r>
            <a:r>
              <a:rPr lang="en-US" altLang="en-US" sz="3000" dirty="0" smtClean="0"/>
              <a:t>countries </a:t>
            </a:r>
            <a:r>
              <a:rPr lang="en-US" altLang="en-US" sz="3000" dirty="0"/>
              <a:t>deem it legal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/>
              <a:t>Not always the case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 smtClean="0"/>
              <a:t>The US Federal </a:t>
            </a:r>
            <a:r>
              <a:rPr lang="en-US" altLang="en-US" sz="3000" dirty="0"/>
              <a:t>Government does not see it as a violation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600" dirty="0"/>
              <a:t>Allows each state to address it separately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 smtClean="0"/>
              <a:t>EU Policy on penetration testing will be published in 2016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 smtClean="0"/>
              <a:t>Read </a:t>
            </a:r>
            <a:r>
              <a:rPr lang="en-US" altLang="en-US" sz="3000" dirty="0"/>
              <a:t>your ISP</a:t>
            </a:r>
            <a:r>
              <a:rPr lang="ja-JP" altLang="en-US" sz="3000" dirty="0"/>
              <a:t>’</a:t>
            </a:r>
            <a:r>
              <a:rPr lang="en-US" altLang="ja-JP" sz="3000" dirty="0"/>
              <a:t>s </a:t>
            </a:r>
            <a:r>
              <a:rPr lang="ja-JP" altLang="en-US" sz="3000" dirty="0"/>
              <a:t>“</a:t>
            </a:r>
            <a:r>
              <a:rPr lang="en-US" altLang="ja-JP" sz="3000" dirty="0"/>
              <a:t>Acceptable Use Policy</a:t>
            </a:r>
            <a:r>
              <a:rPr lang="ja-JP" altLang="en-US" sz="3000" dirty="0"/>
              <a:t>”</a:t>
            </a:r>
            <a:endParaRPr lang="en-US" altLang="ja-JP" sz="3000" dirty="0"/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 2" panose="05020102010507070707" pitchFamily="18" charset="2"/>
              <a:buChar char=""/>
            </a:pPr>
            <a:r>
              <a:rPr lang="en-US" altLang="en-US" sz="2600" dirty="0"/>
              <a:t>IRC </a:t>
            </a:r>
            <a:r>
              <a:rPr lang="ja-JP" altLang="en-US" sz="2600" dirty="0"/>
              <a:t>“</a:t>
            </a:r>
            <a:r>
              <a:rPr lang="en-US" altLang="ja-JP" sz="2600" dirty="0"/>
              <a:t>bots</a:t>
            </a:r>
            <a:r>
              <a:rPr lang="ja-JP" altLang="en-US" sz="2600" dirty="0"/>
              <a:t>”</a:t>
            </a:r>
            <a:r>
              <a:rPr lang="en-US" altLang="ja-JP" sz="2600" dirty="0"/>
              <a:t> may be forbidden</a:t>
            </a:r>
          </a:p>
          <a:p>
            <a:pPr lvl="2" indent="-2730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"/>
            </a:pPr>
            <a:r>
              <a:rPr lang="en-US" altLang="en-US" sz="2200" dirty="0"/>
              <a:t>Program that sends automatic responses to users</a:t>
            </a:r>
          </a:p>
          <a:p>
            <a:pPr lvl="2" indent="-2730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"/>
            </a:pPr>
            <a:r>
              <a:rPr lang="en-US" altLang="en-US" sz="2200" dirty="0"/>
              <a:t>Gives the appearance of a person being present</a:t>
            </a:r>
          </a:p>
        </p:txBody>
      </p:sp>
      <p:sp>
        <p:nvSpPr>
          <p:cNvPr id="8089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2C4DEDA4-93EF-4F67-92C8-1919EB7D5315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13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30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8077200" cy="11430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What You Cannot Do Legally</a:t>
            </a:r>
          </a:p>
        </p:txBody>
      </p:sp>
      <p:sp>
        <p:nvSpPr>
          <p:cNvPr id="890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447800"/>
            <a:ext cx="8534400" cy="4724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Accessing a computer without permission is illegal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Other illegal actions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Installing worms or viruses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Denial of Service attacks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Denying users access to network resources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Be careful your actions do not prevent Users from performing their day to day tasks</a:t>
            </a:r>
          </a:p>
        </p:txBody>
      </p:sp>
      <p:sp>
        <p:nvSpPr>
          <p:cNvPr id="89091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9CE8132B-9465-459E-8951-7107A368ED01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14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68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25106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Get It in Writing</a:t>
            </a:r>
          </a:p>
        </p:txBody>
      </p:sp>
      <p:sp>
        <p:nvSpPr>
          <p:cNvPr id="911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676400"/>
            <a:ext cx="8458200" cy="45720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/>
              <a:t>Using a contract is just good business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/>
              <a:t>Contracts may be useful in court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 smtClean="0"/>
              <a:t>Internet </a:t>
            </a:r>
            <a:r>
              <a:rPr lang="en-US" altLang="en-US" sz="3000" dirty="0"/>
              <a:t>can also be a useful resource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/>
              <a:t>Have </a:t>
            </a:r>
            <a:r>
              <a:rPr lang="en-US" altLang="en-US" sz="3000" dirty="0" smtClean="0"/>
              <a:t>a legal expert </a:t>
            </a:r>
            <a:r>
              <a:rPr lang="en-US" altLang="en-US" sz="3000" dirty="0"/>
              <a:t>read over your contract before sending or signing it </a:t>
            </a:r>
          </a:p>
        </p:txBody>
      </p:sp>
      <p:sp>
        <p:nvSpPr>
          <p:cNvPr id="9113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5D61D926-B8C5-4074-8F95-37271C21E11F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15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67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25106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Ethical Hacking in a Nutshell</a:t>
            </a:r>
          </a:p>
        </p:txBody>
      </p:sp>
      <p:sp>
        <p:nvSpPr>
          <p:cNvPr id="931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676400"/>
            <a:ext cx="8305800" cy="45720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What it takes to be a security tester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Knowledge of network and computer technology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Ability to communicate with management and IT personnel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Understanding of the laws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mtClean="0"/>
              <a:t>Ability to use necessary tools</a:t>
            </a:r>
          </a:p>
        </p:txBody>
      </p:sp>
      <p:sp>
        <p:nvSpPr>
          <p:cNvPr id="93187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F8566046-E50E-4D61-89BA-2384982711B9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16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08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25106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dirty="0" smtClean="0">
                <a:solidFill>
                  <a:schemeClr val="accent1">
                    <a:satMod val="150000"/>
                  </a:schemeClr>
                </a:solidFill>
                <a:ea typeface="+mj-ea"/>
                <a:cs typeface="+mj-cs"/>
              </a:rPr>
              <a:t>Ethical Hacking in a Nutshell</a:t>
            </a:r>
          </a:p>
        </p:txBody>
      </p:sp>
      <p:sp>
        <p:nvSpPr>
          <p:cNvPr id="931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676400"/>
            <a:ext cx="8305800" cy="4572000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altLang="en-US" dirty="0" smtClean="0"/>
          </a:p>
        </p:txBody>
      </p:sp>
      <p:sp>
        <p:nvSpPr>
          <p:cNvPr id="93187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chemeClr val="accent1"/>
              </a:buClr>
              <a:buSzPct val="80000"/>
              <a:buFont typeface="Wingdings 2" panose="05020102010507070707" pitchFamily="18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Tx/>
              <a:buSzTx/>
              <a:buFontTx/>
              <a:buNone/>
            </a:pPr>
            <a:fld id="{F8566046-E50E-4D61-89BA-2384982711B9}" type="slidenum">
              <a:rPr lang="en-US" altLang="en-US" sz="1200">
                <a:solidFill>
                  <a:srgbClr val="3F3F3F"/>
                </a:solidFill>
                <a:latin typeface="Times New Roman" panose="02020603050405020304" pitchFamily="18" charset="0"/>
              </a:rPr>
              <a:pPr>
                <a:buClrTx/>
                <a:buSzTx/>
                <a:buFontTx/>
                <a:buNone/>
              </a:pPr>
              <a:t>17</a:t>
            </a:fld>
            <a:endParaRPr lang="en-US" altLang="en-US" sz="1200">
              <a:solidFill>
                <a:srgbClr val="3F3F3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685925"/>
            <a:ext cx="6866059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7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How to become an Ethical Hacker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330" y="2367094"/>
            <a:ext cx="7772870" cy="3424107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 smtClean="0"/>
              <a:t>You need to meet the following requirements:</a:t>
            </a:r>
          </a:p>
          <a:p>
            <a:endParaRPr lang="en-GB" dirty="0"/>
          </a:p>
          <a:p>
            <a:r>
              <a:rPr lang="en-GB" dirty="0" smtClean="0"/>
              <a:t>Should be proficient with programming and computer networking skills</a:t>
            </a:r>
          </a:p>
          <a:p>
            <a:r>
              <a:rPr lang="en-GB" dirty="0" smtClean="0"/>
              <a:t>Should be familiar with vulnerability research</a:t>
            </a:r>
          </a:p>
          <a:p>
            <a:r>
              <a:rPr lang="en-GB" dirty="0" smtClean="0"/>
              <a:t>Should have good knowledge of hacking techniques</a:t>
            </a:r>
          </a:p>
          <a:p>
            <a:r>
              <a:rPr lang="en-GB" dirty="0" smtClean="0"/>
              <a:t>Should be prepared to follow a strict code of conduct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5274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710" y="188640"/>
            <a:ext cx="7055380" cy="1664608"/>
          </a:xfrm>
        </p:spPr>
        <p:txBody>
          <a:bodyPr/>
          <a:lstStyle/>
          <a:p>
            <a:pPr algn="ctr"/>
            <a:r>
              <a:rPr lang="en-GB" dirty="0" smtClean="0">
                <a:solidFill>
                  <a:schemeClr val="accent1"/>
                </a:solidFill>
              </a:rPr>
              <a:t>Some</a:t>
            </a:r>
            <a:br>
              <a:rPr lang="en-GB" dirty="0" smtClean="0">
                <a:solidFill>
                  <a:schemeClr val="accent1"/>
                </a:solidFill>
              </a:rPr>
            </a:br>
            <a:r>
              <a:rPr lang="en-GB" dirty="0" smtClean="0">
                <a:solidFill>
                  <a:schemeClr val="accent1"/>
                </a:solidFill>
              </a:rPr>
              <a:t>Global Certificates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1772817"/>
            <a:ext cx="7903714" cy="468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68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710" y="452718"/>
            <a:ext cx="7055380" cy="1104074"/>
          </a:xfrm>
        </p:spPr>
        <p:txBody>
          <a:bodyPr/>
          <a:lstStyle/>
          <a:p>
            <a:pPr algn="ctr"/>
            <a:r>
              <a:rPr lang="en-GB" dirty="0" smtClean="0">
                <a:solidFill>
                  <a:schemeClr val="accent1"/>
                </a:solidFill>
              </a:rPr>
              <a:t>Ethical Hacking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9" y="1844824"/>
            <a:ext cx="559434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97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1664" y="116633"/>
            <a:ext cx="7772400" cy="1470025"/>
          </a:xfrm>
        </p:spPr>
        <p:txBody>
          <a:bodyPr/>
          <a:lstStyle/>
          <a:p>
            <a:r>
              <a:rPr lang="en-GB" sz="4400" dirty="0">
                <a:solidFill>
                  <a:schemeClr val="accent1"/>
                </a:solidFill>
              </a:rPr>
              <a:t>Ethical Hacking &amp; Penetration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1544" y="1619948"/>
            <a:ext cx="8501122" cy="485778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GB" dirty="0"/>
              <a:t>Stage 1</a:t>
            </a:r>
          </a:p>
          <a:p>
            <a:pPr algn="l"/>
            <a:r>
              <a:rPr lang="en-GB" dirty="0"/>
              <a:t>Reconnaissance – Information gathering</a:t>
            </a:r>
          </a:p>
          <a:p>
            <a:pPr algn="l"/>
            <a:r>
              <a:rPr lang="en-GB" dirty="0"/>
              <a:t>		Passive </a:t>
            </a:r>
            <a:r>
              <a:rPr lang="en-GB" dirty="0" err="1"/>
              <a:t>vs</a:t>
            </a:r>
            <a:r>
              <a:rPr lang="en-GB" dirty="0"/>
              <a:t> Active</a:t>
            </a:r>
          </a:p>
          <a:p>
            <a:pPr algn="l"/>
            <a:r>
              <a:rPr lang="en-GB" dirty="0"/>
              <a:t>		Tools used</a:t>
            </a:r>
          </a:p>
          <a:p>
            <a:pPr algn="l"/>
            <a:r>
              <a:rPr lang="en-GB" dirty="0"/>
              <a:t>Stage 2</a:t>
            </a:r>
          </a:p>
          <a:p>
            <a:pPr algn="l"/>
            <a:r>
              <a:rPr lang="en-GB" dirty="0"/>
              <a:t>Scanning – Specific details about a networked system</a:t>
            </a:r>
          </a:p>
          <a:p>
            <a:pPr algn="l"/>
            <a:r>
              <a:rPr lang="en-GB" dirty="0"/>
              <a:t>		port, network, vulnerability</a:t>
            </a:r>
          </a:p>
          <a:p>
            <a:pPr algn="l"/>
            <a:r>
              <a:rPr lang="en-GB" dirty="0"/>
              <a:t>		</a:t>
            </a:r>
            <a:r>
              <a:rPr lang="en-GB" dirty="0" err="1"/>
              <a:t>Nmap</a:t>
            </a:r>
            <a:r>
              <a:rPr lang="en-GB" dirty="0"/>
              <a:t>, </a:t>
            </a:r>
            <a:r>
              <a:rPr lang="en-GB" dirty="0" err="1"/>
              <a:t>Nessus</a:t>
            </a:r>
            <a:endParaRPr lang="en-GB" dirty="0"/>
          </a:p>
          <a:p>
            <a:pPr algn="l"/>
            <a:r>
              <a:rPr lang="en-GB" dirty="0"/>
              <a:t>Stage 3</a:t>
            </a:r>
          </a:p>
          <a:p>
            <a:pPr algn="l"/>
            <a:r>
              <a:rPr lang="en-GB" dirty="0"/>
              <a:t>Attempted Access – Penetration attempts</a:t>
            </a:r>
          </a:p>
          <a:p>
            <a:pPr algn="l"/>
            <a:r>
              <a:rPr lang="en-GB" dirty="0"/>
              <a:t>		          LAN, Internet, Intranet, Extranet</a:t>
            </a:r>
          </a:p>
          <a:p>
            <a:pPr algn="l"/>
            <a:r>
              <a:rPr lang="en-GB" dirty="0"/>
              <a:t>Stage 4</a:t>
            </a:r>
          </a:p>
          <a:p>
            <a:pPr algn="l"/>
            <a:r>
              <a:rPr lang="en-GB" dirty="0"/>
              <a:t>Ownership – change access rights to maintain  full functionality</a:t>
            </a:r>
          </a:p>
          <a:p>
            <a:pPr algn="l"/>
            <a:r>
              <a:rPr lang="en-GB" dirty="0"/>
              <a:t>Stage 5</a:t>
            </a:r>
          </a:p>
          <a:p>
            <a:pPr algn="l"/>
            <a:r>
              <a:rPr lang="en-GB" dirty="0"/>
              <a:t>Hide presence- continued use of the system, change log files</a:t>
            </a:r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0014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accent1"/>
                </a:solidFill>
              </a:rPr>
              <a:t>Footprinting</a:t>
            </a:r>
            <a:r>
              <a:rPr lang="en-GB" dirty="0">
                <a:solidFill>
                  <a:schemeClr val="accent1"/>
                </a:solidFill>
              </a:rPr>
              <a:t> Tools: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330" y="2367094"/>
            <a:ext cx="7772870" cy="3424107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GB" dirty="0" err="1" smtClean="0"/>
              <a:t>Whois</a:t>
            </a:r>
            <a:endParaRPr lang="en-GB" dirty="0" smtClean="0"/>
          </a:p>
          <a:p>
            <a:r>
              <a:rPr lang="en-GB" dirty="0" err="1" smtClean="0"/>
              <a:t>Nslookup</a:t>
            </a:r>
            <a:endParaRPr lang="en-GB" dirty="0" smtClean="0"/>
          </a:p>
          <a:p>
            <a:r>
              <a:rPr lang="en-GB" dirty="0" smtClean="0"/>
              <a:t>ARIN</a:t>
            </a:r>
          </a:p>
          <a:p>
            <a:r>
              <a:rPr lang="en-GB" dirty="0" smtClean="0"/>
              <a:t>Neo Trace</a:t>
            </a:r>
          </a:p>
          <a:p>
            <a:r>
              <a:rPr lang="en-GB" dirty="0" err="1" smtClean="0"/>
              <a:t>NetBrute</a:t>
            </a:r>
            <a:endParaRPr lang="en-GB" dirty="0" smtClean="0"/>
          </a:p>
          <a:p>
            <a:r>
              <a:rPr lang="en-GB" dirty="0" err="1" smtClean="0"/>
              <a:t>Nmap</a:t>
            </a:r>
            <a:endParaRPr lang="en-GB" dirty="0" smtClean="0"/>
          </a:p>
          <a:p>
            <a:r>
              <a:rPr lang="en-GB" dirty="0" smtClean="0"/>
              <a:t>Traceroute</a:t>
            </a:r>
          </a:p>
          <a:p>
            <a:r>
              <a:rPr lang="en-GB" dirty="0" smtClean="0"/>
              <a:t>Website watcher</a:t>
            </a:r>
          </a:p>
          <a:p>
            <a:r>
              <a:rPr lang="en-GB" dirty="0" smtClean="0"/>
              <a:t>E-mail Spider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6826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158" y="642918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chemeClr val="accent1"/>
                </a:solidFill>
              </a:rPr>
              <a:t>Penetration </a:t>
            </a:r>
            <a:r>
              <a:rPr lang="en-GB" dirty="0" err="1" smtClean="0">
                <a:solidFill>
                  <a:schemeClr val="accent1"/>
                </a:solidFill>
              </a:rPr>
              <a:t>vs</a:t>
            </a:r>
            <a:r>
              <a:rPr lang="en-GB" dirty="0" smtClean="0">
                <a:solidFill>
                  <a:schemeClr val="accent1"/>
                </a:solidFill>
              </a:rPr>
              <a:t> Vulnerability Test</a:t>
            </a:r>
            <a:endParaRPr lang="en-GB" sz="20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2596" y="2000241"/>
            <a:ext cx="8229600" cy="4525963"/>
          </a:xfrm>
          <a:prstGeom prst="rect">
            <a:avLst/>
          </a:prstGeom>
        </p:spPr>
        <p:txBody>
          <a:bodyPr/>
          <a:lstStyle/>
          <a:p>
            <a:endParaRPr lang="en-GB" dirty="0" smtClean="0"/>
          </a:p>
          <a:p>
            <a:r>
              <a:rPr lang="en-GB" dirty="0" smtClean="0"/>
              <a:t>Vulnerability testing – identify weaknesses</a:t>
            </a:r>
          </a:p>
          <a:p>
            <a:endParaRPr lang="en-GB" dirty="0" smtClean="0"/>
          </a:p>
          <a:p>
            <a:r>
              <a:rPr lang="en-GB" dirty="0" smtClean="0"/>
              <a:t>Pen test : </a:t>
            </a:r>
          </a:p>
          <a:p>
            <a:pPr lvl="1"/>
            <a:r>
              <a:rPr lang="en-GB" dirty="0" smtClean="0"/>
              <a:t>identify measures  to combat</a:t>
            </a:r>
          </a:p>
          <a:p>
            <a:pPr lvl="1"/>
            <a:r>
              <a:rPr lang="en-GB" dirty="0" smtClean="0"/>
              <a:t>actively testing security measures</a:t>
            </a:r>
          </a:p>
          <a:p>
            <a:pPr lvl="1"/>
            <a:r>
              <a:rPr lang="en-GB" dirty="0" smtClean="0"/>
              <a:t>reporting recommendations </a:t>
            </a:r>
          </a:p>
          <a:p>
            <a:pPr>
              <a:buNone/>
            </a:pPr>
            <a:endParaRPr lang="en-GB" dirty="0" smtClean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4998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solidFill>
                  <a:schemeClr val="accent1"/>
                </a:solidFill>
              </a:rPr>
              <a:t>Penetration Testing Methodology 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1700" y="2052926"/>
            <a:ext cx="6711654" cy="440041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300" dirty="0"/>
              <a:t>A penetration test involves the systematic review of all security measures in place.</a:t>
            </a:r>
          </a:p>
          <a:p>
            <a:pPr marL="0" indent="0">
              <a:buNone/>
            </a:pPr>
            <a:r>
              <a:rPr lang="en-GB" dirty="0" smtClean="0"/>
              <a:t>A project should include all or most of the following areas:</a:t>
            </a:r>
            <a:endParaRPr lang="en-GB" dirty="0"/>
          </a:p>
          <a:p>
            <a:r>
              <a:rPr lang="en-GB" dirty="0" smtClean="0"/>
              <a:t>Network Security</a:t>
            </a:r>
          </a:p>
          <a:p>
            <a:r>
              <a:rPr lang="en-GB" dirty="0" smtClean="0"/>
              <a:t>Wireless Security</a:t>
            </a:r>
          </a:p>
          <a:p>
            <a:r>
              <a:rPr lang="en-GB" dirty="0"/>
              <a:t>Information Security</a:t>
            </a:r>
          </a:p>
          <a:p>
            <a:r>
              <a:rPr lang="en-GB" dirty="0" smtClean="0"/>
              <a:t>Communications Security</a:t>
            </a:r>
          </a:p>
          <a:p>
            <a:r>
              <a:rPr lang="en-GB" dirty="0"/>
              <a:t>Social Engineering</a:t>
            </a:r>
          </a:p>
          <a:p>
            <a:r>
              <a:rPr lang="en-GB" dirty="0" smtClean="0"/>
              <a:t>Physical Security</a:t>
            </a:r>
          </a:p>
          <a:p>
            <a:endParaRPr lang="en-GB" dirty="0"/>
          </a:p>
          <a:p>
            <a:pPr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527745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solidFill>
                  <a:schemeClr val="accent1"/>
                </a:solidFill>
              </a:rPr>
              <a:t>Penetration Testing</a:t>
            </a:r>
            <a:br>
              <a:rPr lang="en-GB" dirty="0" smtClean="0">
                <a:solidFill>
                  <a:schemeClr val="accent1"/>
                </a:solidFill>
              </a:rPr>
            </a:br>
            <a:r>
              <a:rPr lang="en-GB" dirty="0" smtClean="0">
                <a:solidFill>
                  <a:schemeClr val="accent1"/>
                </a:solidFill>
              </a:rPr>
              <a:t>Security Approach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330" y="2367094"/>
            <a:ext cx="7772870" cy="342410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GB" dirty="0" smtClean="0"/>
              <a:t>External pen test</a:t>
            </a:r>
          </a:p>
          <a:p>
            <a:r>
              <a:rPr lang="en-GB" dirty="0" smtClean="0"/>
              <a:t>Internal security awareness</a:t>
            </a:r>
          </a:p>
          <a:p>
            <a:r>
              <a:rPr lang="en-GB" dirty="0" smtClean="0"/>
              <a:t>Applications security assessment</a:t>
            </a:r>
          </a:p>
          <a:p>
            <a:r>
              <a:rPr lang="en-GB" dirty="0" smtClean="0"/>
              <a:t>Network Assessment</a:t>
            </a:r>
          </a:p>
          <a:p>
            <a:r>
              <a:rPr lang="en-GB" dirty="0" smtClean="0"/>
              <a:t>Wireless/ Remote access assessment</a:t>
            </a:r>
          </a:p>
          <a:p>
            <a:r>
              <a:rPr lang="en-GB" dirty="0" smtClean="0"/>
              <a:t>Communications security assessment</a:t>
            </a:r>
          </a:p>
          <a:p>
            <a:r>
              <a:rPr lang="en-GB" dirty="0" smtClean="0"/>
              <a:t>Staff/user Training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650724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>
                <a:solidFill>
                  <a:schemeClr val="accent1"/>
                </a:solidFill>
              </a:rPr>
              <a:t>And finally,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330" y="2367094"/>
            <a:ext cx="7772870" cy="342410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/>
              <a:t>“To catch a hacker think like a hacker”.</a:t>
            </a:r>
          </a:p>
        </p:txBody>
      </p:sp>
    </p:spTree>
    <p:extLst>
      <p:ext uri="{BB962C8B-B14F-4D97-AF65-F5344CB8AC3E}">
        <p14:creationId xmlns:p14="http://schemas.microsoft.com/office/powerpoint/2010/main" val="568819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889</Words>
  <Application>Microsoft Office PowerPoint</Application>
  <PresentationFormat>Widescreen</PresentationFormat>
  <Paragraphs>189</Paragraphs>
  <Slides>26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MS PGothic</vt:lpstr>
      <vt:lpstr>MS PGothic</vt:lpstr>
      <vt:lpstr>Arial</vt:lpstr>
      <vt:lpstr>Calibri</vt:lpstr>
      <vt:lpstr>Calibri Light</vt:lpstr>
      <vt:lpstr>Times New Roman</vt:lpstr>
      <vt:lpstr>Wingdings</vt:lpstr>
      <vt:lpstr>Wingdings 2</vt:lpstr>
      <vt:lpstr>Office Theme</vt:lpstr>
      <vt:lpstr>Ethical Hacking and Penetration Testing </vt:lpstr>
      <vt:lpstr>Introduction to Ethical Hacking</vt:lpstr>
      <vt:lpstr>The Role of Security and Penetration Testers </vt:lpstr>
      <vt:lpstr>It Takes Time to Become a Hacker</vt:lpstr>
      <vt:lpstr>The Role of Security and Penetration Testers </vt:lpstr>
      <vt:lpstr>Penetration-Testing Methodologies</vt:lpstr>
      <vt:lpstr>Penetration-Testing Methodologies</vt:lpstr>
      <vt:lpstr>Penetration-Testing Methodologies </vt:lpstr>
      <vt:lpstr>Penetration-Testing goals</vt:lpstr>
      <vt:lpstr>Penetration-Testing goals   cont.</vt:lpstr>
      <vt:lpstr>What You Can Do Legally</vt:lpstr>
      <vt:lpstr>Laws of the Land</vt:lpstr>
      <vt:lpstr>Is Port Scanning Legal?</vt:lpstr>
      <vt:lpstr>What You Cannot Do Legally</vt:lpstr>
      <vt:lpstr>Get It in Writing</vt:lpstr>
      <vt:lpstr>Ethical Hacking in a Nutshell</vt:lpstr>
      <vt:lpstr>Ethical Hacking in a Nutshell</vt:lpstr>
      <vt:lpstr>How to become an Ethical Hacker</vt:lpstr>
      <vt:lpstr>Some Global Certificates</vt:lpstr>
      <vt:lpstr>Ethical Hacking</vt:lpstr>
      <vt:lpstr>Ethical Hacking &amp; Penetration testing</vt:lpstr>
      <vt:lpstr>Footprinting Tools: </vt:lpstr>
      <vt:lpstr>Penetration vs Vulnerability Test</vt:lpstr>
      <vt:lpstr>Penetration Testing Methodology </vt:lpstr>
      <vt:lpstr>Penetration Testing Security Approach</vt:lpstr>
      <vt:lpstr>And finally,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 Hacking and Penetration Testing</dc:title>
  <dc:creator>Amir</dc:creator>
  <cp:lastModifiedBy>Amir</cp:lastModifiedBy>
  <cp:revision>13</cp:revision>
  <dcterms:created xsi:type="dcterms:W3CDTF">2016-02-10T10:54:57Z</dcterms:created>
  <dcterms:modified xsi:type="dcterms:W3CDTF">2016-10-28T09:43:02Z</dcterms:modified>
</cp:coreProperties>
</file>